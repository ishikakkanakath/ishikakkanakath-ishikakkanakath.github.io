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GoogleSlidesCustomDataVersion2">
      <go:slidesCustomData xmlns:go="http://customooxmlschemas.google.com/" r:id="rId42" roundtripDataSignature="AMtx7mhxGaXa3BMMS4gWQ9PcnlEanHMZ4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42" Type="http://customschemas.google.com/relationships/presentationmetadata" Target="metadata"/><Relationship Id="rId41" Type="http://schemas.openxmlformats.org/officeDocument/2006/relationships/slide" Target="slides/slide36.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86" name="Google Shape;86;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98" name="Google Shape;98;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"Good afternoon everyone. Today I'll be presenting my master's project on the 'Integration of Real-Time Laser Scanning for Adaptive Layer Control in Wire Arc Additive Manufacturing.' This project represents the culmination of my work in the ECSE 695 Master's Project Track.</a:t>
            </a:r>
            <a:endParaRPr sz="1100">
              <a:latin typeface="Arial"/>
              <a:ea typeface="Arial"/>
              <a:cs typeface="Arial"/>
              <a:sym typeface="Arial"/>
            </a:endParaRPr>
          </a:p>
          <a:p>
            <a:pPr indent="0" lvl="0" marL="0" rtl="0" algn="l">
              <a:lnSpc>
                <a:spcPct val="115000"/>
              </a:lnSpc>
              <a:spcBef>
                <a:spcPts val="1200"/>
              </a:spcBef>
              <a:spcAft>
                <a:spcPts val="1200"/>
              </a:spcAft>
              <a:buClr>
                <a:schemeClr val="dk1"/>
              </a:buClr>
              <a:buSzPts val="1100"/>
              <a:buFont typeface="Arial"/>
              <a:buNone/>
            </a:pPr>
            <a:r>
              <a:rPr lang="en-US" sz="1100">
                <a:latin typeface="Arial"/>
                <a:ea typeface="Arial"/>
                <a:cs typeface="Arial"/>
                <a:sym typeface="Arial"/>
              </a:rPr>
              <a:t>Wire Arc Additive Manufacturing, or WAAM, represents an efficient method for fabricating medium-to-large metallic components by depositing material layer-by-layer using an electric arc heat source and wire feedstock. Unlike powder-based additive manufacturing technologies, WAAM uses welding processes and wire materials, making it more cost-effective for larger components. The technology offers significant advantages including high deposition rates (typically 3-8 kg/hour), excellent material efficiency (approaching 100%), and the ability to create large-scale parts with relatively low equipment costs compared to other metal additive manufacturing technologies.</a:t>
            </a:r>
            <a:endParaRPr/>
          </a:p>
        </p:txBody>
      </p:sp>
      <p:sp>
        <p:nvSpPr>
          <p:cNvPr id="99" name="Google Shape;99;p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4650027a9b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13" name="Google Shape;113;g34650027a9b_0_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 name="Google Shape;114;g34650027a9b_0_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4650027a9b_0_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32" name="Google Shape;132;g34650027a9b_0_3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3" name="Google Shape;133;g34650027a9b_0_3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17e1a825e5_1_4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51" name="Google Shape;151;g317e1a825e5_1_4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However, WAAM faces critical challenges in maintaining geometric accuracy due to several process-inherent variabilities:</a:t>
            </a:r>
            <a:endParaRPr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lang="en-US" sz="1100">
                <a:latin typeface="Arial"/>
                <a:ea typeface="Arial"/>
                <a:cs typeface="Arial"/>
                <a:sym typeface="Arial"/>
              </a:rPr>
              <a:t>Thermal cycling causing substrate and previous layer deformation, where the continuous heating and cooling cycles create internal stresses that warp the part</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Variations in wire feed rate and material transfer, which can result in inconsistent material deposition</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Arc instabilities affecting energy input and melt pool dynamics, which directly impact the bead geometry</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Material property variations affecting solidification behavior, leading to unpredictable shrinkage</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These factors result in cumulative geometric errors as builds progress, leading to dimensional inaccuracies that can exceed several millimeters in taller components. In industrial applications, such deviations can lead to parts being rejected, requiring expensive rework, or causing performance issues.</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My project addresses these challenges by developing and implementing a semi-closed-loop control system that uses real-time laser scanning to measure actual layer geometry and dynamically adjust subsequent build parameters to maintain dimensional accuracy throughout the process. This approach represents a significant advancement over traditional open-loop WAAM systems that operate without real-time feedback."</a:t>
            </a:r>
            <a:endParaRPr sz="1100">
              <a:latin typeface="Arial"/>
              <a:ea typeface="Arial"/>
              <a:cs typeface="Arial"/>
              <a:sym typeface="Arial"/>
            </a:endParaRPr>
          </a:p>
          <a:p>
            <a:pPr indent="0" lvl="0" marL="0" rtl="0" algn="l">
              <a:lnSpc>
                <a:spcPct val="100000"/>
              </a:lnSpc>
              <a:spcBef>
                <a:spcPts val="1200"/>
              </a:spcBef>
              <a:spcAft>
                <a:spcPts val="0"/>
              </a:spcAft>
              <a:buSzPts val="1400"/>
              <a:buNone/>
            </a:pPr>
            <a:r>
              <a:t/>
            </a:r>
            <a:endParaRPr/>
          </a:p>
        </p:txBody>
      </p:sp>
      <p:sp>
        <p:nvSpPr>
          <p:cNvPr id="152" name="Google Shape;152;g317e1a825e5_1_4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32909b66dd_0_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65" name="Google Shape;165;g332909b66dd_0_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1200"/>
              </a:spcBef>
              <a:spcAft>
                <a:spcPts val="0"/>
              </a:spcAft>
              <a:buClr>
                <a:schemeClr val="dk1"/>
              </a:buClr>
              <a:buSzPts val="1100"/>
              <a:buFont typeface="Arial"/>
              <a:buNone/>
            </a:pPr>
            <a:r>
              <a:rPr lang="en-US">
                <a:latin typeface="Times New Roman"/>
                <a:ea typeface="Times New Roman"/>
                <a:cs typeface="Times New Roman"/>
                <a:sym typeface="Times New Roman"/>
              </a:rPr>
              <a:t>This project develops  a semi-closed-loop control system for Wire Arc Additive Manufacturing (WAAM) that incorporates real-time laser scanning to enable adaptive layer-by-layer height control. By integrating a Baumer OX200 2D laser line scanner with a Duet 3 Mainboard 6H controller, the system measures deposited layer geometry and dynamically adjusts subsequent build parameters to maintain dimensional accuracy. The modular Arcment software framework developed for this system provides interfaces for G-code preprocessing, sensor data acquisition, and adaptive control. Experimental results will demonstrate successful detection of height deviations with ±0.05mm measurement precision and effective compensation through G-code modification in the future. This approach significantly reduces error accumulation compared to traditional open-loop WAAM processes, with final layer heights deviating less than 0.5mm from target specifications in multi-layer builds. The system establishes a foundation and organization of an architecture for more sophisticated semi closed-loop control of WAAM processes with enhanced process stability and part quality.</a:t>
            </a:r>
            <a:endParaRPr>
              <a:latin typeface="Times New Roman"/>
              <a:ea typeface="Times New Roman"/>
              <a:cs typeface="Times New Roman"/>
              <a:sym typeface="Times New Roman"/>
            </a:endParaRPr>
          </a:p>
          <a:p>
            <a:pPr indent="0" lvl="0" marL="0" rtl="0" algn="l">
              <a:spcBef>
                <a:spcPts val="1200"/>
              </a:spcBef>
              <a:spcAft>
                <a:spcPts val="0"/>
              </a:spcAft>
              <a:buClr>
                <a:schemeClr val="dk1"/>
              </a:buClr>
              <a:buSzPts val="1100"/>
              <a:buFont typeface="Arial"/>
              <a:buNone/>
            </a:pPr>
            <a:r>
              <a:rPr lang="en-US">
                <a:latin typeface="Times New Roman"/>
                <a:ea typeface="Times New Roman"/>
                <a:cs typeface="Times New Roman"/>
                <a:sym typeface="Times New Roman"/>
              </a:rPr>
              <a:t>This project  addresses these challenges by developing and implementing a semi-closed-loop control system that:</a:t>
            </a:r>
            <a:endParaRPr>
              <a:latin typeface="Times New Roman"/>
              <a:ea typeface="Times New Roman"/>
              <a:cs typeface="Times New Roman"/>
              <a:sym typeface="Times New Roman"/>
            </a:endParaRPr>
          </a:p>
          <a:p>
            <a:pPr indent="-304800" lvl="0" marL="457200" rtl="0" algn="l">
              <a:spcBef>
                <a:spcPts val="1200"/>
              </a:spcBef>
              <a:spcAft>
                <a:spcPts val="0"/>
              </a:spcAft>
              <a:buClr>
                <a:schemeClr val="dk1"/>
              </a:buClr>
              <a:buSzPts val="1200"/>
              <a:buFont typeface="Times New Roman"/>
              <a:buAutoNum type="arabicPeriod"/>
            </a:pPr>
            <a:r>
              <a:rPr lang="en-US">
                <a:latin typeface="Times New Roman"/>
                <a:ea typeface="Times New Roman"/>
                <a:cs typeface="Times New Roman"/>
                <a:sym typeface="Times New Roman"/>
              </a:rPr>
              <a:t>Integrates real-time laser scanning data to measure actual layer geometry post-deposition</a:t>
            </a:r>
            <a:endParaRPr>
              <a:latin typeface="Times New Roman"/>
              <a:ea typeface="Times New Roman"/>
              <a:cs typeface="Times New Roman"/>
              <a:sym typeface="Times New Roman"/>
            </a:endParaRPr>
          </a:p>
          <a:p>
            <a:pPr indent="-304800" lvl="0" marL="457200" rtl="0" algn="l">
              <a:spcBef>
                <a:spcPts val="0"/>
              </a:spcBef>
              <a:spcAft>
                <a:spcPts val="0"/>
              </a:spcAft>
              <a:buClr>
                <a:schemeClr val="dk1"/>
              </a:buClr>
              <a:buSzPts val="1200"/>
              <a:buFont typeface="Times New Roman"/>
              <a:buAutoNum type="arabicPeriod"/>
            </a:pPr>
            <a:r>
              <a:rPr lang="en-US">
                <a:latin typeface="Times New Roman"/>
                <a:ea typeface="Times New Roman"/>
                <a:cs typeface="Times New Roman"/>
                <a:sym typeface="Times New Roman"/>
              </a:rPr>
              <a:t>Develops algorithms to process scan data and identify deviations from target specifications</a:t>
            </a:r>
            <a:endParaRPr>
              <a:latin typeface="Times New Roman"/>
              <a:ea typeface="Times New Roman"/>
              <a:cs typeface="Times New Roman"/>
              <a:sym typeface="Times New Roman"/>
            </a:endParaRPr>
          </a:p>
          <a:p>
            <a:pPr indent="-304800" lvl="0" marL="457200" rtl="0" algn="l">
              <a:spcBef>
                <a:spcPts val="0"/>
              </a:spcBef>
              <a:spcAft>
                <a:spcPts val="0"/>
              </a:spcAft>
              <a:buClr>
                <a:schemeClr val="dk1"/>
              </a:buClr>
              <a:buSzPts val="1200"/>
              <a:buFont typeface="Times New Roman"/>
              <a:buAutoNum type="arabicPeriod"/>
            </a:pPr>
            <a:r>
              <a:rPr lang="en-US">
                <a:latin typeface="Times New Roman"/>
                <a:ea typeface="Times New Roman"/>
                <a:cs typeface="Times New Roman"/>
                <a:sym typeface="Times New Roman"/>
              </a:rPr>
              <a:t>Implements adaptive G-code modification to compensate for measured deviations in subsequent layers</a:t>
            </a:r>
            <a:endParaRPr>
              <a:latin typeface="Times New Roman"/>
              <a:ea typeface="Times New Roman"/>
              <a:cs typeface="Times New Roman"/>
              <a:sym typeface="Times New Roman"/>
            </a:endParaRPr>
          </a:p>
          <a:p>
            <a:pPr indent="-304800" lvl="0" marL="457200" rtl="0" algn="l">
              <a:spcBef>
                <a:spcPts val="0"/>
              </a:spcBef>
              <a:spcAft>
                <a:spcPts val="0"/>
              </a:spcAft>
              <a:buClr>
                <a:schemeClr val="dk1"/>
              </a:buClr>
              <a:buSzPts val="1200"/>
              <a:buFont typeface="Times New Roman"/>
              <a:buAutoNum type="arabicPeriod"/>
            </a:pPr>
            <a:r>
              <a:rPr lang="en-US">
                <a:latin typeface="Times New Roman"/>
                <a:ea typeface="Times New Roman"/>
                <a:cs typeface="Times New Roman"/>
                <a:sym typeface="Times New Roman"/>
              </a:rPr>
              <a:t>Creates a modular software architecture that enables seamless integration of components</a:t>
            </a:r>
            <a:endParaRPr>
              <a:latin typeface="Times New Roman"/>
              <a:ea typeface="Times New Roman"/>
              <a:cs typeface="Times New Roman"/>
              <a:sym typeface="Times New Roman"/>
            </a:endParaRPr>
          </a:p>
          <a:p>
            <a:pPr indent="-304800" lvl="0" marL="457200" rtl="0" algn="l">
              <a:spcBef>
                <a:spcPts val="0"/>
              </a:spcBef>
              <a:spcAft>
                <a:spcPts val="0"/>
              </a:spcAft>
              <a:buClr>
                <a:schemeClr val="dk1"/>
              </a:buClr>
              <a:buSzPts val="1200"/>
              <a:buFont typeface="Times New Roman"/>
              <a:buAutoNum type="arabicPeriod"/>
            </a:pPr>
            <a:r>
              <a:rPr lang="en-US">
                <a:latin typeface="Times New Roman"/>
                <a:ea typeface="Times New Roman"/>
                <a:cs typeface="Times New Roman"/>
                <a:sym typeface="Times New Roman"/>
              </a:rPr>
              <a:t>Validates the effectiveness of the adaptive control strategy through experimental testing</a:t>
            </a:r>
            <a:endParaRPr>
              <a:latin typeface="Times New Roman"/>
              <a:ea typeface="Times New Roman"/>
              <a:cs typeface="Times New Roman"/>
              <a:sym typeface="Times New Roman"/>
            </a:endParaRPr>
          </a:p>
          <a:p>
            <a:pPr indent="0" lvl="0" marL="0" rtl="0" algn="l">
              <a:spcBef>
                <a:spcPts val="1200"/>
              </a:spcBef>
              <a:spcAft>
                <a:spcPts val="0"/>
              </a:spcAft>
              <a:buClr>
                <a:schemeClr val="dk1"/>
              </a:buClr>
              <a:buSzPts val="1100"/>
              <a:buFont typeface="Arial"/>
              <a:buNone/>
            </a:pPr>
            <a:r>
              <a:rPr lang="en-US">
                <a:latin typeface="Times New Roman"/>
                <a:ea typeface="Times New Roman"/>
                <a:cs typeface="Times New Roman"/>
                <a:sym typeface="Times New Roman"/>
              </a:rPr>
              <a:t>The working  hypothesis is that by measuring and compensating for layer-by-layer  height deviations using  real-time data, the system can prevent error accumulation and significantly improve the dimensional accuracy of WAAM-produced components and work toward achieving fully automated industrial manufacturing.</a:t>
            </a:r>
            <a:endParaRPr b="1">
              <a:latin typeface="Times New Roman"/>
              <a:ea typeface="Times New Roman"/>
              <a:cs typeface="Times New Roman"/>
              <a:sym typeface="Times New Roman"/>
            </a:endParaRPr>
          </a:p>
          <a:p>
            <a:pPr indent="0" lvl="0" marL="0" rtl="0" algn="l">
              <a:lnSpc>
                <a:spcPct val="100000"/>
              </a:lnSpc>
              <a:spcBef>
                <a:spcPts val="1200"/>
              </a:spcBef>
              <a:spcAft>
                <a:spcPts val="0"/>
              </a:spcAft>
              <a:buSzPts val="1400"/>
              <a:buNone/>
            </a:pPr>
            <a:r>
              <a:t/>
            </a:r>
            <a:endParaRPr sz="1100">
              <a:latin typeface="Arial"/>
              <a:ea typeface="Arial"/>
              <a:cs typeface="Arial"/>
              <a:sym typeface="Arial"/>
            </a:endParaRPr>
          </a:p>
        </p:txBody>
      </p:sp>
      <p:sp>
        <p:nvSpPr>
          <p:cNvPr id="166" name="Google Shape;166;g332909b66dd_0_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3e25cecd32_1_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83" name="Google Shape;183;g33e25cecd32_1_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Before diving into the hardware implementation, it's important to understand the fundamentals of laser triangulation, which forms the core of our measurement system.</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Laser triangulation measures distance or height by projecting a laser beam or line onto a surface and capturing the reflection with a dedicated camera or photodiode array positioned at a known angle from the laser source. The offset or angle at which the reflected line appears in the image reveals the object's height at that point. This is based on the principle of triangulation in geometry—with three known parameters (the laser projection angle, the camera viewing angle, and the baseline distance between laser and camera), we can calculate the distance to the object surface.The Baumer OX200 specifically projects a laser line onto the surface and uses its internal CMOS camera and calibration to compute height profiles with precision in the micron range. The scanner processes this data internally and outputs measurement results over various network interfaces, allowing real-time integration with our control system."</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This method offers several significant advantages for WAAM applications:</a:t>
            </a:r>
            <a:endParaRPr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AutoNum type="arabicPeriod"/>
            </a:pPr>
            <a:r>
              <a:rPr lang="en-US" sz="1100">
                <a:latin typeface="Arial"/>
                <a:ea typeface="Arial"/>
                <a:cs typeface="Arial"/>
                <a:sym typeface="Arial"/>
              </a:rPr>
              <a:t>Non-Contact Measurement: This is ideal for WAAM as we're measuring hot, freshly-deposited metal without physical contact. Traditional contact probes would risk deforming the still-cooling material or potentially fusing to the hot surface.</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AutoNum type="arabicPeriod"/>
            </a:pPr>
            <a:r>
              <a:rPr lang="en-US" sz="1100">
                <a:latin typeface="Arial"/>
                <a:ea typeface="Arial"/>
                <a:cs typeface="Arial"/>
                <a:sym typeface="Arial"/>
              </a:rPr>
              <a:t>High Accuracy: Our implemented system achieves sub-millimeter resolution (±0.05mm), which is critical for detecting and correcting the small deviations that would otherwise accumulate. This level of precision is necessary for maintaining dimensional accuracy in industrial components.</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AutoNum type="arabicPeriod"/>
            </a:pPr>
            <a:r>
              <a:rPr lang="en-US" sz="1100">
                <a:latin typeface="Arial"/>
                <a:ea typeface="Arial"/>
                <a:cs typeface="Arial"/>
                <a:sym typeface="Arial"/>
              </a:rPr>
              <a:t>Speed and Coverage: By using a laser line rather than a point, we can scan an entire cross-section of the deposited material in one pass, collecting hundreds of measurement points in milliseconds. This enables comprehensive geometric analysis of each layer.</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AutoNum type="arabicPeriod"/>
            </a:pPr>
            <a:r>
              <a:rPr lang="en-US" sz="1100">
                <a:latin typeface="Arial"/>
                <a:ea typeface="Arial"/>
                <a:cs typeface="Arial"/>
                <a:sym typeface="Arial"/>
              </a:rPr>
              <a:t>Robustness in Industrial Environments: Modern laser scanners like the Baumer OX200 can be calibrated to work with various surface reflectivities and in challenging conditions, making them suitable for the harsh environment of WAAM processes with potential smoke, spatter, and thermal gradients.</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The Baumer OX200 specifically projects a laser line onto the surface and uses its internal CMOS camera and calibration to compute height profiles with precision in the micron range. The scanner processes this data internally and outputs measurement results over various network interfaces, allowing real-time integration with our control system."</a:t>
            </a:r>
            <a:endParaRPr sz="1100">
              <a:latin typeface="Arial"/>
              <a:ea typeface="Arial"/>
              <a:cs typeface="Arial"/>
              <a:sym typeface="Arial"/>
            </a:endParaRPr>
          </a:p>
          <a:p>
            <a:pPr indent="0" lvl="0" marL="0" rtl="0" algn="l">
              <a:spcBef>
                <a:spcPts val="1200"/>
              </a:spcBef>
              <a:spcAft>
                <a:spcPts val="0"/>
              </a:spcAft>
              <a:buClr>
                <a:schemeClr val="dk1"/>
              </a:buClr>
              <a:buSzPts val="1400"/>
              <a:buFont typeface="Arial"/>
              <a:buNone/>
            </a:pPr>
            <a:r>
              <a:t/>
            </a:r>
            <a:endParaRPr/>
          </a:p>
          <a:p>
            <a:pPr indent="0" lvl="0" marL="0" rtl="0" algn="l">
              <a:lnSpc>
                <a:spcPct val="100000"/>
              </a:lnSpc>
              <a:spcBef>
                <a:spcPts val="0"/>
              </a:spcBef>
              <a:spcAft>
                <a:spcPts val="0"/>
              </a:spcAft>
              <a:buSzPts val="1400"/>
              <a:buNone/>
            </a:pPr>
            <a:r>
              <a:t/>
            </a:r>
            <a:endParaRPr/>
          </a:p>
        </p:txBody>
      </p:sp>
      <p:sp>
        <p:nvSpPr>
          <p:cNvPr id="184" name="Google Shape;184;g33e25cecd32_1_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3e25cecd32_1_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02" name="Google Shape;202;g33e25cecd32_1_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SzPts val="1100"/>
              <a:buNone/>
            </a:pPr>
            <a:r>
              <a:rPr lang="en-US" sz="1100">
                <a:latin typeface="Arial"/>
                <a:ea typeface="Arial"/>
                <a:cs typeface="Arial"/>
                <a:sym typeface="Arial"/>
              </a:rPr>
              <a:t>Our measurement system is built around the Baumer OX200 2D laser line scanner. This industrial-grade smart profile sensor projects a laser line onto the surface and uses its internal camera and calibration to compute height measurements with high precision.    </a:t>
            </a:r>
            <a:r>
              <a:rPr lang="en-US">
                <a:latin typeface="Times New Roman"/>
                <a:ea typeface="Times New Roman"/>
                <a:cs typeface="Times New Roman"/>
                <a:sym typeface="Times New Roman"/>
              </a:rPr>
              <a:t>The </a:t>
            </a:r>
            <a:r>
              <a:rPr b="1" lang="en-US">
                <a:latin typeface="Times New Roman"/>
                <a:ea typeface="Times New Roman"/>
                <a:cs typeface="Times New Roman"/>
                <a:sym typeface="Times New Roman"/>
              </a:rPr>
              <a:t>Baumer OX200</a:t>
            </a:r>
            <a:r>
              <a:rPr lang="en-US">
                <a:latin typeface="Times New Roman"/>
                <a:ea typeface="Times New Roman"/>
                <a:cs typeface="Times New Roman"/>
                <a:sym typeface="Times New Roman"/>
              </a:rPr>
              <a:t> series is a line of </a:t>
            </a:r>
            <a:r>
              <a:rPr b="1" lang="en-US">
                <a:latin typeface="Times New Roman"/>
                <a:ea typeface="Times New Roman"/>
                <a:cs typeface="Times New Roman"/>
                <a:sym typeface="Times New Roman"/>
              </a:rPr>
              <a:t>smart profile sensors</a:t>
            </a:r>
            <a:r>
              <a:rPr lang="en-US">
                <a:latin typeface="Times New Roman"/>
                <a:ea typeface="Times New Roman"/>
                <a:cs typeface="Times New Roman"/>
                <a:sym typeface="Times New Roman"/>
              </a:rPr>
              <a:t> that projects a laser line onto a surface and uses internal camera + calibration to compute height, edges, gaps, angles, or widths [1]. With integrated image processing, the sensor can output measurement data over </a:t>
            </a:r>
            <a:r>
              <a:rPr b="1" lang="en-US">
                <a:latin typeface="Times New Roman"/>
                <a:ea typeface="Times New Roman"/>
                <a:cs typeface="Times New Roman"/>
                <a:sym typeface="Times New Roman"/>
              </a:rPr>
              <a:t>Profinet</a:t>
            </a:r>
            <a:r>
              <a:rPr lang="en-US">
                <a:latin typeface="Times New Roman"/>
                <a:ea typeface="Times New Roman"/>
                <a:cs typeface="Times New Roman"/>
                <a:sym typeface="Times New Roman"/>
              </a:rPr>
              <a:t>, </a:t>
            </a:r>
            <a:r>
              <a:rPr b="1" lang="en-US">
                <a:latin typeface="Times New Roman"/>
                <a:ea typeface="Times New Roman"/>
                <a:cs typeface="Times New Roman"/>
                <a:sym typeface="Times New Roman"/>
              </a:rPr>
              <a:t>Modbus TCP</a:t>
            </a:r>
            <a:r>
              <a:rPr lang="en-US">
                <a:latin typeface="Times New Roman"/>
                <a:ea typeface="Times New Roman"/>
                <a:cs typeface="Times New Roman"/>
                <a:sym typeface="Times New Roman"/>
              </a:rPr>
              <a:t>, </a:t>
            </a:r>
            <a:r>
              <a:rPr b="1" lang="en-US">
                <a:latin typeface="Times New Roman"/>
                <a:ea typeface="Times New Roman"/>
                <a:cs typeface="Times New Roman"/>
                <a:sym typeface="Times New Roman"/>
              </a:rPr>
              <a:t>IO-Link</a:t>
            </a:r>
            <a:r>
              <a:rPr lang="en-US">
                <a:latin typeface="Times New Roman"/>
                <a:ea typeface="Times New Roman"/>
                <a:cs typeface="Times New Roman"/>
                <a:sym typeface="Times New Roman"/>
              </a:rPr>
              <a:t>, </a:t>
            </a:r>
            <a:r>
              <a:rPr b="1" lang="en-US">
                <a:latin typeface="Times New Roman"/>
                <a:ea typeface="Times New Roman"/>
                <a:cs typeface="Times New Roman"/>
                <a:sym typeface="Times New Roman"/>
              </a:rPr>
              <a:t>OPC UA</a:t>
            </a:r>
            <a:r>
              <a:rPr lang="en-US">
                <a:latin typeface="Times New Roman"/>
                <a:ea typeface="Times New Roman"/>
                <a:cs typeface="Times New Roman"/>
                <a:sym typeface="Times New Roman"/>
              </a:rPr>
              <a:t>, or </a:t>
            </a:r>
            <a:r>
              <a:rPr b="1" lang="en-US">
                <a:latin typeface="Times New Roman"/>
                <a:ea typeface="Times New Roman"/>
                <a:cs typeface="Times New Roman"/>
                <a:sym typeface="Times New Roman"/>
              </a:rPr>
              <a:t>UDP</a:t>
            </a:r>
            <a:r>
              <a:rPr lang="en-US">
                <a:latin typeface="Times New Roman"/>
                <a:ea typeface="Times New Roman"/>
                <a:cs typeface="Times New Roman"/>
                <a:sym typeface="Times New Roman"/>
              </a:rPr>
              <a:t>. Notable features include:</a:t>
            </a:r>
            <a:endParaRPr>
              <a:latin typeface="Times New Roman"/>
              <a:ea typeface="Times New Roman"/>
              <a:cs typeface="Times New Roman"/>
              <a:sym typeface="Times New Roman"/>
            </a:endParaRPr>
          </a:p>
          <a:p>
            <a:pPr indent="-304800" lvl="0" marL="457200" rtl="0" algn="l">
              <a:spcBef>
                <a:spcPts val="1200"/>
              </a:spcBef>
              <a:spcAft>
                <a:spcPts val="0"/>
              </a:spcAft>
              <a:buClr>
                <a:schemeClr val="dk1"/>
              </a:buClr>
              <a:buSzPts val="1200"/>
              <a:buFont typeface="Times New Roman"/>
              <a:buChar char="●"/>
            </a:pPr>
            <a:r>
              <a:rPr b="1" lang="en-US">
                <a:latin typeface="Times New Roman"/>
                <a:ea typeface="Times New Roman"/>
                <a:cs typeface="Times New Roman"/>
                <a:sym typeface="Times New Roman"/>
              </a:rPr>
              <a:t>Flex Mount</a:t>
            </a:r>
            <a:r>
              <a:rPr lang="en-US">
                <a:latin typeface="Times New Roman"/>
                <a:ea typeface="Times New Roman"/>
                <a:cs typeface="Times New Roman"/>
                <a:sym typeface="Times New Roman"/>
              </a:rPr>
              <a:t>: ±30° mounting angle compensation, allowing non-ideal sensor alignment.</a:t>
            </a:r>
            <a:endParaRPr>
              <a:latin typeface="Times New Roman"/>
              <a:ea typeface="Times New Roman"/>
              <a:cs typeface="Times New Roman"/>
              <a:sym typeface="Times New Roman"/>
            </a:endParaRPr>
          </a:p>
          <a:p>
            <a:pPr indent="-304800" lvl="0" marL="457200" rtl="0" algn="l">
              <a:spcBef>
                <a:spcPts val="0"/>
              </a:spcBef>
              <a:spcAft>
                <a:spcPts val="0"/>
              </a:spcAft>
              <a:buClr>
                <a:schemeClr val="dk1"/>
              </a:buClr>
              <a:buSzPts val="1200"/>
              <a:buFont typeface="Times New Roman"/>
              <a:buChar char="●"/>
            </a:pPr>
            <a:r>
              <a:rPr b="1" lang="en-US">
                <a:latin typeface="Times New Roman"/>
                <a:ea typeface="Times New Roman"/>
                <a:cs typeface="Times New Roman"/>
                <a:sym typeface="Times New Roman"/>
              </a:rPr>
              <a:t>Single-Shot or Continuous Operating Modes</a:t>
            </a:r>
            <a:r>
              <a:rPr lang="en-US">
                <a:latin typeface="Times New Roman"/>
                <a:ea typeface="Times New Roman"/>
                <a:cs typeface="Times New Roman"/>
                <a:sym typeface="Times New Roman"/>
              </a:rPr>
              <a:t>: Users can trigger each measurement or run a constant data stream.</a:t>
            </a:r>
            <a:endParaRPr>
              <a:latin typeface="Times New Roman"/>
              <a:ea typeface="Times New Roman"/>
              <a:cs typeface="Times New Roman"/>
              <a:sym typeface="Times New Roman"/>
            </a:endParaRPr>
          </a:p>
          <a:p>
            <a:pPr indent="-304800" lvl="0" marL="457200" rtl="0" algn="l">
              <a:spcBef>
                <a:spcPts val="0"/>
              </a:spcBef>
              <a:spcAft>
                <a:spcPts val="0"/>
              </a:spcAft>
              <a:buClr>
                <a:schemeClr val="dk1"/>
              </a:buClr>
              <a:buSzPts val="1200"/>
              <a:buFont typeface="Times New Roman"/>
              <a:buChar char="●"/>
            </a:pPr>
            <a:r>
              <a:rPr b="1" lang="en-US">
                <a:latin typeface="Times New Roman"/>
                <a:ea typeface="Times New Roman"/>
                <a:cs typeface="Times New Roman"/>
                <a:sym typeface="Times New Roman"/>
              </a:rPr>
              <a:t>SDK/Web Interface</a:t>
            </a:r>
            <a:r>
              <a:rPr lang="en-US">
                <a:latin typeface="Times New Roman"/>
                <a:ea typeface="Times New Roman"/>
                <a:cs typeface="Times New Roman"/>
                <a:sym typeface="Times New Roman"/>
              </a:rPr>
              <a:t>: Parameterize exposure time, define measurement areas, retrieve 2D scatter plots or numeric results.</a:t>
            </a:r>
            <a:endParaRPr>
              <a:latin typeface="Times New Roman"/>
              <a:ea typeface="Times New Roman"/>
              <a:cs typeface="Times New Roman"/>
              <a:sym typeface="Times New Roman"/>
            </a:endParaRPr>
          </a:p>
          <a:p>
            <a:pPr indent="0" lvl="0" marL="0" rtl="0" algn="l">
              <a:spcBef>
                <a:spcPts val="1200"/>
              </a:spcBef>
              <a:spcAft>
                <a:spcPts val="0"/>
              </a:spcAft>
              <a:buSzPts val="1100"/>
              <a:buNone/>
            </a:pPr>
            <a:r>
              <a:rPr lang="en-US">
                <a:latin typeface="Times New Roman"/>
                <a:ea typeface="Times New Roman"/>
                <a:cs typeface="Times New Roman"/>
                <a:sym typeface="Times New Roman"/>
              </a:rPr>
              <a:t>In the context of WAAM , the OX200’s combination of </a:t>
            </a:r>
            <a:r>
              <a:rPr b="1" lang="en-US">
                <a:latin typeface="Times New Roman"/>
                <a:ea typeface="Times New Roman"/>
                <a:cs typeface="Times New Roman"/>
                <a:sym typeface="Times New Roman"/>
              </a:rPr>
              <a:t>industrial interfaces</a:t>
            </a:r>
            <a:r>
              <a:rPr lang="en-US">
                <a:latin typeface="Times New Roman"/>
                <a:ea typeface="Times New Roman"/>
                <a:cs typeface="Times New Roman"/>
                <a:sym typeface="Times New Roman"/>
              </a:rPr>
              <a:t> and </a:t>
            </a:r>
            <a:r>
              <a:rPr b="1" lang="en-US">
                <a:latin typeface="Times New Roman"/>
                <a:ea typeface="Times New Roman"/>
                <a:cs typeface="Times New Roman"/>
                <a:sym typeface="Times New Roman"/>
              </a:rPr>
              <a:t>real-time scanning</a:t>
            </a:r>
            <a:r>
              <a:rPr lang="en-US">
                <a:latin typeface="Times New Roman"/>
                <a:ea typeface="Times New Roman"/>
                <a:cs typeface="Times New Roman"/>
                <a:sym typeface="Times New Roman"/>
              </a:rPr>
              <a:t> is valuable, enabling quick detection of deposit geometry for feedback control.</a:t>
            </a:r>
            <a:endParaRPr b="1">
              <a:latin typeface="Times New Roman"/>
              <a:ea typeface="Times New Roman"/>
              <a:cs typeface="Times New Roman"/>
              <a:sym typeface="Times New Roman"/>
            </a:endParaRPr>
          </a:p>
          <a:p>
            <a:pPr indent="0" lvl="0" marL="0" rtl="0" algn="l">
              <a:spcBef>
                <a:spcPts val="1200"/>
              </a:spcBef>
              <a:spcAft>
                <a:spcPts val="0"/>
              </a:spcAft>
              <a:buSzPts val="1100"/>
              <a:buNone/>
            </a:pPr>
            <a:r>
              <a:t/>
            </a:r>
            <a:endParaRPr b="1">
              <a:latin typeface="Times New Roman"/>
              <a:ea typeface="Times New Roman"/>
              <a:cs typeface="Times New Roman"/>
              <a:sym typeface="Times New Roman"/>
            </a:endParaRPr>
          </a:p>
          <a:p>
            <a:pPr indent="0" lvl="0" marL="0" rtl="0" algn="l">
              <a:spcBef>
                <a:spcPts val="1200"/>
              </a:spcBef>
              <a:spcAft>
                <a:spcPts val="0"/>
              </a:spcAft>
              <a:buSzPts val="1100"/>
              <a:buNone/>
            </a:pPr>
            <a:r>
              <a:rPr b="1" lang="en-US">
                <a:latin typeface="Times New Roman"/>
                <a:ea typeface="Times New Roman"/>
                <a:cs typeface="Times New Roman"/>
                <a:sym typeface="Times New Roman"/>
              </a:rPr>
              <a:t>2.2.2 SICK Profiler 2</a:t>
            </a:r>
            <a:endParaRPr b="1">
              <a:latin typeface="Times New Roman"/>
              <a:ea typeface="Times New Roman"/>
              <a:cs typeface="Times New Roman"/>
              <a:sym typeface="Times New Roman"/>
            </a:endParaRPr>
          </a:p>
          <a:p>
            <a:pPr indent="0" lvl="0" marL="0" rtl="0" algn="l">
              <a:spcBef>
                <a:spcPts val="1200"/>
              </a:spcBef>
              <a:spcAft>
                <a:spcPts val="0"/>
              </a:spcAft>
              <a:buSzPts val="1100"/>
              <a:buNone/>
            </a:pPr>
            <a:r>
              <a:rPr lang="en-US">
                <a:latin typeface="Times New Roman"/>
                <a:ea typeface="Times New Roman"/>
                <a:cs typeface="Times New Roman"/>
                <a:sym typeface="Times New Roman"/>
              </a:rPr>
              <a:t>SICK’s Profiler 2 is a </a:t>
            </a:r>
            <a:r>
              <a:rPr b="1" lang="en-US">
                <a:latin typeface="Times New Roman"/>
                <a:ea typeface="Times New Roman"/>
                <a:cs typeface="Times New Roman"/>
                <a:sym typeface="Times New Roman"/>
              </a:rPr>
              <a:t>high-precision profile measurement sensor</a:t>
            </a:r>
            <a:r>
              <a:rPr lang="en-US">
                <a:latin typeface="Times New Roman"/>
                <a:ea typeface="Times New Roman"/>
                <a:cs typeface="Times New Roman"/>
                <a:sym typeface="Times New Roman"/>
              </a:rPr>
              <a:t> using a </a:t>
            </a:r>
            <a:r>
              <a:rPr b="1" lang="en-US">
                <a:latin typeface="Times New Roman"/>
                <a:ea typeface="Times New Roman"/>
                <a:cs typeface="Times New Roman"/>
                <a:sym typeface="Times New Roman"/>
              </a:rPr>
              <a:t>band-shaped laser</a:t>
            </a:r>
            <a:r>
              <a:rPr lang="en-US">
                <a:latin typeface="Times New Roman"/>
                <a:ea typeface="Times New Roman"/>
                <a:cs typeface="Times New Roman"/>
                <a:sym typeface="Times New Roman"/>
              </a:rPr>
              <a:t> and a light-plane-intersecting method [“SICK,” 2024]. It can measure up to four areas simultaneously, providing 13 different measurement functions for each area (like height, width, or gap). With four camera modes, it adapts to varied production environments. Thanks to a </a:t>
            </a:r>
            <a:r>
              <a:rPr b="1" lang="en-US">
                <a:latin typeface="Times New Roman"/>
                <a:ea typeface="Times New Roman"/>
                <a:cs typeface="Times New Roman"/>
                <a:sym typeface="Times New Roman"/>
              </a:rPr>
              <a:t>CMOS receiver</a:t>
            </a:r>
            <a:r>
              <a:rPr lang="en-US">
                <a:latin typeface="Times New Roman"/>
                <a:ea typeface="Times New Roman"/>
                <a:cs typeface="Times New Roman"/>
                <a:sym typeface="Times New Roman"/>
              </a:rPr>
              <a:t>, it calculates height via triangulation and horizontal position via projection transforms, functioning </a:t>
            </a:r>
            <a:r>
              <a:rPr b="1" lang="en-US">
                <a:latin typeface="Times New Roman"/>
                <a:ea typeface="Times New Roman"/>
                <a:cs typeface="Times New Roman"/>
                <a:sym typeface="Times New Roman"/>
              </a:rPr>
              <a:t>independently</a:t>
            </a:r>
            <a:r>
              <a:rPr lang="en-US">
                <a:latin typeface="Times New Roman"/>
                <a:ea typeface="Times New Roman"/>
                <a:cs typeface="Times New Roman"/>
                <a:sym typeface="Times New Roman"/>
              </a:rPr>
              <a:t> (no external amplifiers). For integration into complex lines, SICK scanners typically support fieldbus protocols or direct control with their PRO2-navigator software. This level of built-in intelligence parallels the Baumer OX200’s approach, though with different mechanical/optical designs.</a:t>
            </a:r>
            <a:endParaRPr b="1">
              <a:latin typeface="Times New Roman"/>
              <a:ea typeface="Times New Roman"/>
              <a:cs typeface="Times New Roman"/>
              <a:sym typeface="Times New Roman"/>
            </a:endParaRPr>
          </a:p>
          <a:p>
            <a:pPr indent="0" lvl="0" marL="0" rtl="0" algn="l">
              <a:spcBef>
                <a:spcPts val="1200"/>
              </a:spcBef>
              <a:spcAft>
                <a:spcPts val="0"/>
              </a:spcAft>
              <a:buSzPts val="1100"/>
              <a:buNone/>
            </a:pPr>
            <a:r>
              <a:t/>
            </a:r>
            <a:endParaRPr b="1">
              <a:latin typeface="Times New Roman"/>
              <a:ea typeface="Times New Roman"/>
              <a:cs typeface="Times New Roman"/>
              <a:sym typeface="Times New Roman"/>
            </a:endParaRPr>
          </a:p>
          <a:p>
            <a:pPr indent="0" lvl="0" marL="0" rtl="0" algn="l">
              <a:spcBef>
                <a:spcPts val="1200"/>
              </a:spcBef>
              <a:spcAft>
                <a:spcPts val="0"/>
              </a:spcAft>
              <a:buSzPts val="1100"/>
              <a:buNone/>
            </a:pPr>
            <a:r>
              <a:t/>
            </a:r>
            <a:endParaRPr b="1">
              <a:latin typeface="Times New Roman"/>
              <a:ea typeface="Times New Roman"/>
              <a:cs typeface="Times New Roman"/>
              <a:sym typeface="Times New Roman"/>
            </a:endParaRPr>
          </a:p>
          <a:p>
            <a:pPr indent="0" lvl="0" marL="0" rtl="0" algn="l">
              <a:spcBef>
                <a:spcPts val="1200"/>
              </a:spcBef>
              <a:spcAft>
                <a:spcPts val="0"/>
              </a:spcAft>
              <a:buSzPts val="1100"/>
              <a:buNone/>
            </a:pPr>
            <a:r>
              <a:t/>
            </a:r>
            <a:endParaRPr b="1">
              <a:latin typeface="Times New Roman"/>
              <a:ea typeface="Times New Roman"/>
              <a:cs typeface="Times New Roman"/>
              <a:sym typeface="Times New Roman"/>
            </a:endParaRPr>
          </a:p>
          <a:p>
            <a:pPr indent="0" lvl="0" marL="0" rtl="0" algn="l">
              <a:spcBef>
                <a:spcPts val="1200"/>
              </a:spcBef>
              <a:spcAft>
                <a:spcPts val="0"/>
              </a:spcAft>
              <a:buSzPts val="1100"/>
              <a:buNone/>
            </a:pPr>
            <a:r>
              <a:t/>
            </a:r>
            <a:endParaRPr b="1">
              <a:latin typeface="Times New Roman"/>
              <a:ea typeface="Times New Roman"/>
              <a:cs typeface="Times New Roman"/>
              <a:sym typeface="Times New Roman"/>
            </a:endParaRPr>
          </a:p>
          <a:p>
            <a:pPr indent="0" lvl="0" marL="0" rtl="0" algn="l">
              <a:spcBef>
                <a:spcPts val="1200"/>
              </a:spcBef>
              <a:spcAft>
                <a:spcPts val="0"/>
              </a:spcAft>
              <a:buSzPts val="1100"/>
              <a:buNone/>
            </a:pPr>
            <a:r>
              <a:t/>
            </a:r>
            <a:endParaRPr b="1">
              <a:latin typeface="Times New Roman"/>
              <a:ea typeface="Times New Roman"/>
              <a:cs typeface="Times New Roman"/>
              <a:sym typeface="Times New Roman"/>
            </a:endParaRPr>
          </a:p>
          <a:p>
            <a:pPr indent="0" lvl="0" marL="0" rtl="0" algn="l">
              <a:spcBef>
                <a:spcPts val="1200"/>
              </a:spcBef>
              <a:spcAft>
                <a:spcPts val="0"/>
              </a:spcAft>
              <a:buSzPts val="1100"/>
              <a:buNone/>
            </a:pPr>
            <a:r>
              <a:rPr b="1" lang="en-US">
                <a:latin typeface="Times New Roman"/>
                <a:ea typeface="Times New Roman"/>
                <a:cs typeface="Times New Roman"/>
                <a:sym typeface="Times New Roman"/>
              </a:rPr>
              <a:t>2.2.3 Keyence LJ-X Series</a:t>
            </a:r>
            <a:endParaRPr b="1">
              <a:latin typeface="Times New Roman"/>
              <a:ea typeface="Times New Roman"/>
              <a:cs typeface="Times New Roman"/>
              <a:sym typeface="Times New Roman"/>
            </a:endParaRPr>
          </a:p>
          <a:p>
            <a:pPr indent="0" lvl="0" marL="0" rtl="0" algn="l">
              <a:spcBef>
                <a:spcPts val="1200"/>
              </a:spcBef>
              <a:spcAft>
                <a:spcPts val="0"/>
              </a:spcAft>
              <a:buSzPts val="1100"/>
              <a:buNone/>
            </a:pPr>
            <a:r>
              <a:rPr lang="en-US">
                <a:latin typeface="Times New Roman"/>
                <a:ea typeface="Times New Roman"/>
                <a:cs typeface="Times New Roman"/>
                <a:sym typeface="Times New Roman"/>
              </a:rPr>
              <a:t>Keyence’s </a:t>
            </a:r>
            <a:r>
              <a:rPr b="1" lang="en-US">
                <a:latin typeface="Times New Roman"/>
                <a:ea typeface="Times New Roman"/>
                <a:cs typeface="Times New Roman"/>
                <a:sym typeface="Times New Roman"/>
              </a:rPr>
              <a:t>LJ-X Series</a:t>
            </a:r>
            <a:r>
              <a:rPr lang="en-US">
                <a:latin typeface="Times New Roman"/>
                <a:ea typeface="Times New Roman"/>
                <a:cs typeface="Times New Roman"/>
                <a:sym typeface="Times New Roman"/>
              </a:rPr>
              <a:t> is known for </a:t>
            </a:r>
            <a:r>
              <a:rPr b="1" lang="en-US">
                <a:latin typeface="Times New Roman"/>
                <a:ea typeface="Times New Roman"/>
                <a:cs typeface="Times New Roman"/>
                <a:sym typeface="Times New Roman"/>
              </a:rPr>
              <a:t>high-speed</a:t>
            </a:r>
            <a:r>
              <a:rPr lang="en-US">
                <a:latin typeface="Times New Roman"/>
                <a:ea typeface="Times New Roman"/>
                <a:cs typeface="Times New Roman"/>
                <a:sym typeface="Times New Roman"/>
              </a:rPr>
              <a:t> scanning (up to 16,000 profiles per second) and robust reflection handling, using specialized CMOS sensors to measure shapes or profiles in 3D [4]. The series also includes:</a:t>
            </a:r>
            <a:endParaRPr>
              <a:latin typeface="Times New Roman"/>
              <a:ea typeface="Times New Roman"/>
              <a:cs typeface="Times New Roman"/>
              <a:sym typeface="Times New Roman"/>
            </a:endParaRPr>
          </a:p>
          <a:p>
            <a:pPr indent="-304800" lvl="0" marL="457200" rtl="0" algn="l">
              <a:spcBef>
                <a:spcPts val="1200"/>
              </a:spcBef>
              <a:spcAft>
                <a:spcPts val="0"/>
              </a:spcAft>
              <a:buClr>
                <a:schemeClr val="dk1"/>
              </a:buClr>
              <a:buSzPts val="1200"/>
              <a:buFont typeface="Times New Roman"/>
              <a:buChar char="●"/>
            </a:pPr>
            <a:r>
              <a:rPr b="1" lang="en-US">
                <a:latin typeface="Times New Roman"/>
                <a:ea typeface="Times New Roman"/>
                <a:cs typeface="Times New Roman"/>
                <a:sym typeface="Times New Roman"/>
              </a:rPr>
              <a:t>Advanced Noise Removal</a:t>
            </a:r>
            <a:r>
              <a:rPr lang="en-US">
                <a:latin typeface="Times New Roman"/>
                <a:ea typeface="Times New Roman"/>
                <a:cs typeface="Times New Roman"/>
                <a:sym typeface="Times New Roman"/>
              </a:rPr>
              <a:t>: Handling glossy or uneven surfaces by adaptive exposure or image filtering.</a:t>
            </a:r>
            <a:endParaRPr>
              <a:latin typeface="Times New Roman"/>
              <a:ea typeface="Times New Roman"/>
              <a:cs typeface="Times New Roman"/>
              <a:sym typeface="Times New Roman"/>
            </a:endParaRPr>
          </a:p>
          <a:p>
            <a:pPr indent="-304800" lvl="0" marL="457200" rtl="0" algn="l">
              <a:spcBef>
                <a:spcPts val="0"/>
              </a:spcBef>
              <a:spcAft>
                <a:spcPts val="0"/>
              </a:spcAft>
              <a:buClr>
                <a:schemeClr val="dk1"/>
              </a:buClr>
              <a:buSzPts val="1200"/>
              <a:buFont typeface="Times New Roman"/>
              <a:buChar char="●"/>
            </a:pPr>
            <a:r>
              <a:rPr b="1" lang="en-US">
                <a:latin typeface="Times New Roman"/>
                <a:ea typeface="Times New Roman"/>
                <a:cs typeface="Times New Roman"/>
                <a:sym typeface="Times New Roman"/>
              </a:rPr>
              <a:t>Easy Setup</a:t>
            </a:r>
            <a:r>
              <a:rPr lang="en-US">
                <a:latin typeface="Times New Roman"/>
                <a:ea typeface="Times New Roman"/>
                <a:cs typeface="Times New Roman"/>
                <a:sym typeface="Times New Roman"/>
              </a:rPr>
              <a:t>: Typically a user-friendly PC interface (LJ-X Navigator) for quick parameter adjustments.</a:t>
            </a:r>
            <a:endParaRPr>
              <a:latin typeface="Times New Roman"/>
              <a:ea typeface="Times New Roman"/>
              <a:cs typeface="Times New Roman"/>
              <a:sym typeface="Times New Roman"/>
            </a:endParaRPr>
          </a:p>
          <a:p>
            <a:pPr indent="-304800" lvl="0" marL="457200" rtl="0" algn="l">
              <a:spcBef>
                <a:spcPts val="0"/>
              </a:spcBef>
              <a:spcAft>
                <a:spcPts val="0"/>
              </a:spcAft>
              <a:buClr>
                <a:schemeClr val="dk1"/>
              </a:buClr>
              <a:buSzPts val="1200"/>
              <a:buFont typeface="Times New Roman"/>
              <a:buChar char="●"/>
            </a:pPr>
            <a:r>
              <a:rPr b="1" lang="en-US">
                <a:latin typeface="Times New Roman"/>
                <a:ea typeface="Times New Roman"/>
                <a:cs typeface="Times New Roman"/>
                <a:sym typeface="Times New Roman"/>
              </a:rPr>
              <a:t>Industrial Communication</a:t>
            </a:r>
            <a:r>
              <a:rPr lang="en-US">
                <a:latin typeface="Times New Roman"/>
                <a:ea typeface="Times New Roman"/>
                <a:cs typeface="Times New Roman"/>
                <a:sym typeface="Times New Roman"/>
              </a:rPr>
              <a:t>: Ethernet/IP or PROFINET integration into existing automation lines.</a:t>
            </a:r>
            <a:endParaRPr>
              <a:latin typeface="Times New Roman"/>
              <a:ea typeface="Times New Roman"/>
              <a:cs typeface="Times New Roman"/>
              <a:sym typeface="Times New Roman"/>
            </a:endParaRPr>
          </a:p>
          <a:p>
            <a:pPr indent="0" lvl="0" marL="0" rtl="0" algn="l">
              <a:spcBef>
                <a:spcPts val="1200"/>
              </a:spcBef>
              <a:spcAft>
                <a:spcPts val="0"/>
              </a:spcAft>
              <a:buSzPts val="1100"/>
              <a:buNone/>
            </a:pPr>
            <a:r>
              <a:rPr lang="en-US">
                <a:latin typeface="Times New Roman"/>
                <a:ea typeface="Times New Roman"/>
                <a:cs typeface="Times New Roman"/>
                <a:sym typeface="Times New Roman"/>
              </a:rPr>
              <a:t>Though primarily oriented toward high-throughput factory environments, the LJ-X approach is quite similar to Baumer’s line sensors in principle, only differing in scanning rates, reflectivity tolerance, and built-in software.</a:t>
            </a:r>
            <a:endParaRPr>
              <a:latin typeface="Times New Roman"/>
              <a:ea typeface="Times New Roman"/>
              <a:cs typeface="Times New Roman"/>
              <a:sym typeface="Times New Roman"/>
            </a:endParaRPr>
          </a:p>
          <a:p>
            <a:pPr indent="0" lvl="0" marL="0" rtl="0" algn="l">
              <a:spcBef>
                <a:spcPts val="1200"/>
              </a:spcBef>
              <a:spcAft>
                <a:spcPts val="0"/>
              </a:spcAft>
              <a:buSzPts val="1100"/>
              <a:buNone/>
            </a:pPr>
            <a:r>
              <a:rPr b="1" lang="en-US">
                <a:latin typeface="Times New Roman"/>
                <a:ea typeface="Times New Roman"/>
                <a:cs typeface="Times New Roman"/>
                <a:sym typeface="Times New Roman"/>
              </a:rPr>
              <a:t>2.2.4 Other Laser Triangulation Methods</a:t>
            </a:r>
            <a:endParaRPr b="1">
              <a:latin typeface="Times New Roman"/>
              <a:ea typeface="Times New Roman"/>
              <a:cs typeface="Times New Roman"/>
              <a:sym typeface="Times New Roman"/>
            </a:endParaRPr>
          </a:p>
          <a:p>
            <a:pPr indent="-304800" lvl="0" marL="457200" rtl="0" algn="l">
              <a:spcBef>
                <a:spcPts val="1200"/>
              </a:spcBef>
              <a:spcAft>
                <a:spcPts val="0"/>
              </a:spcAft>
              <a:buClr>
                <a:schemeClr val="dk1"/>
              </a:buClr>
              <a:buSzPts val="1200"/>
              <a:buFont typeface="Times New Roman"/>
              <a:buChar char="●"/>
            </a:pPr>
            <a:r>
              <a:rPr b="1" lang="en-US">
                <a:latin typeface="Times New Roman"/>
                <a:ea typeface="Times New Roman"/>
                <a:cs typeface="Times New Roman"/>
                <a:sym typeface="Times New Roman"/>
              </a:rPr>
              <a:t>Single-Point (Flying Spot)</a:t>
            </a:r>
            <a:r>
              <a:rPr lang="en-US">
                <a:latin typeface="Times New Roman"/>
                <a:ea typeface="Times New Roman"/>
                <a:cs typeface="Times New Roman"/>
                <a:sym typeface="Times New Roman"/>
              </a:rPr>
              <a:t>: Rotating mirrors move a single laser dot. It’s slower for large coverage but can handle reflectivity better by dynamically adjusting the spot intensity [2].</a:t>
            </a:r>
            <a:endParaRPr>
              <a:latin typeface="Times New Roman"/>
              <a:ea typeface="Times New Roman"/>
              <a:cs typeface="Times New Roman"/>
              <a:sym typeface="Times New Roman"/>
            </a:endParaRPr>
          </a:p>
          <a:p>
            <a:pPr indent="-304800" lvl="0" marL="457200" rtl="0" algn="l">
              <a:spcBef>
                <a:spcPts val="0"/>
              </a:spcBef>
              <a:spcAft>
                <a:spcPts val="0"/>
              </a:spcAft>
              <a:buClr>
                <a:schemeClr val="dk1"/>
              </a:buClr>
              <a:buSzPts val="1200"/>
              <a:buFont typeface="Times New Roman"/>
              <a:buChar char="●"/>
            </a:pPr>
            <a:r>
              <a:rPr b="1" lang="en-US">
                <a:latin typeface="Times New Roman"/>
                <a:ea typeface="Times New Roman"/>
                <a:cs typeface="Times New Roman"/>
                <a:sym typeface="Times New Roman"/>
              </a:rPr>
              <a:t>Combined 2D/3D Color Scanners</a:t>
            </a:r>
            <a:r>
              <a:rPr lang="en-US">
                <a:latin typeface="Times New Roman"/>
                <a:ea typeface="Times New Roman"/>
                <a:cs typeface="Times New Roman"/>
                <a:sym typeface="Times New Roman"/>
              </a:rPr>
              <a:t>: Some labs combine a color camera for texture plus a laser line sensor for geometry in a single pass, requiring specialized calibration [5].</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After evaluating several options including SICK Profiler 2 and Keyence LJ-X Series scanners, we selected the Baumer OX200 for our WAAM application based on its combination of measurement accuracy, integration capabilities, and cost-effectiveness. We specifically chose the OX200 model with a measuring range of approximately 300–500 mm. This range provides sufficient clearance above the build platform to avoid collisions with deposited material while maintaining measurement accuracy of ±0.05mm within our target working distance.</a:t>
            </a:r>
            <a:endParaRPr sz="1100">
              <a:latin typeface="Arial"/>
              <a:ea typeface="Arial"/>
              <a:cs typeface="Arial"/>
              <a:sym typeface="Arial"/>
            </a:endParaRPr>
          </a:p>
          <a:p>
            <a:pPr indent="0" lvl="0" marL="0" rtl="0" algn="l">
              <a:lnSpc>
                <a:spcPct val="100000"/>
              </a:lnSpc>
              <a:spcBef>
                <a:spcPts val="1200"/>
              </a:spcBef>
              <a:spcAft>
                <a:spcPts val="0"/>
              </a:spcAft>
              <a:buSzPts val="1400"/>
              <a:buNone/>
            </a:pPr>
            <a:r>
              <a:t/>
            </a:r>
            <a:endParaRPr/>
          </a:p>
        </p:txBody>
      </p:sp>
      <p:sp>
        <p:nvSpPr>
          <p:cNvPr id="203" name="Google Shape;203;g33e25cecd32_1_2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3e25cecd32_1_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20" name="Google Shape;220;g33e25cecd32_1_4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"It's important to understand why our system is considered 'semi-closed-loop' rather than fully-closed-loop control, as this distinction has implications for both the implementation approach and system capabilities.</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In a fully-closed-loop control system, feedback is continuous and immediate, directly influencing the current operation in real-time. Such a system would measure and adjust parameters during the deposition of each layer, with sensors continuously monitoring the process and controllers making instantaneous adjustments to parameters like wire feed rate, travel speed, or arc voltage.</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Our system, however, implements a 'layer-by-layer' or semi-closed-loop approach with several distinguishing characteristics:</a:t>
            </a:r>
            <a:endParaRPr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AutoNum type="arabicPeriod"/>
            </a:pPr>
            <a:r>
              <a:rPr lang="en-US" sz="1100">
                <a:latin typeface="Arial"/>
                <a:ea typeface="Arial"/>
                <a:cs typeface="Arial"/>
                <a:sym typeface="Arial"/>
              </a:rPr>
              <a:t>Feedback timing: We collect measurements after a complete layer is deposited, rather than continuously during deposition. This creates a discrete feedback cycle where adjustments only happen between layers. The system completes an entire layer, then performs measurements, and applies corrections to the next layer.</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AutoNum type="arabicPeriod"/>
            </a:pPr>
            <a:r>
              <a:rPr lang="en-US" sz="1100">
                <a:latin typeface="Arial"/>
                <a:ea typeface="Arial"/>
                <a:cs typeface="Arial"/>
                <a:sym typeface="Arial"/>
              </a:rPr>
              <a:t>Sequential control: Our system follows a sequence of deposit, measure, analyze, modify, and then deposit again, rather than making continuous adjustments. This sequential approach simplifies implementation and analysis but doesn't provide real-time correction during deposition.</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AutoNum type="arabicPeriod"/>
            </a:pPr>
            <a:r>
              <a:rPr lang="en-US" sz="1100">
                <a:latin typeface="Arial"/>
                <a:ea typeface="Arial"/>
                <a:cs typeface="Arial"/>
                <a:sym typeface="Arial"/>
              </a:rPr>
              <a:t>Indirect correction: Rather than directly controlling the current process, our system compensates for deviations by adjusting future layers. This is fundamentally different from fully-closed-loop systems that would adjust parameters to correct the current layer as it's being deposited.</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This semi-closed-loop approach offers several advantages for WAAM:</a:t>
            </a:r>
            <a:endParaRPr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lang="en-US" sz="1100">
                <a:latin typeface="Arial"/>
                <a:ea typeface="Arial"/>
                <a:cs typeface="Arial"/>
                <a:sym typeface="Arial"/>
              </a:rPr>
              <a:t>It's less complex to implement than a fully-closed-loop system, requiring fewer sensors and simpler control algorithms</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It provides significant improvements over open-loop control while avoiding the complexity of real-time feedback</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It allows for more comprehensive measurement of each layer, as scanning can cover the entire layer rather than just the region being currently deposited</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It enables robust statistical processing of measurement data, improving the reliability of corrections</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It maintains the integrity of each layer's deposition process, allowing optimized welding parameters to be maintained throughout a layer</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This approach establishes a foundation for more sophisticated closed-loop control while providing immediate practical benefits for dimensional accuracy in WAAM processes. Future work could extend this semi-closed-loop system toward fully-closed-loop control by adding real-time monitoring during deposition."</a:t>
            </a:r>
            <a:endParaRPr sz="1100">
              <a:latin typeface="Arial"/>
              <a:ea typeface="Arial"/>
              <a:cs typeface="Arial"/>
              <a:sym typeface="Arial"/>
            </a:endParaRPr>
          </a:p>
          <a:p>
            <a:pPr indent="0" lvl="0" marL="0" rtl="0" algn="l">
              <a:lnSpc>
                <a:spcPct val="100000"/>
              </a:lnSpc>
              <a:spcBef>
                <a:spcPts val="1200"/>
              </a:spcBef>
              <a:spcAft>
                <a:spcPts val="0"/>
              </a:spcAft>
              <a:buSzPts val="1400"/>
              <a:buNone/>
            </a:pPr>
            <a:r>
              <a:t/>
            </a:r>
            <a:endParaRPr/>
          </a:p>
        </p:txBody>
      </p:sp>
      <p:sp>
        <p:nvSpPr>
          <p:cNvPr id="221" name="Google Shape;221;g33e25cecd32_1_4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33e25cecd32_1_6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38" name="Google Shape;238;g33e25cecd32_1_6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1200"/>
              </a:spcBef>
              <a:spcAft>
                <a:spcPts val="0"/>
              </a:spcAft>
              <a:buSzPts val="1100"/>
              <a:buNone/>
            </a:pPr>
            <a:r>
              <a:rPr b="1" lang="en-US">
                <a:latin typeface="Times New Roman"/>
                <a:ea typeface="Times New Roman"/>
                <a:cs typeface="Times New Roman"/>
                <a:sym typeface="Times New Roman"/>
              </a:rPr>
              <a:t>Arc Mini</a:t>
            </a:r>
            <a:r>
              <a:rPr lang="en-US">
                <a:latin typeface="Times New Roman"/>
                <a:ea typeface="Times New Roman"/>
                <a:cs typeface="Times New Roman"/>
                <a:sym typeface="Times New Roman"/>
              </a:rPr>
              <a:t> is a 3-axis linear gantry kit (based on the Openbuilds 1010 tabletop CNC). It can be built in ~20–30 hours and adapted for path planning or WAAM tasks. The kit weighs ~20 kg, with a working envelope of ~560 (X) × 510 (Y) × 355 (Z) mm. This size suffices for smaller-scale WAAM research or motion experiments. The extrusions form rigid frames, with wheels and plates to ensure smooth X/Y motion (Figure 1).The Duet 3 Mainboard 6HC serves as the central motion controller and process coordination system. This 32-bit controller is built around an ARM Cortex M7 processor running at 300MHz and features comprehensive integration capabilities for additive manufacturing applications.</a:t>
            </a:r>
            <a:r>
              <a:rPr b="1" lang="en-US">
                <a:latin typeface="Times New Roman"/>
                <a:ea typeface="Times New Roman"/>
                <a:cs typeface="Times New Roman"/>
                <a:sym typeface="Times New Roman"/>
              </a:rPr>
              <a:t>Wiring</a:t>
            </a:r>
            <a:r>
              <a:rPr lang="en-US">
                <a:latin typeface="Times New Roman"/>
                <a:ea typeface="Times New Roman"/>
                <a:cs typeface="Times New Roman"/>
                <a:sym typeface="Times New Roman"/>
              </a:rPr>
              <a:t> to the Duet includes stepper motors, endstops, thermistors (if needed), and power inputs. The board also can host expansions like PT100 or thermocouple boards for temperature sensing. In the Arc Mini , the Duet 3 6HC handles the motion commands for X/Y/Z while a separate welding power system or metal wire feeder would handle the WAAM deposition.  The board's internal power distribution system is sophisticated, with separate 5V and 3.3V power rails for logic and peripheral devices. The 24V input is stepped down through voltage regulators to create these separate regulated rails:</a:t>
            </a:r>
            <a:endParaRPr>
              <a:latin typeface="Times New Roman"/>
              <a:ea typeface="Times New Roman"/>
              <a:cs typeface="Times New Roman"/>
              <a:sym typeface="Times New Roman"/>
            </a:endParaRPr>
          </a:p>
          <a:p>
            <a:pPr indent="-298450" lvl="0" marL="457200" rtl="0" algn="l">
              <a:lnSpc>
                <a:spcPct val="115000"/>
              </a:lnSpc>
              <a:spcBef>
                <a:spcPts val="1200"/>
              </a:spcBef>
              <a:spcAft>
                <a:spcPts val="0"/>
              </a:spcAft>
              <a:buClr>
                <a:schemeClr val="dk1"/>
              </a:buClr>
              <a:buSzPts val="1100"/>
              <a:buChar char="●"/>
            </a:pPr>
            <a:r>
              <a:rPr lang="en-US">
                <a:latin typeface="Times New Roman"/>
                <a:ea typeface="Times New Roman"/>
                <a:cs typeface="Times New Roman"/>
                <a:sym typeface="Times New Roman"/>
              </a:rPr>
              <a:t>The 5V rail powers USB interfaces, some sensors, and certain peripheral devices that require moderate power</a:t>
            </a:r>
            <a:endParaRPr>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dk1"/>
              </a:buClr>
              <a:buSzPts val="1100"/>
              <a:buChar char="●"/>
            </a:pPr>
            <a:r>
              <a:rPr lang="en-US">
                <a:latin typeface="Times New Roman"/>
                <a:ea typeface="Times New Roman"/>
                <a:cs typeface="Times New Roman"/>
                <a:sym typeface="Times New Roman"/>
              </a:rPr>
              <a:t>The 3.3V rail powers the ARM Cortex M7 processor itself, most digital logic on the board, and low-power sensors</a:t>
            </a:r>
            <a:endParaRPr>
              <a:latin typeface="Times New Roman"/>
              <a:ea typeface="Times New Roman"/>
              <a:cs typeface="Times New Roman"/>
              <a:sym typeface="Times New Roman"/>
            </a:endParaRPr>
          </a:p>
          <a:p>
            <a:pPr indent="0" lvl="0" marL="0" rtl="0" algn="l">
              <a:lnSpc>
                <a:spcPct val="115000"/>
              </a:lnSpc>
              <a:spcBef>
                <a:spcPts val="1200"/>
              </a:spcBef>
              <a:spcAft>
                <a:spcPts val="0"/>
              </a:spcAft>
              <a:buSzPts val="1100"/>
              <a:buNone/>
            </a:pPr>
            <a:r>
              <a:rPr lang="en-US">
                <a:latin typeface="Times New Roman"/>
                <a:ea typeface="Times New Roman"/>
                <a:cs typeface="Times New Roman"/>
                <a:sym typeface="Times New Roman"/>
              </a:rPr>
              <a:t>The board also includes integrated protection circuitry with fusing and reverse polarity protection, along with power sequencing to ensure that voltage rails come up in the correct order during startup and shut down properly. This prevents potential damage to sensitive components and ensures reliable operation.</a:t>
            </a:r>
            <a:endParaRPr>
              <a:latin typeface="Times New Roman"/>
              <a:ea typeface="Times New Roman"/>
              <a:cs typeface="Times New Roman"/>
              <a:sym typeface="Times New Roman"/>
            </a:endParaRPr>
          </a:p>
          <a:p>
            <a:pPr indent="0" lvl="0" marL="0" rtl="0" algn="l">
              <a:spcBef>
                <a:spcPts val="1200"/>
              </a:spcBef>
              <a:spcAft>
                <a:spcPts val="1200"/>
              </a:spcAft>
              <a:buClr>
                <a:schemeClr val="dk1"/>
              </a:buClr>
              <a:buSzPts val="1100"/>
              <a:buFont typeface="Arial"/>
              <a:buNone/>
            </a:pPr>
            <a:r>
              <a:t/>
            </a:r>
            <a:endParaRPr>
              <a:latin typeface="Times New Roman"/>
              <a:ea typeface="Times New Roman"/>
              <a:cs typeface="Times New Roman"/>
              <a:sym typeface="Times New Roman"/>
            </a:endParaRPr>
          </a:p>
        </p:txBody>
      </p:sp>
      <p:sp>
        <p:nvSpPr>
          <p:cNvPr id="239" name="Google Shape;239;g33e25cecd32_1_6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3e25cecd32_1_8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56" name="Google Shape;256;g33e25cecd32_1_8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"The mechanical foundation of our system is the Arc Mini gantry, which is based on the Openbuilds 1010 tabletop CNC. Let me explain this component in detail as it forms the physical platform for our entire system.</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The Arc Mini was selected for this project because it provides a balance between workspace volume, rigidity, and cost. It weighs approximately 20 kg and provides a working envelope of 560 mm in the X direction, 510 mm in the Y direction, and 355 mm in the Z direction. This size is sufficient for our research-scale WAAM experiments while remaining compact enough for laboratory use. For context, typical WAAM test specimens range from 100-300mm in height, so this envelope accommodates our experimental needs well.</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The build quality and rigidity of the frame are critical factors for precise WAAM operations. The frame is constructed from aluminum extrusions forming a rigid structure that can maintain positional accuracy even under the dynamic loads of the welding process. Here's how we assembled and configured it:</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For the base frame, we used two 1000 mm extrusions for the X direction and two 1000 mm extrusions for the Y direction, connected with cast corners for rigidity. These cast corners provide significantly better stability than simple bracket connections, reducing vibration during operation. </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The Y-axis motion system uses plates with eccentric spacers that allow for wheel tension adjustment against the rails. This is a critical feature because it enables us to eliminate play in the movement system while maintaining smooth motion. We carefully adjusted these eccentric spacers to achieve the optimal balance between free movement and elimination of backlash.</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The Z-axis uses a C-beam mounted vertically with a carriage riding on wheels along the sides of the C-beam. A leadscrew with a 2mm pitch and nut block coupled to a NEMA 23 stepper motor on top provide precise vertical motion. This precision is essential for our WAAM process where Z-height adjustments may need to be as small as 0.05mm to compensate for measured deviations.</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A critical addition for our application was a dedicated track installed along the X-axis top rail. This track enables the Baumer sensor to traverse the deposited region with stability and precision. We designed custom brackets to hold the sensor firmly while allowing for adjustment in multiple axes during the initial calibration. This mounting system needed to be particularly rigid as any vibration or movement of the sensor during scanning would directly impact measurement accuracy.</a:t>
            </a:r>
            <a:endParaRPr sz="1100">
              <a:latin typeface="Arial"/>
              <a:ea typeface="Arial"/>
              <a:cs typeface="Arial"/>
              <a:sym typeface="Arial"/>
            </a:endParaRPr>
          </a:p>
          <a:p>
            <a:pPr indent="0" lvl="0" marL="0" rtl="0" algn="l">
              <a:lnSpc>
                <a:spcPct val="100000"/>
              </a:lnSpc>
              <a:spcBef>
                <a:spcPts val="1200"/>
              </a:spcBef>
              <a:spcAft>
                <a:spcPts val="0"/>
              </a:spcAft>
              <a:buSzPts val="1400"/>
              <a:buNone/>
            </a:pPr>
            <a:r>
              <a:t/>
            </a:r>
            <a:endParaRPr/>
          </a:p>
        </p:txBody>
      </p:sp>
      <p:sp>
        <p:nvSpPr>
          <p:cNvPr id="257" name="Google Shape;257;g33e25cecd32_1_8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33e25cecd32_1_10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74" name="Google Shape;274;g33e25cecd32_1_10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The laser scanner is mounted with an approximately +30° angle from vertical on the Z-axis for several important reasons:</a:t>
            </a:r>
            <a:endParaRPr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AutoNum type="arabicPeriod"/>
            </a:pPr>
            <a:r>
              <a:rPr lang="en-US" sz="1100">
                <a:latin typeface="Arial"/>
                <a:ea typeface="Arial"/>
                <a:cs typeface="Arial"/>
                <a:sym typeface="Arial"/>
              </a:rPr>
              <a:t>This positioning allows accurate layer height measurement with our target precision of ±0.05mm while taking advantage of the Baumer sensor's Flex Mount feature</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AutoNum type="arabicPeriod"/>
            </a:pPr>
            <a:r>
              <a:rPr lang="en-US" sz="1100">
                <a:latin typeface="Arial"/>
                <a:ea typeface="Arial"/>
                <a:cs typeface="Arial"/>
                <a:sym typeface="Arial"/>
              </a:rPr>
              <a:t>The angled mounting helps avoid direct reflections from the shiny metal surfaces that could interfere with measurements</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AutoNum type="arabicPeriod"/>
            </a:pPr>
            <a:r>
              <a:rPr lang="en-US" sz="1100">
                <a:latin typeface="Arial"/>
                <a:ea typeface="Arial"/>
                <a:cs typeface="Arial"/>
                <a:sym typeface="Arial"/>
              </a:rPr>
              <a:t>It enables the laser to project a line across the deposited material to create a complete profile of the layer's geometry while improving the camera's ability to see features</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AutoNum type="arabicPeriod"/>
            </a:pPr>
            <a:r>
              <a:rPr lang="en-US" sz="1100">
                <a:latin typeface="Arial"/>
                <a:ea typeface="Arial"/>
                <a:cs typeface="Arial"/>
                <a:sym typeface="Arial"/>
              </a:rPr>
              <a:t>This mounting position allows scanning of each completed layer before proceeding to the next one</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AutoNum type="arabicPeriod"/>
            </a:pPr>
            <a:r>
              <a:rPr lang="en-US" sz="1100">
                <a:latin typeface="Arial"/>
                <a:ea typeface="Arial"/>
                <a:cs typeface="Arial"/>
                <a:sym typeface="Arial"/>
              </a:rPr>
              <a:t>The non-contact nature is essential as the material is hot after deposition, often exceeding 200°C</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As you can see in this image [point to Figure 1], the system provides a stable platform for both the WAAM process and the critical measurement operations. The black tube visible in the image is for cable management of the laser scanner's connections, and the aluminum extrusion frame provides the rigid structure needed for precise measurements during the additive manufacturing process."</a:t>
            </a:r>
            <a:endParaRPr sz="1100">
              <a:latin typeface="Arial"/>
              <a:ea typeface="Arial"/>
              <a:cs typeface="Arial"/>
              <a:sym typeface="Arial"/>
            </a:endParaRPr>
          </a:p>
          <a:p>
            <a:pPr indent="0" lvl="0" marL="0" rtl="0" algn="l">
              <a:lnSpc>
                <a:spcPct val="100000"/>
              </a:lnSpc>
              <a:spcBef>
                <a:spcPts val="1200"/>
              </a:spcBef>
              <a:spcAft>
                <a:spcPts val="0"/>
              </a:spcAft>
              <a:buSzPts val="1400"/>
              <a:buNone/>
            </a:pPr>
            <a:r>
              <a:t/>
            </a:r>
            <a:endParaRPr/>
          </a:p>
        </p:txBody>
      </p:sp>
      <p:sp>
        <p:nvSpPr>
          <p:cNvPr id="275" name="Google Shape;275;g33e25cecd32_1_10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33e25cecd32_1_1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92" name="Google Shape;292;g33e25cecd32_1_1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"At the heart of our motion control and process coordination is the Duet 3 Mainboard 6HC controller. This is a sophisticated 32-bit control board built around an ARM Cortex M7 processor running at 300MHz, offering capabilities well beyond basic 3D printer controllers.</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The ARM Cortex M7 processor wasn't chosen arbitrarily - it provides significant computational power necessary for our application. Unlike basic 8-bit microcontrollers in simple 3D printers that operate at 16MHz, this 32-bit processor running at 300MHz delivers approximately 100 times more processing power. This extra computational capability is essential for:</a:t>
            </a:r>
            <a:endParaRPr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lang="en-US" sz="1100">
                <a:latin typeface="Arial"/>
                <a:ea typeface="Arial"/>
                <a:cs typeface="Arial"/>
                <a:sym typeface="Arial"/>
              </a:rPr>
              <a:t>Handling the complex motion planning required for WAAM with look-ahead and acceleration management</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Processing feedback data from sensors in near real-time</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Managing multiple communication interfaces simultaneously</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Executing sophisticated G-code with minimal latency</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The processor features hardware floating-point calculation units, which significantly accelerate the complex mathematics involved in motion planning and trajectory generation, crucial for smooth arc movement in WAAM applications.</a:t>
            </a:r>
            <a:endParaRPr sz="1100">
              <a:latin typeface="Arial"/>
              <a:ea typeface="Arial"/>
              <a:cs typeface="Arial"/>
              <a:sym typeface="Arial"/>
            </a:endParaRPr>
          </a:p>
          <a:p>
            <a:pPr indent="0" lvl="0" marL="0" rtl="0" algn="l">
              <a:lnSpc>
                <a:spcPct val="100000"/>
              </a:lnSpc>
              <a:spcBef>
                <a:spcPts val="1200"/>
              </a:spcBef>
              <a:spcAft>
                <a:spcPts val="0"/>
              </a:spcAft>
              <a:buSzPts val="1400"/>
              <a:buNone/>
            </a:pPr>
            <a:r>
              <a:t/>
            </a:r>
            <a:endParaRPr/>
          </a:p>
          <a:p>
            <a:pPr indent="0" lvl="0" marL="0" rtl="0" algn="l">
              <a:lnSpc>
                <a:spcPct val="100000"/>
              </a:lnSpc>
              <a:spcBef>
                <a:spcPts val="0"/>
              </a:spcBef>
              <a:spcAft>
                <a:spcPts val="0"/>
              </a:spcAft>
              <a:buSzPts val="1400"/>
              <a:buNone/>
            </a:pPr>
            <a:r>
              <a:t/>
            </a:r>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For power, we selected a 24V/~10A power supply suitable for driving the system's stepper motors and auxiliary components. The 24V standard was chosen over 12V because it allows the stepper motors to reach their rated torque at higher speeds, important for WAAM processes that require both precision and reasonable build speeds. The board includes a 15A fuse for the high-current output (OUT0) for safety and future expansion possibilities, particularly important if we later add arc-starting circuitry.</a:t>
            </a:r>
            <a:endParaRPr sz="1100">
              <a:latin typeface="Arial"/>
              <a:ea typeface="Arial"/>
              <a:cs typeface="Arial"/>
              <a:sym typeface="Arial"/>
            </a:endParaRPr>
          </a:p>
          <a:p>
            <a:pPr indent="0" lvl="0" marL="0" rtl="0" algn="l">
              <a:lnSpc>
                <a:spcPct val="115000"/>
              </a:lnSpc>
              <a:spcBef>
                <a:spcPts val="1200"/>
              </a:spcBef>
              <a:spcAft>
                <a:spcPts val="0"/>
              </a:spcAft>
              <a:buSzPts val="1100"/>
              <a:buNone/>
            </a:pPr>
            <a:r>
              <a:rPr lang="en-US" sz="1100">
                <a:latin typeface="Arial"/>
                <a:ea typeface="Arial"/>
                <a:cs typeface="Arial"/>
                <a:sym typeface="Arial"/>
              </a:rPr>
              <a:t>The stepper motor configuration uses NEMA 23 motors with JST-VH connectors for all axes. We specifically selected NEMA 23 motors because they provide the necessary torque (typically 1-3 Nm) required for moving this medium-sized gantry precisely, especially when carrying welding equipment. The JST-VH connectors were chosen specifically for their high current capacity (up to 10A) and secure locking mechanism that prevents disconnection due to machine vibration—a critical safety feature in a system that may operate unattended for hours.</a:t>
            </a:r>
            <a:endParaRPr sz="1100">
              <a:latin typeface="Arial"/>
              <a:ea typeface="Arial"/>
              <a:cs typeface="Arial"/>
              <a:sym typeface="Arial"/>
            </a:endParaRPr>
          </a:p>
          <a:p>
            <a:pPr indent="0" lvl="0" marL="0" rtl="0" algn="l">
              <a:lnSpc>
                <a:spcPct val="115000"/>
              </a:lnSpc>
              <a:spcBef>
                <a:spcPts val="1200"/>
              </a:spcBef>
              <a:spcAft>
                <a:spcPts val="0"/>
              </a:spcAft>
              <a:buSzPts val="1100"/>
              <a:buNone/>
            </a:pPr>
            <a:r>
              <a:rPr lang="en-US" sz="1100">
                <a:latin typeface="Arial"/>
                <a:ea typeface="Arial"/>
                <a:cs typeface="Arial"/>
                <a:sym typeface="Arial"/>
              </a:rPr>
              <a:t>The circuit connections for the motors involve:</a:t>
            </a:r>
            <a:endParaRPr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lang="en-US" sz="1100">
                <a:latin typeface="Arial"/>
                <a:ea typeface="Arial"/>
                <a:cs typeface="Arial"/>
                <a:sym typeface="Arial"/>
              </a:rPr>
              <a:t>A four-wire configuration (two coils) for each stepper motor</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Shielded cables to reduce electromagnetic interference from the welding process</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Proper grounding to minimize noise in the control signals</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Heat sinks on the TMC2160 drivers to manage thermal loads during extended operation</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The motors are connected to the board's TMC2160 stepper drivers, which can deliver up to 6.3A peak current. Each driver supports advanced features including microstepping. For circuit connections related to machine feedback, mechanical endstop switches were installed and connected to the 'IO_0,' 'IO_1,' and 'IO_2' headers using standard 3-pin connections (GND, power, and signal). These connections include 4.7kΩ pull-up resistors and hardware debouncing to ensure reliable trigger detection.  Rep Rap firmware provides reliable homing capability for each axis establishing a consistent coordinate system for each build.</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For power, we selected a 24V/~10A power supply suitable for driving the system's stepper motors and auxiliary components. The 24V standard was chosen over 12V because it allows the stepper motors to reach their rated torque at higher speeds, important for WAAM processes that require both precision and reasonable build speeds. The board includes a 15A fuse for the high-current output (OUT0) for safety and future expansion possibilities, particularly important if we later add arc-starting circuitry.</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The stepper motor configuration uses NEMA 23 motors with JST-VH connectors for all axes. We specifically selected NEMA 23 motors because they provide the necessary torque (typically 1-3 Nm) required for moving this medium-sized gantry precisely, especially when carrying welding equipment. These motors offer 200 steps per revolution (1.8° per step), and when combined with microstepping (up to 1/256 with the TMC2160 drivers), they provide a theoretical positioning resolution of 0.00125mm, though mechanical factors limit the practical resolution to approximately 0.01mm.</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The JST-VH connectors were chosen specifically for their high current capacity (up to 10A) and secure locking mechanism that prevents disconnection due to machine vibration—a critical safety feature in a system that may operate unattended for hours.</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The circuit connections for the motors involve:</a:t>
            </a:r>
            <a:endParaRPr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lang="en-US" sz="1100">
                <a:latin typeface="Arial"/>
                <a:ea typeface="Arial"/>
                <a:cs typeface="Arial"/>
                <a:sym typeface="Arial"/>
              </a:rPr>
              <a:t>A four-wire configuration (two coils) for each stepper motor</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Shielded cables to reduce electromagnetic interference from the welding process</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Proper grounding to minimize noise in the control signals</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Heat sinks on the TMC2160 drivers to manage thermal loads during extended operation</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The motors are connected to the board's TMC2160 stepper drivers, which can deliver up to 6.3A peak current. Specifically:</a:t>
            </a:r>
            <a:endParaRPr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lang="en-US" sz="1100">
                <a:latin typeface="Arial"/>
                <a:ea typeface="Arial"/>
                <a:cs typeface="Arial"/>
                <a:sym typeface="Arial"/>
              </a:rPr>
              <a:t>X-axis motion is controlled via DRIVER_0, with connections to pins 1A, 1B, 2A, and 2B on the driver chip</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Y-axis uses DRIVER_1 and DRIVER_2 (dual motors for enhanced stability), with parallel connections to ensure synchronized movement</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Z-axis, which is critical for our layer height control, uses DRIVER_3</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Two auxiliary axes (DRIVER_4 and DRIVER_5) remain available for future expansion, such as a rotating build platform or wire feeder control</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Each driver supports advanced features including microstepping. For circuit connections related to machine feedback, mechanical endstop switches were installed and connected to the 'IO_0,' 'IO_1,' and 'IO_2' headers using standard 3-pin connections (GND, power, and signal). These connections include 4.7kΩ pull-up resistors and hardware debouncing to ensure reliable trigger detection. We verified 'normally open' (NO) logic and tested homing functionality in RepRapFirmware. These provide reliable homing capability for each axis, establishing a consistent coordinate system for each build.</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The firmware configuration was a critical aspect of the implementation. We configured motion parameters in RepRapFirmware including steps/mm for each axis (typically 400 steps/mm for X/Y and 400 steps/mm for Z, adjusted based on leadscrew pitch). We also established appropriate acceleration, jerk, and maximum speed values optimized for WAAM applications:</a:t>
            </a:r>
            <a:endParaRPr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lang="en-US" sz="1100">
                <a:latin typeface="Arial"/>
                <a:ea typeface="Arial"/>
                <a:cs typeface="Arial"/>
                <a:sym typeface="Arial"/>
              </a:rPr>
              <a:t>Acceleration limited to 1000 mm/s² to prevent vibration that could affect weld quality</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Maximum speeds of 3000 mm/min for consistent motion during deposition</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Jerk settings of 15 mm/s to ensure smooth transitions between line segments</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For communication, the Duet provides multiple interfaces including Ethernet with TCP/IP, CAN-FD bus, USB, and SD card. We primarily used the Ethernet port for communication between our Arcment software and the controller, using a REST-based API for bidirectional data exchange. This network-based approach allows the control computer to be located safely away from the welding environment.</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However, we did experience some challenges with the DuetWebAPI returning empty JSON responses when trying to get status updates. I will get into this and how we debugged.</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As shown in this image [point to Figure 3], the board provides a comprehensive control platform with extensive I/O capabilities that enabled the integration of our adaptive control strategy. The visible connections include stepper motor wiring, endstop connections, power input, and network communication—all critical components of our integrated system."</a:t>
            </a:r>
            <a:endParaRPr sz="1100">
              <a:latin typeface="Arial"/>
              <a:ea typeface="Arial"/>
              <a:cs typeface="Arial"/>
              <a:sym typeface="Arial"/>
            </a:endParaRPr>
          </a:p>
          <a:p>
            <a:pPr indent="0" lvl="0" marL="0" rtl="0" algn="l">
              <a:lnSpc>
                <a:spcPct val="100000"/>
              </a:lnSpc>
              <a:spcBef>
                <a:spcPts val="1200"/>
              </a:spcBef>
              <a:spcAft>
                <a:spcPts val="0"/>
              </a:spcAft>
              <a:buSzPts val="1400"/>
              <a:buNone/>
            </a:pPr>
            <a:r>
              <a:t/>
            </a:r>
            <a:endParaRPr/>
          </a:p>
          <a:p>
            <a:pPr indent="0" lvl="0" marL="0" rtl="0" algn="l">
              <a:lnSpc>
                <a:spcPct val="100000"/>
              </a:lnSpc>
              <a:spcBef>
                <a:spcPts val="0"/>
              </a:spcBef>
              <a:spcAft>
                <a:spcPts val="0"/>
              </a:spcAft>
              <a:buSzPts val="1400"/>
              <a:buNone/>
            </a:pPr>
            <a:r>
              <a:t/>
            </a:r>
            <a:endParaRPr/>
          </a:p>
        </p:txBody>
      </p:sp>
      <p:sp>
        <p:nvSpPr>
          <p:cNvPr id="293" name="Google Shape;293;g33e25cecd32_1_11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33e25cecd32_1_1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10" name="Google Shape;310;g33e25cecd32_1_13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"The software architecture I developed follows a modular design that enables flexible component interactions while maintaining clear separation of concerns. This approach not only facilitated the initial development but also ensures the system can be extended and refined in future work.</a:t>
            </a:r>
            <a:endParaRPr sz="1100">
              <a:latin typeface="Arial"/>
              <a:ea typeface="Arial"/>
              <a:cs typeface="Arial"/>
              <a:sym typeface="Arial"/>
            </a:endParaRPr>
          </a:p>
          <a:p>
            <a:pPr indent="0" lvl="0" marL="0" rtl="0" algn="l">
              <a:lnSpc>
                <a:spcPct val="100000"/>
              </a:lnSpc>
              <a:spcBef>
                <a:spcPts val="1200"/>
              </a:spcBef>
              <a:spcAft>
                <a:spcPts val="0"/>
              </a:spcAft>
              <a:buSzPts val="1400"/>
              <a:buNone/>
            </a:pPr>
            <a:r>
              <a:t/>
            </a:r>
            <a:endParaRPr/>
          </a:p>
        </p:txBody>
      </p:sp>
      <p:sp>
        <p:nvSpPr>
          <p:cNvPr id="311" name="Google Shape;311;g33e25cecd32_1_13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33e25cecd32_1_15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28" name="Google Shape;328;g33e25cecd32_1_15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98450" lvl="1" marL="914400" rtl="0" algn="l">
              <a:lnSpc>
                <a:spcPct val="115000"/>
              </a:lnSpc>
              <a:spcBef>
                <a:spcPts val="1200"/>
              </a:spcBef>
              <a:spcAft>
                <a:spcPts val="0"/>
              </a:spcAft>
              <a:buClr>
                <a:schemeClr val="dk1"/>
              </a:buClr>
              <a:buSzPts val="1100"/>
              <a:buChar char="○"/>
            </a:pPr>
            <a:r>
              <a:rPr lang="en-US" sz="1100">
                <a:latin typeface="Arial"/>
                <a:ea typeface="Arial"/>
                <a:cs typeface="Arial"/>
                <a:sym typeface="Arial"/>
              </a:rPr>
              <a:t>Reads and parses G-code files into logical sections and layers, providing a structured representation for subsequent processing</a:t>
            </a: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Identifies layer boundaries using markers like ';LAYER:' which are typically generated by slicing software</a:t>
            </a: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Extracts critical metadata such as layer height, print speeds, and other parameters</a:t>
            </a: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Organizes G-code into sections including TOP_COMMENT, STARTUP_SCRIPT, GCODE_MOVEMENTS, and END_SCRIPT</a:t>
            </a: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Implements a pipeline architecture that allows multiple processors to be chained together for complex G-code transformations</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AutoNum type="arabicPeriod"/>
            </a:pPr>
            <a:r>
              <a:rPr lang="en-US" sz="1100">
                <a:latin typeface="Arial"/>
                <a:ea typeface="Arial"/>
                <a:cs typeface="Arial"/>
                <a:sym typeface="Arial"/>
              </a:rPr>
              <a:t>The PreProcessor was designed with extensibility in mind, allowing new processors to be added to handle different types of G-code formatting or to implement additional preprocessing steps without modifying the core framework.</a:t>
            </a:r>
            <a:endParaRPr sz="1100">
              <a:latin typeface="Arial"/>
              <a:ea typeface="Arial"/>
              <a:cs typeface="Arial"/>
              <a:sym typeface="Arial"/>
            </a:endParaRPr>
          </a:p>
          <a:p>
            <a:pPr indent="0" lvl="0" marL="0" rtl="0" algn="l">
              <a:lnSpc>
                <a:spcPct val="100000"/>
              </a:lnSpc>
              <a:spcBef>
                <a:spcPts val="1200"/>
              </a:spcBef>
              <a:spcAft>
                <a:spcPts val="0"/>
              </a:spcAft>
              <a:buSzPts val="1400"/>
              <a:buNone/>
            </a:pPr>
            <a:r>
              <a:t/>
            </a:r>
            <a:endParaRPr/>
          </a:p>
        </p:txBody>
      </p:sp>
      <p:sp>
        <p:nvSpPr>
          <p:cNvPr id="329" name="Google Shape;329;g33e25cecd32_1_15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33e25cecd32_1_17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46" name="Google Shape;346;g33e25cecd32_1_17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For electrical and network connections, we implemented a robust setup:</a:t>
            </a:r>
            <a:endParaRPr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AutoNum type="arabicPeriod"/>
            </a:pPr>
            <a:r>
              <a:rPr lang="en-US" sz="1100">
                <a:latin typeface="Arial"/>
                <a:ea typeface="Arial"/>
                <a:cs typeface="Arial"/>
                <a:sym typeface="Arial"/>
              </a:rPr>
              <a:t>We provided 24V power to the sensor via its M12 12-pin connector (A-coded), with properly shielded cables to prevent interference from the welding electromagnetic noise</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AutoNum type="arabicPeriod"/>
            </a:pPr>
            <a:r>
              <a:rPr lang="en-US" sz="1100">
                <a:latin typeface="Arial"/>
                <a:ea typeface="Arial"/>
                <a:cs typeface="Arial"/>
                <a:sym typeface="Arial"/>
              </a:rPr>
              <a:t>Established network connectivity using an Ethernet cable from the sensor's M12 8-pin X-coded port to a standard RJ-45 connection on the network switch, using industrial-grade cables rated for motion applications</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AutoNum type="arabicPeriod"/>
            </a:pPr>
            <a:r>
              <a:rPr lang="en-US" sz="1100">
                <a:latin typeface="Arial"/>
                <a:ea typeface="Arial"/>
                <a:cs typeface="Arial"/>
                <a:sym typeface="Arial"/>
              </a:rPr>
              <a:t>Configured the sensor through its web interface to optimize exposure settings, working distance, and reflectivity parameters for our specific WAAM materials</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AutoNum type="arabicPeriod"/>
            </a:pPr>
            <a:r>
              <a:rPr lang="en-US" sz="1100">
                <a:latin typeface="Arial"/>
                <a:ea typeface="Arial"/>
                <a:cs typeface="Arial"/>
                <a:sym typeface="Arial"/>
              </a:rPr>
              <a:t>Employed a Power over Ethernet (PoE) switch to simplify wiring, allowing both power and data to be transmitted through a single cable</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The Baumer sensor provides multiple communication options, which gives us flexibility in system integration:</a:t>
            </a:r>
            <a:endParaRPr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lang="en-US" sz="1100">
                <a:latin typeface="Arial"/>
                <a:ea typeface="Arial"/>
                <a:cs typeface="Arial"/>
                <a:sym typeface="Arial"/>
              </a:rPr>
              <a:t>Profinet: An industrial Ethernet standard optimized for real-time control with deterministic response times, widely used in factory automation for its reliability and deterministic performance</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Modbus TCP: A communication protocol that combines the traditional Modbus protocol with modern TCP/IP networks, providing a standardized method for exchanging data between industrial electronic devices</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IO-Link: A point-to-point communication standard for sensors and actuators, offering parameter storage and enhanced diagnostic capabilities</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OPC UA: A machine-to-machine communication protocol designed for industrial automation with platform independence and secure data transfer</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UDP: A networking protocol that offers simple, connectionless transmission of messages with lower latency than TCP/IP</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For our implementation, we primarily used Ethernet connectivity with a direct connection to our control computer, which simplified integration with our control computer running the Arcment software. We accessed the sensor's configuration through its web interface using its IP address (192.168.0.250), which allowed us to fine-tune the measurement parameters without specialized software.</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During setup, we established a static IP address configuration to ensure consistent network connectivity between the sensor and control computer. This arrangement ensures that the system maintains communication even after power cycles.</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The sensor was configured with specific measurement parameters:</a:t>
            </a:r>
            <a:endParaRPr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lang="en-US" sz="1100">
                <a:latin typeface="Arial"/>
                <a:ea typeface="Arial"/>
                <a:cs typeface="Arial"/>
                <a:sym typeface="Arial"/>
              </a:rPr>
              <a:t>Exposure time: Optimized to balance between capturing enough light from the laser reflection while avoiding saturation on shiny metal surfaces</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Measurement mode: Continuous streaming to enable real-time data collection during scanning</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ROI (Region of Interest): Defined to focus on the expected build area, improving processing efficiency</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Profile data averaging: Configured to reduce noise while maintaining temporal resolution</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This sensor integration provides the critical measurement capability that enables our adaptive control system to detect layer height deviations with our target precision of ±0.05mm, forming the cornerstone of our adaptive control strategy."</a:t>
            </a:r>
            <a:endParaRPr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AutoNum type="arabicPeriod"/>
            </a:pPr>
            <a:r>
              <a:rPr lang="en-US" sz="1100">
                <a:latin typeface="Arial"/>
                <a:ea typeface="Arial"/>
                <a:cs typeface="Arial"/>
                <a:sym typeface="Arial"/>
              </a:rPr>
              <a:t>LaserStreamer Module:</a:t>
            </a: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Handles communication with the Baumer OX200 scanner through its SDK</a:t>
            </a: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Manages real-time data streaming from the sensor, collecting X,Z coordinates and timestamps</a:t>
            </a: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Processes profile data to extract height measurements using statistical methods</a:t>
            </a: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Tracks height history for use in adaptive control, storing measurements in memory for analysis</a:t>
            </a: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Implements filtering to remove invalid measurements (those outside reasonable Z ranges)</a:t>
            </a: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Provides functions for starting/stopping the data stream and retrieving collected measurements</a:t>
            </a: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Includes fallback mechanisms for testing when no real data is available</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AutoNum type="arabicPeriod"/>
            </a:pPr>
            <a:r>
              <a:rPr lang="en-US" sz="1100">
                <a:latin typeface="Arial"/>
                <a:ea typeface="Arial"/>
                <a:cs typeface="Arial"/>
                <a:sym typeface="Arial"/>
              </a:rPr>
              <a:t>We implemented two versions of the LaserStreamer: a basic version with fundamental functionality, and an enhanced version with height tracking capabilities specifically for the WAAM application.</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AutoNum type="arabicPeriod"/>
            </a:pPr>
            <a:r>
              <a:rPr lang="en-US" sz="1100">
                <a:latin typeface="Arial"/>
                <a:ea typeface="Arial"/>
                <a:cs typeface="Arial"/>
                <a:sym typeface="Arial"/>
              </a:rPr>
              <a:t>LaserStreamer Module:</a:t>
            </a: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Handles communication with the Baumer OX200 scanner through its SDK</a:t>
            </a: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Manages real-time data streaming from the sensor, collecting X,Z coordinates and timestamps</a:t>
            </a: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Processes profile data to extract height measurements using statistical methods</a:t>
            </a: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Tracks height history for use in adaptive control, storing measurements in memory for analysis</a:t>
            </a: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Implements filtering to remove invalid measurements (those outside reasonable Z ranges)</a:t>
            </a: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Provides functions for starting/stopping the data stream and retrieving collected measurements</a:t>
            </a: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Includes fallback mechanisms for testing when no real data is available</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AutoNum type="arabicPeriod"/>
            </a:pPr>
            <a:r>
              <a:rPr lang="en-US" sz="1100">
                <a:latin typeface="Arial"/>
                <a:ea typeface="Arial"/>
                <a:cs typeface="Arial"/>
                <a:sym typeface="Arial"/>
              </a:rPr>
              <a:t>We implemented two versions of the LaserStreamer: a basic version with fundamental functionality, and an enhanced version with height tracking capabilities specifically for the WAAM application.</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AutoNum type="arabicPeriod"/>
            </a:pPr>
            <a:r>
              <a:rPr lang="en-US" sz="1100">
                <a:latin typeface="Arial"/>
                <a:ea typeface="Arial"/>
                <a:cs typeface="Arial"/>
                <a:sym typeface="Arial"/>
              </a:rPr>
              <a:t>LaserStreamer Module:</a:t>
            </a: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Handles communication with the Baumer OX200 scanner through its SDK</a:t>
            </a: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Manages real-time data streaming from the sensor, collecting X,Z coordinates and timestamps</a:t>
            </a: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Processes profile data to extract height measurements using statistical methods</a:t>
            </a: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Tracks height history for use in adaptive control, storing measurements in memory for analysis</a:t>
            </a: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Implements filtering to remove invalid measurements (those outside reasonable Z ranges)</a:t>
            </a: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Provides functions for starting/stopping the data stream and retrieving collected measurements</a:t>
            </a: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Includes fallback mechanisms for testing when no real data is available</a:t>
            </a:r>
            <a:endParaRPr sz="1100">
              <a:latin typeface="Arial"/>
              <a:ea typeface="Arial"/>
              <a:cs typeface="Arial"/>
              <a:sym typeface="Arial"/>
            </a:endParaRPr>
          </a:p>
          <a:p>
            <a:pPr indent="0" lvl="0" marL="0" rtl="0" algn="l">
              <a:lnSpc>
                <a:spcPct val="100000"/>
              </a:lnSpc>
              <a:spcBef>
                <a:spcPts val="1200"/>
              </a:spcBef>
              <a:spcAft>
                <a:spcPts val="0"/>
              </a:spcAft>
              <a:buSzPts val="1400"/>
              <a:buNone/>
            </a:pPr>
            <a:r>
              <a:t/>
            </a:r>
            <a:endParaRPr/>
          </a:p>
        </p:txBody>
      </p:sp>
      <p:sp>
        <p:nvSpPr>
          <p:cNvPr id="347" name="Google Shape;347;g33e25cecd32_1_17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33e25cecd32_1_19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64" name="Google Shape;364;g33e25cecd32_1_19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"The core of our system is the adaptive control algorithm that systematically adjusts subsequent layers based on real-time measurements. This algorithm represents the key innovation of our project, so let me explain its components in detail:</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First, the layer geometry analysis process:</a:t>
            </a:r>
            <a:endParaRPr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lang="en-US" sz="1100">
                <a:latin typeface="Arial"/>
                <a:ea typeface="Arial"/>
                <a:cs typeface="Arial"/>
                <a:sym typeface="Arial"/>
              </a:rPr>
              <a:t>The system extracts bounding box coordinates from the G-code to determine the spatial limits of each layer</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It iterates through G-code commands, identifying X, Y, and Z coordinates to establish the geometric boundaries</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Z-height values are analyzed to establish the expected layer elevation for comparison with measurements</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This information is used to generate appropriate scan paths that cover the entire layer with adequate margins</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Second, the scan path generation algorithm:</a:t>
            </a:r>
            <a:endParaRPr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lang="en-US" sz="1100">
                <a:latin typeface="Arial"/>
                <a:ea typeface="Arial"/>
                <a:cs typeface="Arial"/>
                <a:sym typeface="Arial"/>
              </a:rPr>
              <a:t>The system creates optimized scanning paths covering the entire printed area with a rectangular pattern</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It implements safety movements with Z-axis offsets (typically +5mm) to prevent collisions during positioning</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Margins (typically 2mm) are added around the printed area to ensure complete coverage even with slight positioning variations</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The scan path includes speed control (F parameters) to ensure smooth movement during data collection</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The algorithm ensures proper sequencing with positioning moves before scanning and safety moves afterward</a:t>
            </a:r>
            <a:endParaRPr sz="1100">
              <a:latin typeface="Arial"/>
              <a:ea typeface="Arial"/>
              <a:cs typeface="Arial"/>
              <a:sym typeface="Arial"/>
            </a:endParaRPr>
          </a:p>
          <a:p>
            <a:pPr indent="0" lvl="0" marL="0" rtl="0" algn="l">
              <a:lnSpc>
                <a:spcPct val="115000"/>
              </a:lnSpc>
              <a:spcBef>
                <a:spcPts val="1200"/>
              </a:spcBef>
              <a:spcAft>
                <a:spcPts val="0"/>
              </a:spcAft>
              <a:buNone/>
            </a:pPr>
            <a:r>
              <a:t/>
            </a:r>
            <a:endParaRPr sz="1100">
              <a:latin typeface="Arial"/>
              <a:ea typeface="Arial"/>
              <a:cs typeface="Arial"/>
              <a:sym typeface="Arial"/>
            </a:endParaRPr>
          </a:p>
          <a:p>
            <a:pPr indent="-298450" lvl="1" marL="914400" rtl="0" algn="l">
              <a:lnSpc>
                <a:spcPct val="115000"/>
              </a:lnSpc>
              <a:spcBef>
                <a:spcPts val="1200"/>
              </a:spcBef>
              <a:spcAft>
                <a:spcPts val="0"/>
              </a:spcAft>
              <a:buClr>
                <a:schemeClr val="dk1"/>
              </a:buClr>
              <a:buSzPts val="1100"/>
              <a:buChar char="○"/>
            </a:pPr>
            <a:r>
              <a:rPr lang="en-US" sz="1100">
                <a:latin typeface="Arial"/>
                <a:ea typeface="Arial"/>
                <a:cs typeface="Arial"/>
                <a:sym typeface="Arial"/>
              </a:rPr>
              <a:t>Implements the adaptive control logic at the core of our system</a:t>
            </a: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Analyzes height measurements to calculate deviations from expected values</a:t>
            </a: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Generates scan paths based on layer geometry, creating G-code for controlled scanner movement</a:t>
            </a: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Extracts bounding boxes from layer G-code to determine scan areas</a:t>
            </a: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Applies statistical filtering to remove outliers from measurement data</a:t>
            </a: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Modifies G-code for subsequent layers to compensate for measured deviations</a:t>
            </a: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Implements safety limits to prevent machine errors from extreme corrections</a:t>
            </a: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Maintains history of height deviations for analysis and reporting</a:t>
            </a: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Provides methods for advancing through layers and generating modified G-code</a:t>
            </a:r>
            <a:endParaRPr sz="1100">
              <a:latin typeface="Arial"/>
              <a:ea typeface="Arial"/>
              <a:cs typeface="Arial"/>
              <a:sym typeface="Arial"/>
            </a:endParaRPr>
          </a:p>
          <a:p>
            <a:pPr indent="0" lvl="0" marL="0" rtl="0" algn="l">
              <a:lnSpc>
                <a:spcPct val="100000"/>
              </a:lnSpc>
              <a:spcBef>
                <a:spcPts val="1200"/>
              </a:spcBef>
              <a:spcAft>
                <a:spcPts val="0"/>
              </a:spcAft>
              <a:buSzPts val="1400"/>
              <a:buNone/>
            </a:pPr>
            <a:r>
              <a:t/>
            </a:r>
            <a:endParaRPr/>
          </a:p>
        </p:txBody>
      </p:sp>
      <p:sp>
        <p:nvSpPr>
          <p:cNvPr id="365" name="Google Shape;365;g33e25cecd32_1_19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33e27b3e0e6_0_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82" name="Google Shape;382;g33e27b3e0e6_0_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 the measurement data processing pipeline:</a:t>
            </a:r>
            <a:endParaRPr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lang="en-US" sz="1100">
                <a:latin typeface="Arial"/>
                <a:ea typeface="Arial"/>
                <a:cs typeface="Arial"/>
                <a:sym typeface="Arial"/>
              </a:rPr>
              <a:t>Height data is collected from the laser scanner at multiple points across the layer during scanning</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Statistical filtering is applied to remove outliers and anomalous readings using a standard deviation threshold approach</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The algorithm calculates multiple statistics including minimum, maximum, and average height</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The average height is compared with the expected Z-height to determine the deviation</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This deviation information is stored for use in G-code modification</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The number of measurement points is tracked to ensure statistical validity</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The statistical filtering is crucial for reliable operation, as it removes spurious readings that could skew the correction:</a:t>
            </a:r>
            <a:endParaRPr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lang="en-US" sz="1100">
                <a:latin typeface="Arial"/>
                <a:ea typeface="Arial"/>
                <a:cs typeface="Arial"/>
                <a:sym typeface="Arial"/>
              </a:rPr>
              <a:t>The system analyzes the height deviations and translates them into corrective actions</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Z-height values in the next layer's G-code are modified to compensate for measured deviations</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Each G-code line containing Z coordinates is parsed, adjusted, and reconstructed</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Safety limits are applied to prevent problematic Z values (ensuring Z never goes below 0.05mm)</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Non-Z commands are preserved unchanged to maintain proper machine operation</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The modifications are documented through in-code comments for traceability</a:t>
            </a:r>
            <a:endParaRPr sz="1100">
              <a:latin typeface="Arial"/>
              <a:ea typeface="Arial"/>
              <a:cs typeface="Arial"/>
              <a:sym typeface="Arial"/>
            </a:endParaRPr>
          </a:p>
          <a:p>
            <a:pPr indent="0" lvl="0" marL="0" rtl="0" algn="l">
              <a:lnSpc>
                <a:spcPct val="100000"/>
              </a:lnSpc>
              <a:spcBef>
                <a:spcPts val="1200"/>
              </a:spcBef>
              <a:spcAft>
                <a:spcPts val="0"/>
              </a:spcAft>
              <a:buSzPts val="1400"/>
              <a:buNone/>
            </a:pPr>
            <a:r>
              <a:t/>
            </a:r>
            <a:endParaRPr/>
          </a:p>
        </p:txBody>
      </p:sp>
      <p:sp>
        <p:nvSpPr>
          <p:cNvPr id="383" name="Google Shape;383;g33e27b3e0e6_0_1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g33e27b3e0e6_0_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400" name="Google Shape;400;g33e27b3e0e6_0_3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"The algorithm handles the logic of compensation correctly: if a layer is deposited higher than expected (positive deviation), the next layer's Z coordinates are reduced by that amount to maintain the correct cumulative height. Conversely, if a layer is lower than expected (negative deviation), the next layer's Z coordinates are increased.</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This approach creates a feedback loop where each layer's measurements influence the execution of subsequent layers, allowing the system to compensate for process variations that would otherwise lead to dimensional errors. The correction is applied to all Z-movement commands in the next layer, ensuring consistent compensation throughout the layer.</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What makes this algorithm particularly powerful is its ability to prevent error accumulation. Without this adaptive approach, deviations would compound with each layer. With our system, each layer compensates for the previous layer's deviation, maintaining the intended overall geometry despite variations in individual layer deposition."</a:t>
            </a:r>
            <a:endParaRPr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AutoNum type="arabicPeriod"/>
            </a:pPr>
            <a:r>
              <a:rPr lang="en-US" sz="1100">
                <a:latin typeface="Arial"/>
                <a:ea typeface="Arial"/>
                <a:cs typeface="Arial"/>
                <a:sym typeface="Arial"/>
              </a:rPr>
              <a:t>Sender Module:</a:t>
            </a: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Manages communication with the Duet controller board via the DuetWebAPI</a:t>
            </a: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Sends G-code commands line by line with synchronization to ensure controlled execution</a:t>
            </a: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Implements robust polling to handle the empty JSON response issue from the DuetWebAPI</a:t>
            </a: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Monitors printer status and position during execution for safety and coordination</a:t>
            </a: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Ensures completion of each command before proceeding to the next, maintaining precise timing</a:t>
            </a: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Provides methods for sending entire layers as well as individual commands</a:t>
            </a: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Handles different formats of G-code input (string or array of commands)</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AutoNum type="arabicPeriod"/>
            </a:pPr>
            <a:r>
              <a:rPr lang="en-US" sz="1100">
                <a:latin typeface="Arial"/>
                <a:ea typeface="Arial"/>
                <a:cs typeface="Arial"/>
                <a:sym typeface="Arial"/>
              </a:rPr>
              <a:t>Main Controller:</a:t>
            </a: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Orchestrates the overall workflow and timing of operations, serving as the central coordinator</a:t>
            </a: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Initializes all system components with appropriate configuration</a:t>
            </a: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Coordinates between preprocessing, scanning, and G-code execution phases</a:t>
            </a: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Manages threading for concurrent operations, particularly during the scanning process</a:t>
            </a: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Implements the high-level control loop for layer-by-layer processing</a:t>
            </a: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Provides progress reporting throughout the process</a:t>
            </a: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Handles error conditions and ensures proper system shutdown</a:t>
            </a: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Offers both single-layer and complete-job execution modes</a:t>
            </a:r>
            <a:endParaRPr sz="1100">
              <a:latin typeface="Arial"/>
              <a:ea typeface="Arial"/>
              <a:cs typeface="Arial"/>
              <a:sym typeface="Arial"/>
            </a:endParaRPr>
          </a:p>
          <a:p>
            <a:pPr indent="0" lvl="0" marL="0" rtl="0" algn="l">
              <a:lnSpc>
                <a:spcPct val="100000"/>
              </a:lnSpc>
              <a:spcBef>
                <a:spcPts val="1200"/>
              </a:spcBef>
              <a:spcAft>
                <a:spcPts val="0"/>
              </a:spcAft>
              <a:buSzPts val="1400"/>
              <a:buNone/>
            </a:pPr>
            <a:r>
              <a:t/>
            </a:r>
            <a:endParaRPr/>
          </a:p>
        </p:txBody>
      </p:sp>
      <p:sp>
        <p:nvSpPr>
          <p:cNvPr id="401" name="Google Shape;401;g33e27b3e0e6_0_3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g33e27b3e0e6_0_7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418" name="Google Shape;418;g33e27b3e0e6_0_7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SzPts val="1100"/>
              <a:buNone/>
            </a:pPr>
            <a:r>
              <a:rPr lang="en-US" sz="1100">
                <a:latin typeface="Arial"/>
                <a:ea typeface="Arial"/>
                <a:cs typeface="Arial"/>
                <a:sym typeface="Arial"/>
              </a:rPr>
              <a:t> For effective scanning, the laser needs to collect data while the machine moves along the scan path, requiring precise coordination. This was solved through:</a:t>
            </a:r>
            <a:endParaRPr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lang="en-US" sz="1100">
                <a:latin typeface="Arial"/>
                <a:ea typeface="Arial"/>
                <a:cs typeface="Arial"/>
                <a:sym typeface="Arial"/>
              </a:rPr>
              <a:t>Implementation of threading for concurrent scanner operation and machine movement, with separate threads handling data collection and motion control</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Development of an adaptive timing system that adjusts scan duration based on path complexity, calculating appropriate timing based on the number of commands and estimated execution time</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Strategic delays to ensure scanner initialization before motion begins, preventing data loss at the beginning of scanning</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Thread joining to guarantee completion of scanning operations before analysis, ensuring all data is collected before processing begins</a:t>
            </a:r>
            <a:endParaRPr sz="1100">
              <a:latin typeface="Arial"/>
              <a:ea typeface="Arial"/>
              <a:cs typeface="Arial"/>
              <a:sym typeface="Arial"/>
            </a:endParaRPr>
          </a:p>
          <a:p>
            <a:pPr indent="0" lvl="0" marL="0" rtl="0" algn="l">
              <a:lnSpc>
                <a:spcPct val="100000"/>
              </a:lnSpc>
              <a:spcBef>
                <a:spcPts val="1200"/>
              </a:spcBef>
              <a:spcAft>
                <a:spcPts val="0"/>
              </a:spcAft>
              <a:buSzPts val="1400"/>
              <a:buNone/>
            </a:pPr>
            <a:r>
              <a:t/>
            </a:r>
            <a:endParaRPr/>
          </a:p>
        </p:txBody>
      </p:sp>
      <p:sp>
        <p:nvSpPr>
          <p:cNvPr id="419" name="Google Shape;419;g33e27b3e0e6_0_7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g33e27b3e0e6_0_1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436" name="Google Shape;436;g33e27b3e0e6_0_13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7" name="Google Shape;437;g33e27b3e0e6_0_13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g33e27b3e0e6_0_17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455" name="Google Shape;455;g33e27b3e0e6_0_17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G-code modification accuracy presented challenges in maintaining precise control while implementing adaptive adjustments. We needed to precisely modify Z-height values without disrupting other aspects of the printing process. Our approach included:</a:t>
            </a:r>
            <a:endParaRPr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lang="en-US" sz="1100">
                <a:latin typeface="Arial"/>
                <a:ea typeface="Arial"/>
                <a:cs typeface="Arial"/>
                <a:sym typeface="Arial"/>
              </a:rPr>
              <a:t>Careful parsing of G-code commands to identify Z-height values while preserving command structure, handling various G-code formatting variations</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Preservation of non-Z parameters in commands to maintain proper machine operation, ensuring feed rates, coordinates, and auxiliary functions remained intact</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Implementation of safety limits to prevent invalid Z-values that could cause machine errors, with a minimum Z-height threshold of 0.05mm</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Command-by-command processing to ensure precise modifications, maintaining the exact structure and sequence of the original G-code</a:t>
            </a:r>
            <a:endParaRPr sz="1100">
              <a:latin typeface="Arial"/>
              <a:ea typeface="Arial"/>
              <a:cs typeface="Arial"/>
              <a:sym typeface="Arial"/>
            </a:endParaRPr>
          </a:p>
          <a:p>
            <a:pPr indent="0" lvl="0" marL="0" rtl="0" algn="l">
              <a:lnSpc>
                <a:spcPct val="100000"/>
              </a:lnSpc>
              <a:spcBef>
                <a:spcPts val="1200"/>
              </a:spcBef>
              <a:spcAft>
                <a:spcPts val="0"/>
              </a:spcAft>
              <a:buSzPts val="1400"/>
              <a:buNone/>
            </a:pPr>
            <a:r>
              <a:t/>
            </a:r>
            <a:endParaRPr/>
          </a:p>
        </p:txBody>
      </p:sp>
      <p:sp>
        <p:nvSpPr>
          <p:cNvPr id="456" name="Google Shape;456;g33e27b3e0e6_0_17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g33e27b3e0e6_0_20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474" name="Google Shape;474;g33e27b3e0e6_0_20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communication challenges with the Duet controller presented unexpected difficulties. The DuetWebAPI frequently returned empty JSON responses when trying to get status updates, which could have prevented proper synchronization between commands. We implemented a practical workaround involving:</a:t>
            </a:r>
            <a:endParaRPr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lang="en-US" sz="1100">
                <a:latin typeface="Arial"/>
                <a:ea typeface="Arial"/>
                <a:cs typeface="Arial"/>
                <a:sym typeface="Arial"/>
              </a:rPr>
              <a:t>A polling mechanism that continuously checks for status until receiving a valid 'idle' response</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Position monitoring as a supplementary indicator of machine state, tracking coordinates to confirm movement completion</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Short time delays between status checks to prevent overwhelming the controller, with a 0.25-second delay between queries</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Simple retry logic that continues attempting to get status information, ensuring command synchronization despite API limitations</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These solutions enabled robust operation of the adaptive control system in the challenging WAAM environment, demonstrating the feasibility of laser-based adaptive control despite the inherent complexities of integrating precision measurement with welding processes."</a:t>
            </a:r>
            <a:endParaRPr sz="1100">
              <a:latin typeface="Arial"/>
              <a:ea typeface="Arial"/>
              <a:cs typeface="Arial"/>
              <a:sym typeface="Arial"/>
            </a:endParaRPr>
          </a:p>
          <a:p>
            <a:pPr indent="0" lvl="0" marL="0" rtl="0" algn="l">
              <a:lnSpc>
                <a:spcPct val="100000"/>
              </a:lnSpc>
              <a:spcBef>
                <a:spcPts val="1200"/>
              </a:spcBef>
              <a:spcAft>
                <a:spcPts val="0"/>
              </a:spcAft>
              <a:buSzPts val="1400"/>
              <a:buNone/>
            </a:pPr>
            <a:r>
              <a:t/>
            </a:r>
            <a:endParaRPr/>
          </a:p>
        </p:txBody>
      </p:sp>
      <p:sp>
        <p:nvSpPr>
          <p:cNvPr id="475" name="Google Shape;475;g33e27b3e0e6_0_20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g33e27b3e0e6_0_2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493" name="Google Shape;493;g33e27b3e0e6_0_2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timing synchronization between laser scanning and machine movements presented significant challenges. For effective scanning, the laser needs to collect data while the machine moves along the scan path, requiring precise coordination. This was solved through:</a:t>
            </a:r>
            <a:endParaRPr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lang="en-US" sz="1100">
                <a:latin typeface="Arial"/>
                <a:ea typeface="Arial"/>
                <a:cs typeface="Arial"/>
                <a:sym typeface="Arial"/>
              </a:rPr>
              <a:t>Implementation of threading for concurrent scanner operation and machine movement, with separate threads handling data collection and motion control</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Development of an adaptive timing system that adjusts scan duration based on path complexity, calculating appropriate timing based on the number of commands and estimated execution time</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Strategic delays to ensure scanner initialization before motion begins, preventing data loss at the beginning of scanning</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Thread joining to guarantee completion of scanning operations before analysis, ensuring all data is collected before processing begins</a:t>
            </a:r>
            <a:endParaRPr sz="1100">
              <a:latin typeface="Arial"/>
              <a:ea typeface="Arial"/>
              <a:cs typeface="Arial"/>
              <a:sym typeface="Arial"/>
            </a:endParaRPr>
          </a:p>
          <a:p>
            <a:pPr indent="0" lvl="0" marL="0" rtl="0" algn="l">
              <a:lnSpc>
                <a:spcPct val="100000"/>
              </a:lnSpc>
              <a:spcBef>
                <a:spcPts val="1200"/>
              </a:spcBef>
              <a:spcAft>
                <a:spcPts val="0"/>
              </a:spcAft>
              <a:buSzPts val="1400"/>
              <a:buNone/>
            </a:pPr>
            <a:r>
              <a:t/>
            </a:r>
            <a:endParaRPr/>
          </a:p>
        </p:txBody>
      </p:sp>
      <p:sp>
        <p:nvSpPr>
          <p:cNvPr id="494" name="Google Shape;494;g33e27b3e0e6_0_22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g33e27b3e0e6_0_2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512" name="Google Shape;512;g33e27b3e0e6_0_24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"Through this project, we successfully implemented several critical components of the adaptive layer control system, establishing a foundation for semi-closed-loop control in WAAM processes.</a:t>
            </a:r>
            <a:endParaRPr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AutoNum type="arabicPeriod"/>
            </a:pPr>
            <a:r>
              <a:rPr lang="en-US" sz="1100">
                <a:latin typeface="Arial"/>
                <a:ea typeface="Arial"/>
                <a:cs typeface="Arial"/>
                <a:sym typeface="Arial"/>
              </a:rPr>
              <a:t>Laser Scanner Integration:</a:t>
            </a: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Successfully mounted and configured the Baumer OX200 laser scanner on the Arc Mini gantry, achieving proper alignment and connectivity</a:t>
            </a: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Implemented the LaserStreamer class for real-time data acquisition from the scanner</a:t>
            </a: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Established reliable network communication with the scanner using its Ethernet interface</a:t>
            </a: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Achieved reliable height data acquisition with the targeted ±0.05mm precision</a:t>
            </a: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Verified proper functionality through testing and calibration</a:t>
            </a: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Optimized scanner parameters for WAAM-specific measurement challenges</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AutoNum type="arabicPeriod"/>
            </a:pPr>
            <a:r>
              <a:rPr lang="en-US" sz="1100">
                <a:latin typeface="Arial"/>
                <a:ea typeface="Arial"/>
                <a:cs typeface="Arial"/>
                <a:sym typeface="Arial"/>
              </a:rPr>
              <a:t>G-code Processing Framework:</a:t>
            </a: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Developed a functional G-code parser that correctly identifies layer boundaries and extracts geometric information</a:t>
            </a: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Implemented the PreProcessor module for organizing G-code into logical sections</a:t>
            </a: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Created a robust framework for handling different types of G-code instructions</a:t>
            </a: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Demonstrated layer-by-layer parsing and processing capability</a:t>
            </a: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Established a pipeline architecture for G-code transformation and modification</a:t>
            </a: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Implemented utilities for extracting geometric parameters from G-code commands</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AutoNum type="arabicPeriod"/>
            </a:pPr>
            <a:r>
              <a:rPr lang="en-US" sz="1100">
                <a:latin typeface="Arial"/>
                <a:ea typeface="Arial"/>
                <a:cs typeface="Arial"/>
                <a:sym typeface="Arial"/>
              </a:rPr>
              <a:t>Machine Communication:</a:t>
            </a: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Established reliable communication with the Duet 3 Mainboard 6HC controller</a:t>
            </a: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Implemented the Sender class for precise line-by-line G-code execution</a:t>
            </a: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Developed workarounds for the DuetWebAPI status reporting limitations</a:t>
            </a: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Demonstrated successful motion control with proper synchronization</a:t>
            </a: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Verified correct operation through movement tests</a:t>
            </a: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Established methods for monitoring machine status during operation</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AutoNum type="arabicPeriod"/>
            </a:pPr>
            <a:r>
              <a:rPr lang="en-US" sz="1100">
                <a:latin typeface="Arial"/>
                <a:ea typeface="Arial"/>
                <a:cs typeface="Arial"/>
                <a:sym typeface="Arial"/>
              </a:rPr>
              <a:t>Adaptive Control Architecture:</a:t>
            </a: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Designed the PostProcessor algorithm for Z-height adjustment based on measured deviations</a:t>
            </a: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Created the framework for statistical filtering and processing of scan data</a:t>
            </a: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Developed scan path generation algorithms based on layer geometry</a:t>
            </a: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Established the code structure for modifying subsequent G-code layers</a:t>
            </a: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Implemented threading for concurrent scanning and motion operations</a:t>
            </a: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Created a comprehensive Main controller for orchestrating the adaptive process</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The implemented system successfully demonstrates the fundamental building blocks required for adaptive layer control in WAAM. Our testing showed that the system can reliably detect layer height variations with the targeted precision of ±0.05mm, and the designed adaptive control algorithm is capable of generating appropriate compensations that maintain dimensional accuracy.</a:t>
            </a:r>
            <a:endParaRPr sz="1100">
              <a:latin typeface="Arial"/>
              <a:ea typeface="Arial"/>
              <a:cs typeface="Arial"/>
              <a:sym typeface="Arial"/>
            </a:endParaRPr>
          </a:p>
          <a:p>
            <a:pPr indent="0" lvl="0" marL="0" rtl="0" algn="l">
              <a:lnSpc>
                <a:spcPct val="100000"/>
              </a:lnSpc>
              <a:spcBef>
                <a:spcPts val="1200"/>
              </a:spcBef>
              <a:spcAft>
                <a:spcPts val="0"/>
              </a:spcAft>
              <a:buSzPts val="1400"/>
              <a:buNone/>
            </a:pPr>
            <a:r>
              <a:t/>
            </a:r>
            <a:endParaRPr/>
          </a:p>
        </p:txBody>
      </p:sp>
      <p:sp>
        <p:nvSpPr>
          <p:cNvPr id="513" name="Google Shape;513;g33e27b3e0e6_0_24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g33e27b3e0e6_0_27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531" name="Google Shape;531;g33e27b3e0e6_0_27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SzPts val="1100"/>
              <a:buNone/>
            </a:pPr>
            <a:r>
              <a:t/>
            </a:r>
            <a:endParaRPr sz="1100">
              <a:latin typeface="Arial"/>
              <a:ea typeface="Arial"/>
              <a:cs typeface="Arial"/>
              <a:sym typeface="Arial"/>
            </a:endParaRPr>
          </a:p>
          <a:p>
            <a:pPr indent="0" lvl="0" marL="0" rtl="0" algn="l">
              <a:lnSpc>
                <a:spcPct val="115000"/>
              </a:lnSpc>
              <a:spcBef>
                <a:spcPts val="1200"/>
              </a:spcBef>
              <a:spcAft>
                <a:spcPts val="0"/>
              </a:spcAft>
              <a:buSzPts val="1100"/>
              <a:buNone/>
            </a:pPr>
            <a:r>
              <a:rPr lang="en-US" sz="1100">
                <a:latin typeface="Arial"/>
                <a:ea typeface="Arial"/>
                <a:cs typeface="Arial"/>
                <a:sym typeface="Arial"/>
              </a:rPr>
              <a:t>While time constraints prevented full implementation of all system components, the established framework provides a clear path for future development. The system as designed is capable of reducing final layer height deviations to less than 0.5mm from target specifications in multi-layer builds, a significant improvement over traditional open-loop WAAM processes where deviations can exceed several millimeters."</a:t>
            </a:r>
            <a:endParaRPr sz="1100">
              <a:latin typeface="Arial"/>
              <a:ea typeface="Arial"/>
              <a:cs typeface="Arial"/>
              <a:sym typeface="Arial"/>
            </a:endParaRPr>
          </a:p>
          <a:p>
            <a:pPr indent="0" lvl="0" marL="0" rtl="0" algn="l">
              <a:lnSpc>
                <a:spcPct val="115000"/>
              </a:lnSpc>
              <a:spcBef>
                <a:spcPts val="1200"/>
              </a:spcBef>
              <a:spcAft>
                <a:spcPts val="0"/>
              </a:spcAft>
              <a:buSzPts val="1100"/>
              <a:buNone/>
            </a:pPr>
            <a:r>
              <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t/>
            </a:r>
            <a:endParaRPr sz="1100">
              <a:latin typeface="Arial"/>
              <a:ea typeface="Arial"/>
              <a:cs typeface="Arial"/>
              <a:sym typeface="Arial"/>
            </a:endParaRPr>
          </a:p>
          <a:p>
            <a:pPr indent="0" lvl="0" marL="0" rtl="0" algn="l">
              <a:lnSpc>
                <a:spcPct val="100000"/>
              </a:lnSpc>
              <a:spcBef>
                <a:spcPts val="1200"/>
              </a:spcBef>
              <a:spcAft>
                <a:spcPts val="0"/>
              </a:spcAft>
              <a:buSzPts val="1400"/>
              <a:buNone/>
            </a:pPr>
            <a:r>
              <a:t/>
            </a:r>
            <a:endParaRPr/>
          </a:p>
        </p:txBody>
      </p:sp>
      <p:sp>
        <p:nvSpPr>
          <p:cNvPr id="532" name="Google Shape;532;g33e27b3e0e6_0_27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g33e27b3e0e6_0_30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550" name="Google Shape;550;g33e27b3e0e6_0_30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"Looking beyond the current implementation, several promising directions for future development have been identified that could further enhance the capabilities and performance of this system:</a:t>
            </a:r>
            <a:endParaRPr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AutoNum type="arabicPeriod"/>
            </a:pPr>
            <a:r>
              <a:rPr lang="en-US" sz="1100">
                <a:latin typeface="Arial"/>
                <a:ea typeface="Arial"/>
                <a:cs typeface="Arial"/>
                <a:sym typeface="Arial"/>
              </a:rPr>
              <a:t>Advanced PostProcessor Implementation with Multiprocessing:</a:t>
            </a: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Moving beyond the current threading approach to implement true parallel processing using multiple CPU cores</a:t>
            </a: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Using shared memory and process-based parallelism to overcome Python's Global Interpreter Lock limitations</a:t>
            </a: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Distributing computationally intensive tasks like feature detection and statistical analysis across multiple processes</a:t>
            </a: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Implementing fault isolation through process separation to enhance system robustness</a:t>
            </a: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Scaling automatically to utilize available computing resources, from single-board computers to multi-core workstations</a:t>
            </a: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Enabling more complex real-time analysis through parallel processing</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AutoNum type="arabicPeriod"/>
            </a:pPr>
            <a:r>
              <a:rPr lang="en-US" sz="1100">
                <a:latin typeface="Arial"/>
                <a:ea typeface="Arial"/>
                <a:cs typeface="Arial"/>
                <a:sym typeface="Arial"/>
              </a:rPr>
              <a:t>Zone-Based Adaptive Control:</a:t>
            </a: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Moving beyond uniform corrections to implement localized adjustments based on spatial zones within each layer</a:t>
            </a: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Creating grid-based correction zones that enable different adjustments for different regions of the same layer</a:t>
            </a: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Developing algorithms to determine which zone a particular G-code point belongs to for appropriate correction</a:t>
            </a: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Addressing complex geometries more effectively through spatial-aware compensation</a:t>
            </a: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Improving overall dimensional accuracy for features of varying sizes within the same build</a:t>
            </a: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Handling overhangs and other complex features that require localized adjustment strategies</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AutoNum type="arabicPeriod"/>
            </a:pPr>
            <a:r>
              <a:rPr lang="en-US" sz="1100">
                <a:latin typeface="Arial"/>
                <a:ea typeface="Arial"/>
                <a:cs typeface="Arial"/>
                <a:sym typeface="Arial"/>
              </a:rPr>
              <a:t>Machine Learning Integration:</a:t>
            </a: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Using computer vision algorithms to identify specific geometrical features in scan data</a:t>
            </a: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Developing predictive models that anticipate deposition behavior based on historical data</a:t>
            </a: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Implementing automated parameter tuning based on reinforcement learning</a:t>
            </a: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Creating pattern recognition systems to identify and classify defects in deposited layers</a:t>
            </a: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Optimizing scanning strategies through machine learning to focus on critical areas</a:t>
            </a: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Developing adaptive filtering algorithms that learn from previous measurement data</a:t>
            </a:r>
            <a:endParaRPr sz="1100">
              <a:latin typeface="Arial"/>
              <a:ea typeface="Arial"/>
              <a:cs typeface="Arial"/>
              <a:sym typeface="Arial"/>
            </a:endParaRPr>
          </a:p>
          <a:p>
            <a:pPr indent="0" lvl="0" marL="0" rtl="0" algn="l">
              <a:lnSpc>
                <a:spcPct val="115000"/>
              </a:lnSpc>
              <a:spcBef>
                <a:spcPts val="1200"/>
              </a:spcBef>
              <a:spcAft>
                <a:spcPts val="0"/>
              </a:spcAft>
              <a:buNone/>
            </a:pPr>
            <a:r>
              <a:rPr lang="en-US" sz="1100">
                <a:latin typeface="Arial"/>
                <a:ea typeface="Arial"/>
                <a:cs typeface="Arial"/>
                <a:sym typeface="Arial"/>
              </a:rPr>
              <a:t>The modular architecture developed in this project provides an ideal foundation for these enhancements, allowing individual components to be extended or replaced without requiring complete system redesign.</a:t>
            </a:r>
            <a:endParaRPr sz="1100">
              <a:latin typeface="Arial"/>
              <a:ea typeface="Arial"/>
              <a:cs typeface="Arial"/>
              <a:sym typeface="Arial"/>
            </a:endParaRPr>
          </a:p>
          <a:p>
            <a:pPr indent="0" lvl="0" marL="0" rtl="0" algn="l">
              <a:lnSpc>
                <a:spcPct val="115000"/>
              </a:lnSpc>
              <a:spcBef>
                <a:spcPts val="1200"/>
              </a:spcBef>
              <a:spcAft>
                <a:spcPts val="0"/>
              </a:spcAft>
              <a:buNone/>
            </a:pPr>
            <a:r>
              <a:rPr lang="en-US" sz="1100">
                <a:latin typeface="Arial"/>
                <a:ea typeface="Arial"/>
                <a:cs typeface="Arial"/>
                <a:sym typeface="Arial"/>
              </a:rPr>
              <a:t>Future work could also focus on expanding the system to handle multi-bead layers and more complex geometries, integrating additional process monitoring capabilities, and moving toward fully-closed-loop control with real-time parameter adjustment during deposition."</a:t>
            </a:r>
            <a:endParaRPr sz="1100">
              <a:latin typeface="Arial"/>
              <a:ea typeface="Arial"/>
              <a:cs typeface="Arial"/>
              <a:sym typeface="Arial"/>
            </a:endParaRPr>
          </a:p>
          <a:p>
            <a:pPr indent="0" lvl="0" marL="0" rtl="0" algn="l">
              <a:lnSpc>
                <a:spcPct val="100000"/>
              </a:lnSpc>
              <a:spcBef>
                <a:spcPts val="1200"/>
              </a:spcBef>
              <a:spcAft>
                <a:spcPts val="0"/>
              </a:spcAft>
              <a:buSzPts val="1400"/>
              <a:buNone/>
            </a:pPr>
            <a:r>
              <a:t/>
            </a:r>
            <a:endParaRPr/>
          </a:p>
        </p:txBody>
      </p:sp>
      <p:sp>
        <p:nvSpPr>
          <p:cNvPr id="551" name="Google Shape;551;g33e27b3e0e6_0_30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7" name="Shape 567"/>
        <p:cNvGrpSpPr/>
        <p:nvPr/>
      </p:nvGrpSpPr>
      <p:grpSpPr>
        <a:xfrm>
          <a:off x="0" y="0"/>
          <a:ext cx="0" cy="0"/>
          <a:chOff x="0" y="0"/>
          <a:chExt cx="0" cy="0"/>
        </a:xfrm>
      </p:grpSpPr>
      <p:sp>
        <p:nvSpPr>
          <p:cNvPr id="568" name="Google Shape;568;g33e27b3e0e6_0_3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569" name="Google Shape;569;g33e27b3e0e6_0_32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1200"/>
              </a:spcBef>
              <a:spcAft>
                <a:spcPts val="0"/>
              </a:spcAft>
              <a:buClr>
                <a:schemeClr val="dk1"/>
              </a:buClr>
              <a:buSzPts val="1100"/>
              <a:buFont typeface="Arial"/>
              <a:buNone/>
            </a:pPr>
            <a:r>
              <a:rPr lang="en-US">
                <a:latin typeface="Times New Roman"/>
                <a:ea typeface="Times New Roman"/>
                <a:cs typeface="Times New Roman"/>
                <a:sym typeface="Times New Roman"/>
              </a:rPr>
              <a:t>G-code (Geometric Code) is the standard language used to control computer numerical control (CNC) machines, including 3D printers and Wire Arc Additive Manufacturing (WAAM) systems. It consists of a series of commands that direct the machine's movements, tool operations, and other functions.</a:t>
            </a:r>
            <a:endParaRPr>
              <a:latin typeface="Times New Roman"/>
              <a:ea typeface="Times New Roman"/>
              <a:cs typeface="Times New Roman"/>
              <a:sym typeface="Times New Roman"/>
            </a:endParaRPr>
          </a:p>
          <a:p>
            <a:pPr indent="0" lvl="0" marL="0" rtl="0" algn="l">
              <a:spcBef>
                <a:spcPts val="1200"/>
              </a:spcBef>
              <a:spcAft>
                <a:spcPts val="0"/>
              </a:spcAft>
              <a:buClr>
                <a:schemeClr val="dk1"/>
              </a:buClr>
              <a:buSzPts val="1100"/>
              <a:buFont typeface="Arial"/>
              <a:buNone/>
            </a:pPr>
            <a:r>
              <a:rPr lang="en-US">
                <a:latin typeface="Times New Roman"/>
                <a:ea typeface="Times New Roman"/>
                <a:cs typeface="Times New Roman"/>
                <a:sym typeface="Times New Roman"/>
              </a:rPr>
              <a:t>In WAAM applications, G-code serves as the bridge between digital designs and physical fabrication, instructing the system on how to deposit metal through a welding process. The Arcment system uses a specialized subset of G-code commands, modified from traditional Fused Deposition Modeling (FDM) G-code to accommodate the specific requirements of wire arc welding.</a:t>
            </a:r>
            <a:endParaRPr>
              <a:latin typeface="Times New Roman"/>
              <a:ea typeface="Times New Roman"/>
              <a:cs typeface="Times New Roman"/>
              <a:sym typeface="Times New Roman"/>
            </a:endParaRPr>
          </a:p>
          <a:p>
            <a:pPr indent="0" lvl="0" marL="0" rtl="0" algn="l">
              <a:spcBef>
                <a:spcPts val="1800"/>
              </a:spcBef>
              <a:spcAft>
                <a:spcPts val="0"/>
              </a:spcAft>
              <a:buClr>
                <a:schemeClr val="dk1"/>
              </a:buClr>
              <a:buSzPts val="1100"/>
              <a:buFont typeface="Arial"/>
              <a:buNone/>
            </a:pPr>
            <a:r>
              <a:rPr b="1" lang="en-US">
                <a:latin typeface="Times New Roman"/>
                <a:ea typeface="Times New Roman"/>
                <a:cs typeface="Times New Roman"/>
                <a:sym typeface="Times New Roman"/>
              </a:rPr>
              <a:t>8.2 Core G-Code Command Categories</a:t>
            </a:r>
            <a:endParaRPr b="1">
              <a:latin typeface="Times New Roman"/>
              <a:ea typeface="Times New Roman"/>
              <a:cs typeface="Times New Roman"/>
              <a:sym typeface="Times New Roman"/>
            </a:endParaRPr>
          </a:p>
          <a:p>
            <a:pPr indent="0" lvl="0" marL="0" rtl="0" algn="l">
              <a:spcBef>
                <a:spcPts val="1400"/>
              </a:spcBef>
              <a:spcAft>
                <a:spcPts val="0"/>
              </a:spcAft>
              <a:buClr>
                <a:schemeClr val="dk1"/>
              </a:buClr>
              <a:buSzPts val="1100"/>
              <a:buFont typeface="Arial"/>
              <a:buNone/>
            </a:pPr>
            <a:r>
              <a:rPr b="1" lang="en-US">
                <a:latin typeface="Times New Roman"/>
                <a:ea typeface="Times New Roman"/>
                <a:cs typeface="Times New Roman"/>
                <a:sym typeface="Times New Roman"/>
              </a:rPr>
              <a:t>8.2.1 Movement Commands (G0, G1)</a:t>
            </a:r>
            <a:endParaRPr b="1">
              <a:latin typeface="Times New Roman"/>
              <a:ea typeface="Times New Roman"/>
              <a:cs typeface="Times New Roman"/>
              <a:sym typeface="Times New Roman"/>
            </a:endParaRPr>
          </a:p>
          <a:p>
            <a:pPr indent="0" lvl="0" marL="0" rtl="0" algn="l">
              <a:spcBef>
                <a:spcPts val="1200"/>
              </a:spcBef>
              <a:spcAft>
                <a:spcPts val="0"/>
              </a:spcAft>
              <a:buClr>
                <a:schemeClr val="dk1"/>
              </a:buClr>
              <a:buSzPts val="1100"/>
              <a:buFont typeface="Arial"/>
              <a:buNone/>
            </a:pPr>
            <a:r>
              <a:rPr lang="en-US">
                <a:latin typeface="Times New Roman"/>
                <a:ea typeface="Times New Roman"/>
                <a:cs typeface="Times New Roman"/>
                <a:sym typeface="Times New Roman"/>
              </a:rPr>
              <a:t>Movement commands control the positioning of the print head and the deposition of material.</a:t>
            </a:r>
            <a:endParaRPr>
              <a:latin typeface="Times New Roman"/>
              <a:ea typeface="Times New Roman"/>
              <a:cs typeface="Times New Roman"/>
              <a:sym typeface="Times New Roman"/>
            </a:endParaRPr>
          </a:p>
          <a:p>
            <a:pPr indent="-304800" lvl="0" marL="457200" rtl="0" algn="l">
              <a:spcBef>
                <a:spcPts val="1200"/>
              </a:spcBef>
              <a:spcAft>
                <a:spcPts val="0"/>
              </a:spcAft>
              <a:buClr>
                <a:schemeClr val="dk1"/>
              </a:buClr>
              <a:buSzPts val="1200"/>
              <a:buFont typeface="Times New Roman"/>
              <a:buChar char="●"/>
            </a:pPr>
            <a:r>
              <a:rPr b="1" lang="en-US">
                <a:latin typeface="Times New Roman"/>
                <a:ea typeface="Times New Roman"/>
                <a:cs typeface="Times New Roman"/>
                <a:sym typeface="Times New Roman"/>
              </a:rPr>
              <a:t>G0</a:t>
            </a:r>
            <a:r>
              <a:rPr lang="en-US">
                <a:latin typeface="Times New Roman"/>
                <a:ea typeface="Times New Roman"/>
                <a:cs typeface="Times New Roman"/>
                <a:sym typeface="Times New Roman"/>
              </a:rPr>
              <a:t>: Rapid positioning (non-printing moves)</a:t>
            </a:r>
            <a:br>
              <a:rPr lang="en-US">
                <a:latin typeface="Times New Roman"/>
                <a:ea typeface="Times New Roman"/>
                <a:cs typeface="Times New Roman"/>
                <a:sym typeface="Times New Roman"/>
              </a:rPr>
            </a:br>
            <a:endParaRPr>
              <a:latin typeface="Times New Roman"/>
              <a:ea typeface="Times New Roman"/>
              <a:cs typeface="Times New Roman"/>
              <a:sym typeface="Times New Roman"/>
            </a:endParaRPr>
          </a:p>
          <a:p>
            <a:pPr indent="-304800" lvl="1" marL="914400" rtl="0" algn="l">
              <a:spcBef>
                <a:spcPts val="0"/>
              </a:spcBef>
              <a:spcAft>
                <a:spcPts val="0"/>
              </a:spcAft>
              <a:buClr>
                <a:schemeClr val="dk1"/>
              </a:buClr>
              <a:buSzPts val="1200"/>
              <a:buFont typeface="Times New Roman"/>
              <a:buChar char="○"/>
            </a:pPr>
            <a:r>
              <a:rPr lang="en-US">
                <a:latin typeface="Times New Roman"/>
                <a:ea typeface="Times New Roman"/>
                <a:cs typeface="Times New Roman"/>
                <a:sym typeface="Times New Roman"/>
              </a:rPr>
              <a:t>Format: G0 Xnnn Ynnn Znnn</a:t>
            </a:r>
            <a:endParaRPr>
              <a:latin typeface="Times New Roman"/>
              <a:ea typeface="Times New Roman"/>
              <a:cs typeface="Times New Roman"/>
              <a:sym typeface="Times New Roman"/>
            </a:endParaRPr>
          </a:p>
          <a:p>
            <a:pPr indent="-304800" lvl="1" marL="914400" rtl="0" algn="l">
              <a:spcBef>
                <a:spcPts val="0"/>
              </a:spcBef>
              <a:spcAft>
                <a:spcPts val="0"/>
              </a:spcAft>
              <a:buClr>
                <a:schemeClr val="dk1"/>
              </a:buClr>
              <a:buSzPts val="1200"/>
              <a:buFont typeface="Times New Roman"/>
              <a:buChar char="○"/>
            </a:pPr>
            <a:r>
              <a:rPr lang="en-US">
                <a:latin typeface="Times New Roman"/>
                <a:ea typeface="Times New Roman"/>
                <a:cs typeface="Times New Roman"/>
                <a:sym typeface="Times New Roman"/>
              </a:rPr>
              <a:t>Example: G0 X100 Y100 Z10 - Move rapidly to X=100, Y=100, Z=10</a:t>
            </a:r>
            <a:endParaRPr>
              <a:latin typeface="Times New Roman"/>
              <a:ea typeface="Times New Roman"/>
              <a:cs typeface="Times New Roman"/>
              <a:sym typeface="Times New Roman"/>
            </a:endParaRPr>
          </a:p>
          <a:p>
            <a:pPr indent="-304800" lvl="1" marL="914400" rtl="0" algn="l">
              <a:spcBef>
                <a:spcPts val="0"/>
              </a:spcBef>
              <a:spcAft>
                <a:spcPts val="0"/>
              </a:spcAft>
              <a:buClr>
                <a:schemeClr val="dk1"/>
              </a:buClr>
              <a:buSzPts val="1200"/>
              <a:buFont typeface="Times New Roman"/>
              <a:buChar char="○"/>
            </a:pPr>
            <a:r>
              <a:rPr lang="en-US">
                <a:latin typeface="Times New Roman"/>
                <a:ea typeface="Times New Roman"/>
                <a:cs typeface="Times New Roman"/>
                <a:sym typeface="Times New Roman"/>
              </a:rPr>
              <a:t>Function: Used for non-printing movements where precision is less critical</a:t>
            </a:r>
            <a:endParaRPr>
              <a:latin typeface="Times New Roman"/>
              <a:ea typeface="Times New Roman"/>
              <a:cs typeface="Times New Roman"/>
              <a:sym typeface="Times New Roman"/>
            </a:endParaRPr>
          </a:p>
          <a:p>
            <a:pPr indent="-304800" lvl="1" marL="914400" rtl="0" algn="l">
              <a:spcBef>
                <a:spcPts val="0"/>
              </a:spcBef>
              <a:spcAft>
                <a:spcPts val="0"/>
              </a:spcAft>
              <a:buClr>
                <a:schemeClr val="dk1"/>
              </a:buClr>
              <a:buSzPts val="1200"/>
              <a:buFont typeface="Times New Roman"/>
              <a:buChar char="○"/>
            </a:pPr>
            <a:r>
              <a:rPr lang="en-US">
                <a:latin typeface="Times New Roman"/>
                <a:ea typeface="Times New Roman"/>
                <a:cs typeface="Times New Roman"/>
                <a:sym typeface="Times New Roman"/>
              </a:rPr>
              <a:t>In WAAM applications, often converted to G1 for better control</a:t>
            </a:r>
            <a:endParaRPr>
              <a:latin typeface="Times New Roman"/>
              <a:ea typeface="Times New Roman"/>
              <a:cs typeface="Times New Roman"/>
              <a:sym typeface="Times New Roman"/>
            </a:endParaRPr>
          </a:p>
          <a:p>
            <a:pPr indent="-304800" lvl="0" marL="457200" rtl="0" algn="l">
              <a:spcBef>
                <a:spcPts val="0"/>
              </a:spcBef>
              <a:spcAft>
                <a:spcPts val="0"/>
              </a:spcAft>
              <a:buClr>
                <a:schemeClr val="dk1"/>
              </a:buClr>
              <a:buSzPts val="1200"/>
              <a:buFont typeface="Times New Roman"/>
              <a:buChar char="●"/>
            </a:pPr>
            <a:r>
              <a:rPr b="1" lang="en-US">
                <a:latin typeface="Times New Roman"/>
                <a:ea typeface="Times New Roman"/>
                <a:cs typeface="Times New Roman"/>
                <a:sym typeface="Times New Roman"/>
              </a:rPr>
              <a:t>G1</a:t>
            </a:r>
            <a:r>
              <a:rPr lang="en-US">
                <a:latin typeface="Times New Roman"/>
                <a:ea typeface="Times New Roman"/>
                <a:cs typeface="Times New Roman"/>
                <a:sym typeface="Times New Roman"/>
              </a:rPr>
              <a:t>: Linear interpolation (printing moves)</a:t>
            </a:r>
            <a:br>
              <a:rPr lang="en-US">
                <a:latin typeface="Times New Roman"/>
                <a:ea typeface="Times New Roman"/>
                <a:cs typeface="Times New Roman"/>
                <a:sym typeface="Times New Roman"/>
              </a:rPr>
            </a:br>
            <a:endParaRPr>
              <a:latin typeface="Times New Roman"/>
              <a:ea typeface="Times New Roman"/>
              <a:cs typeface="Times New Roman"/>
              <a:sym typeface="Times New Roman"/>
            </a:endParaRPr>
          </a:p>
          <a:p>
            <a:pPr indent="-304800" lvl="1" marL="914400" rtl="0" algn="l">
              <a:spcBef>
                <a:spcPts val="0"/>
              </a:spcBef>
              <a:spcAft>
                <a:spcPts val="0"/>
              </a:spcAft>
              <a:buClr>
                <a:schemeClr val="dk1"/>
              </a:buClr>
              <a:buSzPts val="1200"/>
              <a:buFont typeface="Times New Roman"/>
              <a:buChar char="○"/>
            </a:pPr>
            <a:r>
              <a:rPr lang="en-US">
                <a:latin typeface="Times New Roman"/>
                <a:ea typeface="Times New Roman"/>
                <a:cs typeface="Times New Roman"/>
                <a:sym typeface="Times New Roman"/>
              </a:rPr>
              <a:t>Format: G1 Xnnn Ynnn Znnn Fnnn</a:t>
            </a:r>
            <a:endParaRPr>
              <a:latin typeface="Times New Roman"/>
              <a:ea typeface="Times New Roman"/>
              <a:cs typeface="Times New Roman"/>
              <a:sym typeface="Times New Roman"/>
            </a:endParaRPr>
          </a:p>
          <a:p>
            <a:pPr indent="-304800" lvl="1" marL="914400" rtl="0" algn="l">
              <a:spcBef>
                <a:spcPts val="0"/>
              </a:spcBef>
              <a:spcAft>
                <a:spcPts val="0"/>
              </a:spcAft>
              <a:buClr>
                <a:schemeClr val="dk1"/>
              </a:buClr>
              <a:buSzPts val="1200"/>
              <a:buFont typeface="Times New Roman"/>
              <a:buChar char="○"/>
            </a:pPr>
            <a:r>
              <a:rPr lang="en-US">
                <a:latin typeface="Times New Roman"/>
                <a:ea typeface="Times New Roman"/>
                <a:cs typeface="Times New Roman"/>
                <a:sym typeface="Times New Roman"/>
              </a:rPr>
              <a:t>Example: G1 X200 Y100 F1000 - Move to X=200, Y=100 at feed rate 1000 mm/min</a:t>
            </a:r>
            <a:endParaRPr>
              <a:latin typeface="Times New Roman"/>
              <a:ea typeface="Times New Roman"/>
              <a:cs typeface="Times New Roman"/>
              <a:sym typeface="Times New Roman"/>
            </a:endParaRPr>
          </a:p>
          <a:p>
            <a:pPr indent="-304800" lvl="1" marL="914400" rtl="0" algn="l">
              <a:spcBef>
                <a:spcPts val="0"/>
              </a:spcBef>
              <a:spcAft>
                <a:spcPts val="0"/>
              </a:spcAft>
              <a:buClr>
                <a:schemeClr val="dk1"/>
              </a:buClr>
              <a:buSzPts val="1200"/>
              <a:buFont typeface="Times New Roman"/>
              <a:buChar char="○"/>
            </a:pPr>
            <a:r>
              <a:rPr lang="en-US">
                <a:latin typeface="Times New Roman"/>
                <a:ea typeface="Times New Roman"/>
                <a:cs typeface="Times New Roman"/>
                <a:sym typeface="Times New Roman"/>
              </a:rPr>
              <a:t>Function: Controls precise movement during material deposition</a:t>
            </a:r>
            <a:endParaRPr>
              <a:latin typeface="Times New Roman"/>
              <a:ea typeface="Times New Roman"/>
              <a:cs typeface="Times New Roman"/>
              <a:sym typeface="Times New Roman"/>
            </a:endParaRPr>
          </a:p>
          <a:p>
            <a:pPr indent="-304800" lvl="1" marL="914400" rtl="0" algn="l">
              <a:spcBef>
                <a:spcPts val="0"/>
              </a:spcBef>
              <a:spcAft>
                <a:spcPts val="0"/>
              </a:spcAft>
              <a:buClr>
                <a:schemeClr val="dk1"/>
              </a:buClr>
              <a:buSzPts val="1200"/>
              <a:buFont typeface="Times New Roman"/>
              <a:buChar char="○"/>
            </a:pPr>
            <a:r>
              <a:rPr lang="en-US">
                <a:latin typeface="Times New Roman"/>
                <a:ea typeface="Times New Roman"/>
                <a:cs typeface="Times New Roman"/>
                <a:sym typeface="Times New Roman"/>
              </a:rPr>
              <a:t>The F parameter sets the feed rate (speed of movement)</a:t>
            </a:r>
            <a:endParaRPr>
              <a:latin typeface="Times New Roman"/>
              <a:ea typeface="Times New Roman"/>
              <a:cs typeface="Times New Roman"/>
              <a:sym typeface="Times New Roman"/>
            </a:endParaRPr>
          </a:p>
          <a:p>
            <a:pPr indent="0" lvl="0" marL="0" rtl="0" algn="l">
              <a:spcBef>
                <a:spcPts val="1200"/>
              </a:spcBef>
              <a:spcAft>
                <a:spcPts val="0"/>
              </a:spcAft>
              <a:buClr>
                <a:schemeClr val="dk1"/>
              </a:buClr>
              <a:buSzPts val="1100"/>
              <a:buFont typeface="Arial"/>
              <a:buNone/>
            </a:pPr>
            <a:r>
              <a:rPr lang="en-US">
                <a:latin typeface="Times New Roman"/>
                <a:ea typeface="Times New Roman"/>
                <a:cs typeface="Times New Roman"/>
                <a:sym typeface="Times New Roman"/>
              </a:rPr>
              <a:t>These commands are crucial for controlling the precise movement of the welding torch, ensuring accurate material deposition.</a:t>
            </a:r>
            <a:endParaRPr>
              <a:latin typeface="Times New Roman"/>
              <a:ea typeface="Times New Roman"/>
              <a:cs typeface="Times New Roman"/>
              <a:sym typeface="Times New Roman"/>
            </a:endParaRPr>
          </a:p>
          <a:p>
            <a:pPr indent="0" lvl="0" marL="0" rtl="0" algn="l">
              <a:spcBef>
                <a:spcPts val="1400"/>
              </a:spcBef>
              <a:spcAft>
                <a:spcPts val="0"/>
              </a:spcAft>
              <a:buClr>
                <a:schemeClr val="dk1"/>
              </a:buClr>
              <a:buSzPts val="1100"/>
              <a:buFont typeface="Arial"/>
              <a:buNone/>
            </a:pPr>
            <a:r>
              <a:t/>
            </a:r>
            <a:endParaRPr b="1">
              <a:latin typeface="Times New Roman"/>
              <a:ea typeface="Times New Roman"/>
              <a:cs typeface="Times New Roman"/>
              <a:sym typeface="Times New Roman"/>
            </a:endParaRPr>
          </a:p>
          <a:p>
            <a:pPr indent="0" lvl="0" marL="0" rtl="0" algn="l">
              <a:lnSpc>
                <a:spcPct val="115000"/>
              </a:lnSpc>
              <a:spcBef>
                <a:spcPts val="400"/>
              </a:spcBef>
              <a:spcAft>
                <a:spcPts val="0"/>
              </a:spcAft>
              <a:buClr>
                <a:schemeClr val="dk1"/>
              </a:buClr>
              <a:buSzPts val="1100"/>
              <a:buFont typeface="Arial"/>
              <a:buNone/>
            </a:pPr>
            <a:r>
              <a:t/>
            </a:r>
            <a:endParaRPr>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t/>
            </a:r>
            <a:endParaRPr>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t/>
            </a:r>
            <a:endParaRPr>
              <a:latin typeface="Times New Roman"/>
              <a:ea typeface="Times New Roman"/>
              <a:cs typeface="Times New Roman"/>
              <a:sym typeface="Times New Roman"/>
            </a:endParaRPr>
          </a:p>
          <a:p>
            <a:pPr indent="0" lvl="0" marL="0" rtl="0" algn="l">
              <a:spcBef>
                <a:spcPts val="1400"/>
              </a:spcBef>
              <a:spcAft>
                <a:spcPts val="0"/>
              </a:spcAft>
              <a:buClr>
                <a:schemeClr val="dk1"/>
              </a:buClr>
              <a:buSzPts val="1100"/>
              <a:buFont typeface="Arial"/>
              <a:buNone/>
            </a:pPr>
            <a:r>
              <a:rPr b="1" lang="en-US">
                <a:latin typeface="Times New Roman"/>
                <a:ea typeface="Times New Roman"/>
                <a:cs typeface="Times New Roman"/>
                <a:sym typeface="Times New Roman"/>
              </a:rPr>
              <a:t>8.2.2 Coordinate System Commands (G90, G91, G92)</a:t>
            </a:r>
            <a:endParaRPr b="1">
              <a:latin typeface="Times New Roman"/>
              <a:ea typeface="Times New Roman"/>
              <a:cs typeface="Times New Roman"/>
              <a:sym typeface="Times New Roman"/>
            </a:endParaRPr>
          </a:p>
          <a:p>
            <a:pPr indent="0" lvl="0" marL="0" rtl="0" algn="l">
              <a:spcBef>
                <a:spcPts val="1200"/>
              </a:spcBef>
              <a:spcAft>
                <a:spcPts val="0"/>
              </a:spcAft>
              <a:buClr>
                <a:schemeClr val="dk1"/>
              </a:buClr>
              <a:buSzPts val="1100"/>
              <a:buFont typeface="Arial"/>
              <a:buNone/>
            </a:pPr>
            <a:r>
              <a:rPr lang="en-US">
                <a:latin typeface="Times New Roman"/>
                <a:ea typeface="Times New Roman"/>
                <a:cs typeface="Times New Roman"/>
                <a:sym typeface="Times New Roman"/>
              </a:rPr>
              <a:t>These commands define how coordinates are interpreted.</a:t>
            </a:r>
            <a:endParaRPr>
              <a:latin typeface="Times New Roman"/>
              <a:ea typeface="Times New Roman"/>
              <a:cs typeface="Times New Roman"/>
              <a:sym typeface="Times New Roman"/>
            </a:endParaRPr>
          </a:p>
          <a:p>
            <a:pPr indent="-304800" lvl="0" marL="457200" rtl="0" algn="l">
              <a:spcBef>
                <a:spcPts val="1200"/>
              </a:spcBef>
              <a:spcAft>
                <a:spcPts val="0"/>
              </a:spcAft>
              <a:buClr>
                <a:schemeClr val="dk1"/>
              </a:buClr>
              <a:buSzPts val="1200"/>
              <a:buFont typeface="Times New Roman"/>
              <a:buChar char="●"/>
            </a:pPr>
            <a:r>
              <a:rPr b="1" lang="en-US">
                <a:latin typeface="Times New Roman"/>
                <a:ea typeface="Times New Roman"/>
                <a:cs typeface="Times New Roman"/>
                <a:sym typeface="Times New Roman"/>
              </a:rPr>
              <a:t>G90</a:t>
            </a:r>
            <a:r>
              <a:rPr lang="en-US">
                <a:latin typeface="Times New Roman"/>
                <a:ea typeface="Times New Roman"/>
                <a:cs typeface="Times New Roman"/>
                <a:sym typeface="Times New Roman"/>
              </a:rPr>
              <a:t>: Set absolute positioning</a:t>
            </a:r>
            <a:br>
              <a:rPr lang="en-US">
                <a:latin typeface="Times New Roman"/>
                <a:ea typeface="Times New Roman"/>
                <a:cs typeface="Times New Roman"/>
                <a:sym typeface="Times New Roman"/>
              </a:rPr>
            </a:br>
            <a:endParaRPr>
              <a:latin typeface="Times New Roman"/>
              <a:ea typeface="Times New Roman"/>
              <a:cs typeface="Times New Roman"/>
              <a:sym typeface="Times New Roman"/>
            </a:endParaRPr>
          </a:p>
          <a:p>
            <a:pPr indent="-304800" lvl="1" marL="914400" rtl="0" algn="l">
              <a:spcBef>
                <a:spcPts val="0"/>
              </a:spcBef>
              <a:spcAft>
                <a:spcPts val="0"/>
              </a:spcAft>
              <a:buClr>
                <a:schemeClr val="dk1"/>
              </a:buClr>
              <a:buSzPts val="1200"/>
              <a:buFont typeface="Times New Roman"/>
              <a:buChar char="○"/>
            </a:pPr>
            <a:r>
              <a:rPr lang="en-US">
                <a:latin typeface="Times New Roman"/>
                <a:ea typeface="Times New Roman"/>
                <a:cs typeface="Times New Roman"/>
                <a:sym typeface="Times New Roman"/>
              </a:rPr>
              <a:t>Format: G90</a:t>
            </a:r>
            <a:endParaRPr>
              <a:latin typeface="Times New Roman"/>
              <a:ea typeface="Times New Roman"/>
              <a:cs typeface="Times New Roman"/>
              <a:sym typeface="Times New Roman"/>
            </a:endParaRPr>
          </a:p>
          <a:p>
            <a:pPr indent="-304800" lvl="1" marL="914400" rtl="0" algn="l">
              <a:spcBef>
                <a:spcPts val="0"/>
              </a:spcBef>
              <a:spcAft>
                <a:spcPts val="0"/>
              </a:spcAft>
              <a:buClr>
                <a:schemeClr val="dk1"/>
              </a:buClr>
              <a:buSzPts val="1200"/>
              <a:buFont typeface="Times New Roman"/>
              <a:buChar char="○"/>
            </a:pPr>
            <a:r>
              <a:rPr lang="en-US">
                <a:latin typeface="Times New Roman"/>
                <a:ea typeface="Times New Roman"/>
                <a:cs typeface="Times New Roman"/>
                <a:sym typeface="Times New Roman"/>
              </a:rPr>
              <a:t>Function: All coordinates are interpreted relative to the machine origin</a:t>
            </a:r>
            <a:endParaRPr>
              <a:latin typeface="Times New Roman"/>
              <a:ea typeface="Times New Roman"/>
              <a:cs typeface="Times New Roman"/>
              <a:sym typeface="Times New Roman"/>
            </a:endParaRPr>
          </a:p>
          <a:p>
            <a:pPr indent="-304800" lvl="1" marL="914400" rtl="0" algn="l">
              <a:spcBef>
                <a:spcPts val="0"/>
              </a:spcBef>
              <a:spcAft>
                <a:spcPts val="0"/>
              </a:spcAft>
              <a:buClr>
                <a:schemeClr val="dk1"/>
              </a:buClr>
              <a:buSzPts val="1200"/>
              <a:buFont typeface="Times New Roman"/>
              <a:buChar char="○"/>
            </a:pPr>
            <a:r>
              <a:rPr lang="en-US">
                <a:latin typeface="Times New Roman"/>
                <a:ea typeface="Times New Roman"/>
                <a:cs typeface="Times New Roman"/>
                <a:sym typeface="Times New Roman"/>
              </a:rPr>
              <a:t>Example usage: G90 followed by G1 X100 Y100 moves to absolute position X=100, Y=100</a:t>
            </a:r>
            <a:endParaRPr>
              <a:latin typeface="Times New Roman"/>
              <a:ea typeface="Times New Roman"/>
              <a:cs typeface="Times New Roman"/>
              <a:sym typeface="Times New Roman"/>
            </a:endParaRPr>
          </a:p>
          <a:p>
            <a:pPr indent="-304800" lvl="0" marL="457200" rtl="0" algn="l">
              <a:spcBef>
                <a:spcPts val="0"/>
              </a:spcBef>
              <a:spcAft>
                <a:spcPts val="0"/>
              </a:spcAft>
              <a:buClr>
                <a:schemeClr val="dk1"/>
              </a:buClr>
              <a:buSzPts val="1200"/>
              <a:buFont typeface="Times New Roman"/>
              <a:buChar char="●"/>
            </a:pPr>
            <a:r>
              <a:rPr b="1" lang="en-US">
                <a:latin typeface="Times New Roman"/>
                <a:ea typeface="Times New Roman"/>
                <a:cs typeface="Times New Roman"/>
                <a:sym typeface="Times New Roman"/>
              </a:rPr>
              <a:t>G91</a:t>
            </a:r>
            <a:r>
              <a:rPr lang="en-US">
                <a:latin typeface="Times New Roman"/>
                <a:ea typeface="Times New Roman"/>
                <a:cs typeface="Times New Roman"/>
                <a:sym typeface="Times New Roman"/>
              </a:rPr>
              <a:t>: Set relative positioning</a:t>
            </a:r>
            <a:br>
              <a:rPr lang="en-US">
                <a:latin typeface="Times New Roman"/>
                <a:ea typeface="Times New Roman"/>
                <a:cs typeface="Times New Roman"/>
                <a:sym typeface="Times New Roman"/>
              </a:rPr>
            </a:br>
            <a:endParaRPr>
              <a:latin typeface="Times New Roman"/>
              <a:ea typeface="Times New Roman"/>
              <a:cs typeface="Times New Roman"/>
              <a:sym typeface="Times New Roman"/>
            </a:endParaRPr>
          </a:p>
          <a:p>
            <a:pPr indent="-304800" lvl="1" marL="914400" rtl="0" algn="l">
              <a:spcBef>
                <a:spcPts val="0"/>
              </a:spcBef>
              <a:spcAft>
                <a:spcPts val="0"/>
              </a:spcAft>
              <a:buClr>
                <a:schemeClr val="dk1"/>
              </a:buClr>
              <a:buSzPts val="1200"/>
              <a:buFont typeface="Times New Roman"/>
              <a:buChar char="○"/>
            </a:pPr>
            <a:r>
              <a:rPr lang="en-US">
                <a:latin typeface="Times New Roman"/>
                <a:ea typeface="Times New Roman"/>
                <a:cs typeface="Times New Roman"/>
                <a:sym typeface="Times New Roman"/>
              </a:rPr>
              <a:t>Format: G91</a:t>
            </a:r>
            <a:endParaRPr>
              <a:latin typeface="Times New Roman"/>
              <a:ea typeface="Times New Roman"/>
              <a:cs typeface="Times New Roman"/>
              <a:sym typeface="Times New Roman"/>
            </a:endParaRPr>
          </a:p>
          <a:p>
            <a:pPr indent="-304800" lvl="1" marL="914400" rtl="0" algn="l">
              <a:spcBef>
                <a:spcPts val="0"/>
              </a:spcBef>
              <a:spcAft>
                <a:spcPts val="0"/>
              </a:spcAft>
              <a:buClr>
                <a:schemeClr val="dk1"/>
              </a:buClr>
              <a:buSzPts val="1200"/>
              <a:buFont typeface="Times New Roman"/>
              <a:buChar char="○"/>
            </a:pPr>
            <a:r>
              <a:rPr lang="en-US">
                <a:latin typeface="Times New Roman"/>
                <a:ea typeface="Times New Roman"/>
                <a:cs typeface="Times New Roman"/>
                <a:sym typeface="Times New Roman"/>
              </a:rPr>
              <a:t>Function: All coordinates are interpreted relative to the current position</a:t>
            </a:r>
            <a:endParaRPr>
              <a:latin typeface="Times New Roman"/>
              <a:ea typeface="Times New Roman"/>
              <a:cs typeface="Times New Roman"/>
              <a:sym typeface="Times New Roman"/>
            </a:endParaRPr>
          </a:p>
          <a:p>
            <a:pPr indent="-304800" lvl="1" marL="914400" rtl="0" algn="l">
              <a:spcBef>
                <a:spcPts val="0"/>
              </a:spcBef>
              <a:spcAft>
                <a:spcPts val="0"/>
              </a:spcAft>
              <a:buClr>
                <a:schemeClr val="dk1"/>
              </a:buClr>
              <a:buSzPts val="1200"/>
              <a:buFont typeface="Times New Roman"/>
              <a:buChar char="○"/>
            </a:pPr>
            <a:r>
              <a:rPr lang="en-US">
                <a:latin typeface="Times New Roman"/>
                <a:ea typeface="Times New Roman"/>
                <a:cs typeface="Times New Roman"/>
                <a:sym typeface="Times New Roman"/>
              </a:rPr>
              <a:t>Example usage: G91 followed by G1 X10 Y10 moves 10mm in both X and Y from current position</a:t>
            </a:r>
            <a:endParaRPr>
              <a:latin typeface="Times New Roman"/>
              <a:ea typeface="Times New Roman"/>
              <a:cs typeface="Times New Roman"/>
              <a:sym typeface="Times New Roman"/>
            </a:endParaRPr>
          </a:p>
          <a:p>
            <a:pPr indent="-304800" lvl="0" marL="457200" rtl="0" algn="l">
              <a:spcBef>
                <a:spcPts val="0"/>
              </a:spcBef>
              <a:spcAft>
                <a:spcPts val="0"/>
              </a:spcAft>
              <a:buClr>
                <a:schemeClr val="dk1"/>
              </a:buClr>
              <a:buSzPts val="1200"/>
              <a:buFont typeface="Times New Roman"/>
              <a:buChar char="●"/>
            </a:pPr>
            <a:r>
              <a:rPr b="1" lang="en-US">
                <a:latin typeface="Times New Roman"/>
                <a:ea typeface="Times New Roman"/>
                <a:cs typeface="Times New Roman"/>
                <a:sym typeface="Times New Roman"/>
              </a:rPr>
              <a:t>G92</a:t>
            </a:r>
            <a:r>
              <a:rPr lang="en-US">
                <a:latin typeface="Times New Roman"/>
                <a:ea typeface="Times New Roman"/>
                <a:cs typeface="Times New Roman"/>
                <a:sym typeface="Times New Roman"/>
              </a:rPr>
              <a:t>: Set position</a:t>
            </a:r>
            <a:br>
              <a:rPr lang="en-US">
                <a:latin typeface="Times New Roman"/>
                <a:ea typeface="Times New Roman"/>
                <a:cs typeface="Times New Roman"/>
                <a:sym typeface="Times New Roman"/>
              </a:rPr>
            </a:br>
            <a:endParaRPr>
              <a:latin typeface="Times New Roman"/>
              <a:ea typeface="Times New Roman"/>
              <a:cs typeface="Times New Roman"/>
              <a:sym typeface="Times New Roman"/>
            </a:endParaRPr>
          </a:p>
          <a:p>
            <a:pPr indent="-304800" lvl="1" marL="914400" rtl="0" algn="l">
              <a:spcBef>
                <a:spcPts val="0"/>
              </a:spcBef>
              <a:spcAft>
                <a:spcPts val="0"/>
              </a:spcAft>
              <a:buClr>
                <a:schemeClr val="dk1"/>
              </a:buClr>
              <a:buSzPts val="1200"/>
              <a:buFont typeface="Times New Roman"/>
              <a:buChar char="○"/>
            </a:pPr>
            <a:r>
              <a:rPr lang="en-US">
                <a:latin typeface="Times New Roman"/>
                <a:ea typeface="Times New Roman"/>
                <a:cs typeface="Times New Roman"/>
                <a:sym typeface="Times New Roman"/>
              </a:rPr>
              <a:t>Format: G92 Xnnn Ynnn Znnn Ennn</a:t>
            </a:r>
            <a:endParaRPr>
              <a:latin typeface="Times New Roman"/>
              <a:ea typeface="Times New Roman"/>
              <a:cs typeface="Times New Roman"/>
              <a:sym typeface="Times New Roman"/>
            </a:endParaRPr>
          </a:p>
          <a:p>
            <a:pPr indent="-304800" lvl="1" marL="914400" rtl="0" algn="l">
              <a:spcBef>
                <a:spcPts val="0"/>
              </a:spcBef>
              <a:spcAft>
                <a:spcPts val="0"/>
              </a:spcAft>
              <a:buClr>
                <a:schemeClr val="dk1"/>
              </a:buClr>
              <a:buSzPts val="1200"/>
              <a:buFont typeface="Times New Roman"/>
              <a:buChar char="○"/>
            </a:pPr>
            <a:r>
              <a:rPr lang="en-US">
                <a:latin typeface="Times New Roman"/>
                <a:ea typeface="Times New Roman"/>
                <a:cs typeface="Times New Roman"/>
                <a:sym typeface="Times New Roman"/>
              </a:rPr>
              <a:t>Example: G92 E0 - Reset extruder position to zero</a:t>
            </a:r>
            <a:endParaRPr>
              <a:latin typeface="Times New Roman"/>
              <a:ea typeface="Times New Roman"/>
              <a:cs typeface="Times New Roman"/>
              <a:sym typeface="Times New Roman"/>
            </a:endParaRPr>
          </a:p>
          <a:p>
            <a:pPr indent="-304800" lvl="1" marL="914400" rtl="0" algn="l">
              <a:spcBef>
                <a:spcPts val="0"/>
              </a:spcBef>
              <a:spcAft>
                <a:spcPts val="0"/>
              </a:spcAft>
              <a:buClr>
                <a:schemeClr val="dk1"/>
              </a:buClr>
              <a:buSzPts val="1200"/>
              <a:buFont typeface="Times New Roman"/>
              <a:buChar char="○"/>
            </a:pPr>
            <a:r>
              <a:rPr lang="en-US">
                <a:latin typeface="Times New Roman"/>
                <a:ea typeface="Times New Roman"/>
                <a:cs typeface="Times New Roman"/>
                <a:sym typeface="Times New Roman"/>
              </a:rPr>
              <a:t>Function: Redefines the current position without moving the machine</a:t>
            </a:r>
            <a:endParaRPr>
              <a:latin typeface="Times New Roman"/>
              <a:ea typeface="Times New Roman"/>
              <a:cs typeface="Times New Roman"/>
              <a:sym typeface="Times New Roman"/>
            </a:endParaRPr>
          </a:p>
          <a:p>
            <a:pPr indent="0" lvl="0" marL="0" rtl="0" algn="l">
              <a:spcBef>
                <a:spcPts val="1200"/>
              </a:spcBef>
              <a:spcAft>
                <a:spcPts val="0"/>
              </a:spcAft>
              <a:buClr>
                <a:schemeClr val="dk1"/>
              </a:buClr>
              <a:buSzPts val="1100"/>
              <a:buFont typeface="Arial"/>
              <a:buNone/>
            </a:pPr>
            <a:r>
              <a:rPr lang="en-US">
                <a:latin typeface="Times New Roman"/>
                <a:ea typeface="Times New Roman"/>
                <a:cs typeface="Times New Roman"/>
                <a:sym typeface="Times New Roman"/>
              </a:rPr>
              <a:t>Coordinate system commands are particularly important in WAAM for implementing the interpass movements and maintaining precise positioning throughout the build.</a:t>
            </a:r>
            <a:endParaRPr>
              <a:latin typeface="Times New Roman"/>
              <a:ea typeface="Times New Roman"/>
              <a:cs typeface="Times New Roman"/>
              <a:sym typeface="Times New Roman"/>
            </a:endParaRPr>
          </a:p>
          <a:p>
            <a:pPr indent="0" lvl="0" marL="0" rtl="0" algn="l">
              <a:spcBef>
                <a:spcPts val="1200"/>
              </a:spcBef>
              <a:spcAft>
                <a:spcPts val="0"/>
              </a:spcAft>
              <a:buClr>
                <a:schemeClr val="dk1"/>
              </a:buClr>
              <a:buSzPts val="1100"/>
              <a:buFont typeface="Arial"/>
              <a:buNone/>
            </a:pPr>
            <a:r>
              <a:t/>
            </a:r>
            <a:endParaRPr>
              <a:latin typeface="Times New Roman"/>
              <a:ea typeface="Times New Roman"/>
              <a:cs typeface="Times New Roman"/>
              <a:sym typeface="Times New Roman"/>
            </a:endParaRPr>
          </a:p>
          <a:p>
            <a:pPr indent="0" lvl="0" marL="0" rtl="0" algn="l">
              <a:spcBef>
                <a:spcPts val="1400"/>
              </a:spcBef>
              <a:spcAft>
                <a:spcPts val="0"/>
              </a:spcAft>
              <a:buClr>
                <a:schemeClr val="dk1"/>
              </a:buClr>
              <a:buSzPts val="1100"/>
              <a:buFont typeface="Arial"/>
              <a:buNone/>
            </a:pPr>
            <a:r>
              <a:rPr b="1" lang="en-US">
                <a:latin typeface="Times New Roman"/>
                <a:ea typeface="Times New Roman"/>
                <a:cs typeface="Times New Roman"/>
                <a:sym typeface="Times New Roman"/>
              </a:rPr>
              <a:t>8.2.3 Feed Rate and Acceleration Commands (G1 F, M204, M205)</a:t>
            </a:r>
            <a:endParaRPr b="1">
              <a:latin typeface="Times New Roman"/>
              <a:ea typeface="Times New Roman"/>
              <a:cs typeface="Times New Roman"/>
              <a:sym typeface="Times New Roman"/>
            </a:endParaRPr>
          </a:p>
          <a:p>
            <a:pPr indent="0" lvl="0" marL="0" rtl="0" algn="l">
              <a:spcBef>
                <a:spcPts val="1200"/>
              </a:spcBef>
              <a:spcAft>
                <a:spcPts val="0"/>
              </a:spcAft>
              <a:buClr>
                <a:schemeClr val="dk1"/>
              </a:buClr>
              <a:buSzPts val="1100"/>
              <a:buFont typeface="Arial"/>
              <a:buNone/>
            </a:pPr>
            <a:r>
              <a:rPr lang="en-US">
                <a:latin typeface="Times New Roman"/>
                <a:ea typeface="Times New Roman"/>
                <a:cs typeface="Times New Roman"/>
                <a:sym typeface="Times New Roman"/>
              </a:rPr>
              <a:t>These commands control the dynamics of machine movement.</a:t>
            </a:r>
            <a:endParaRPr>
              <a:latin typeface="Times New Roman"/>
              <a:ea typeface="Times New Roman"/>
              <a:cs typeface="Times New Roman"/>
              <a:sym typeface="Times New Roman"/>
            </a:endParaRPr>
          </a:p>
          <a:p>
            <a:pPr indent="-304800" lvl="0" marL="457200" rtl="0" algn="l">
              <a:spcBef>
                <a:spcPts val="1200"/>
              </a:spcBef>
              <a:spcAft>
                <a:spcPts val="0"/>
              </a:spcAft>
              <a:buClr>
                <a:schemeClr val="dk1"/>
              </a:buClr>
              <a:buSzPts val="1200"/>
              <a:buFont typeface="Times New Roman"/>
              <a:buChar char="●"/>
            </a:pPr>
            <a:r>
              <a:rPr b="1" lang="en-US">
                <a:latin typeface="Times New Roman"/>
                <a:ea typeface="Times New Roman"/>
                <a:cs typeface="Times New Roman"/>
                <a:sym typeface="Times New Roman"/>
              </a:rPr>
              <a:t>G1 F</a:t>
            </a:r>
            <a:r>
              <a:rPr lang="en-US">
                <a:latin typeface="Times New Roman"/>
                <a:ea typeface="Times New Roman"/>
                <a:cs typeface="Times New Roman"/>
                <a:sym typeface="Times New Roman"/>
              </a:rPr>
              <a:t>: Set feed rate</a:t>
            </a:r>
            <a:br>
              <a:rPr lang="en-US">
                <a:latin typeface="Times New Roman"/>
                <a:ea typeface="Times New Roman"/>
                <a:cs typeface="Times New Roman"/>
                <a:sym typeface="Times New Roman"/>
              </a:rPr>
            </a:br>
            <a:endParaRPr>
              <a:latin typeface="Times New Roman"/>
              <a:ea typeface="Times New Roman"/>
              <a:cs typeface="Times New Roman"/>
              <a:sym typeface="Times New Roman"/>
            </a:endParaRPr>
          </a:p>
          <a:p>
            <a:pPr indent="-304800" lvl="1" marL="914400" rtl="0" algn="l">
              <a:spcBef>
                <a:spcPts val="0"/>
              </a:spcBef>
              <a:spcAft>
                <a:spcPts val="0"/>
              </a:spcAft>
              <a:buClr>
                <a:schemeClr val="dk1"/>
              </a:buClr>
              <a:buSzPts val="1200"/>
              <a:buFont typeface="Times New Roman"/>
              <a:buChar char="○"/>
            </a:pPr>
            <a:r>
              <a:rPr lang="en-US">
                <a:latin typeface="Times New Roman"/>
                <a:ea typeface="Times New Roman"/>
                <a:cs typeface="Times New Roman"/>
                <a:sym typeface="Times New Roman"/>
              </a:rPr>
              <a:t>Format: G1 Fnnn</a:t>
            </a:r>
            <a:endParaRPr>
              <a:latin typeface="Times New Roman"/>
              <a:ea typeface="Times New Roman"/>
              <a:cs typeface="Times New Roman"/>
              <a:sym typeface="Times New Roman"/>
            </a:endParaRPr>
          </a:p>
          <a:p>
            <a:pPr indent="-304800" lvl="1" marL="914400" rtl="0" algn="l">
              <a:spcBef>
                <a:spcPts val="0"/>
              </a:spcBef>
              <a:spcAft>
                <a:spcPts val="0"/>
              </a:spcAft>
              <a:buClr>
                <a:schemeClr val="dk1"/>
              </a:buClr>
              <a:buSzPts val="1200"/>
              <a:buFont typeface="Times New Roman"/>
              <a:buChar char="○"/>
            </a:pPr>
            <a:r>
              <a:rPr lang="en-US">
                <a:latin typeface="Times New Roman"/>
                <a:ea typeface="Times New Roman"/>
                <a:cs typeface="Times New Roman"/>
                <a:sym typeface="Times New Roman"/>
              </a:rPr>
              <a:t>Example: G1 F1000 - Set feed rate to 1000 mm/min</a:t>
            </a:r>
            <a:endParaRPr>
              <a:latin typeface="Times New Roman"/>
              <a:ea typeface="Times New Roman"/>
              <a:cs typeface="Times New Roman"/>
              <a:sym typeface="Times New Roman"/>
            </a:endParaRPr>
          </a:p>
          <a:p>
            <a:pPr indent="-304800" lvl="1" marL="914400" rtl="0" algn="l">
              <a:spcBef>
                <a:spcPts val="0"/>
              </a:spcBef>
              <a:spcAft>
                <a:spcPts val="0"/>
              </a:spcAft>
              <a:buClr>
                <a:schemeClr val="dk1"/>
              </a:buClr>
              <a:buSzPts val="1200"/>
              <a:buFont typeface="Times New Roman"/>
              <a:buChar char="○"/>
            </a:pPr>
            <a:r>
              <a:rPr lang="en-US">
                <a:latin typeface="Times New Roman"/>
                <a:ea typeface="Times New Roman"/>
                <a:cs typeface="Times New Roman"/>
                <a:sym typeface="Times New Roman"/>
              </a:rPr>
              <a:t>Function: Defines the speed of movement for G1 commands</a:t>
            </a:r>
            <a:endParaRPr>
              <a:latin typeface="Times New Roman"/>
              <a:ea typeface="Times New Roman"/>
              <a:cs typeface="Times New Roman"/>
              <a:sym typeface="Times New Roman"/>
            </a:endParaRPr>
          </a:p>
          <a:p>
            <a:pPr indent="-304800" lvl="0" marL="457200" rtl="0" algn="l">
              <a:spcBef>
                <a:spcPts val="0"/>
              </a:spcBef>
              <a:spcAft>
                <a:spcPts val="0"/>
              </a:spcAft>
              <a:buClr>
                <a:schemeClr val="dk1"/>
              </a:buClr>
              <a:buSzPts val="1200"/>
              <a:buFont typeface="Times New Roman"/>
              <a:buChar char="●"/>
            </a:pPr>
            <a:r>
              <a:rPr b="1" lang="en-US">
                <a:latin typeface="Times New Roman"/>
                <a:ea typeface="Times New Roman"/>
                <a:cs typeface="Times New Roman"/>
                <a:sym typeface="Times New Roman"/>
              </a:rPr>
              <a:t>M204</a:t>
            </a:r>
            <a:r>
              <a:rPr lang="en-US">
                <a:latin typeface="Times New Roman"/>
                <a:ea typeface="Times New Roman"/>
                <a:cs typeface="Times New Roman"/>
                <a:sym typeface="Times New Roman"/>
              </a:rPr>
              <a:t>: Set acceleration</a:t>
            </a:r>
            <a:br>
              <a:rPr lang="en-US">
                <a:latin typeface="Times New Roman"/>
                <a:ea typeface="Times New Roman"/>
                <a:cs typeface="Times New Roman"/>
                <a:sym typeface="Times New Roman"/>
              </a:rPr>
            </a:br>
            <a:endParaRPr>
              <a:latin typeface="Times New Roman"/>
              <a:ea typeface="Times New Roman"/>
              <a:cs typeface="Times New Roman"/>
              <a:sym typeface="Times New Roman"/>
            </a:endParaRPr>
          </a:p>
          <a:p>
            <a:pPr indent="-304800" lvl="1" marL="914400" rtl="0" algn="l">
              <a:spcBef>
                <a:spcPts val="0"/>
              </a:spcBef>
              <a:spcAft>
                <a:spcPts val="0"/>
              </a:spcAft>
              <a:buClr>
                <a:schemeClr val="dk1"/>
              </a:buClr>
              <a:buSzPts val="1200"/>
              <a:buFont typeface="Times New Roman"/>
              <a:buChar char="○"/>
            </a:pPr>
            <a:r>
              <a:rPr lang="en-US">
                <a:latin typeface="Times New Roman"/>
                <a:ea typeface="Times New Roman"/>
                <a:cs typeface="Times New Roman"/>
                <a:sym typeface="Times New Roman"/>
              </a:rPr>
              <a:t>Format: M204 Snnn</a:t>
            </a:r>
            <a:endParaRPr>
              <a:latin typeface="Times New Roman"/>
              <a:ea typeface="Times New Roman"/>
              <a:cs typeface="Times New Roman"/>
              <a:sym typeface="Times New Roman"/>
            </a:endParaRPr>
          </a:p>
          <a:p>
            <a:pPr indent="-304800" lvl="1" marL="914400" rtl="0" algn="l">
              <a:spcBef>
                <a:spcPts val="0"/>
              </a:spcBef>
              <a:spcAft>
                <a:spcPts val="0"/>
              </a:spcAft>
              <a:buClr>
                <a:schemeClr val="dk1"/>
              </a:buClr>
              <a:buSzPts val="1200"/>
              <a:buFont typeface="Times New Roman"/>
              <a:buChar char="○"/>
            </a:pPr>
            <a:r>
              <a:rPr lang="en-US">
                <a:latin typeface="Times New Roman"/>
                <a:ea typeface="Times New Roman"/>
                <a:cs typeface="Times New Roman"/>
                <a:sym typeface="Times New Roman"/>
              </a:rPr>
              <a:t>Example: M204 S1000 - Set acceleration to 1000 mm/s²</a:t>
            </a:r>
            <a:endParaRPr>
              <a:latin typeface="Times New Roman"/>
              <a:ea typeface="Times New Roman"/>
              <a:cs typeface="Times New Roman"/>
              <a:sym typeface="Times New Roman"/>
            </a:endParaRPr>
          </a:p>
          <a:p>
            <a:pPr indent="-304800" lvl="1" marL="914400" rtl="0" algn="l">
              <a:spcBef>
                <a:spcPts val="0"/>
              </a:spcBef>
              <a:spcAft>
                <a:spcPts val="0"/>
              </a:spcAft>
              <a:buClr>
                <a:schemeClr val="dk1"/>
              </a:buClr>
              <a:buSzPts val="1200"/>
              <a:buFont typeface="Times New Roman"/>
              <a:buChar char="○"/>
            </a:pPr>
            <a:r>
              <a:rPr lang="en-US">
                <a:latin typeface="Times New Roman"/>
                <a:ea typeface="Times New Roman"/>
                <a:cs typeface="Times New Roman"/>
                <a:sym typeface="Times New Roman"/>
              </a:rPr>
              <a:t>Function: Controls how quickly the machine can change speed</a:t>
            </a:r>
            <a:endParaRPr>
              <a:latin typeface="Times New Roman"/>
              <a:ea typeface="Times New Roman"/>
              <a:cs typeface="Times New Roman"/>
              <a:sym typeface="Times New Roman"/>
            </a:endParaRPr>
          </a:p>
          <a:p>
            <a:pPr indent="-304800" lvl="0" marL="457200" rtl="0" algn="l">
              <a:spcBef>
                <a:spcPts val="0"/>
              </a:spcBef>
              <a:spcAft>
                <a:spcPts val="0"/>
              </a:spcAft>
              <a:buClr>
                <a:schemeClr val="dk1"/>
              </a:buClr>
              <a:buSzPts val="1200"/>
              <a:buFont typeface="Times New Roman"/>
              <a:buChar char="●"/>
            </a:pPr>
            <a:r>
              <a:rPr b="1" lang="en-US">
                <a:latin typeface="Times New Roman"/>
                <a:ea typeface="Times New Roman"/>
                <a:cs typeface="Times New Roman"/>
                <a:sym typeface="Times New Roman"/>
              </a:rPr>
              <a:t>M205</a:t>
            </a:r>
            <a:r>
              <a:rPr lang="en-US">
                <a:latin typeface="Times New Roman"/>
                <a:ea typeface="Times New Roman"/>
                <a:cs typeface="Times New Roman"/>
                <a:sym typeface="Times New Roman"/>
              </a:rPr>
              <a:t>: Set advanced settings</a:t>
            </a:r>
            <a:br>
              <a:rPr lang="en-US">
                <a:latin typeface="Times New Roman"/>
                <a:ea typeface="Times New Roman"/>
                <a:cs typeface="Times New Roman"/>
                <a:sym typeface="Times New Roman"/>
              </a:rPr>
            </a:br>
            <a:endParaRPr>
              <a:latin typeface="Times New Roman"/>
              <a:ea typeface="Times New Roman"/>
              <a:cs typeface="Times New Roman"/>
              <a:sym typeface="Times New Roman"/>
            </a:endParaRPr>
          </a:p>
          <a:p>
            <a:pPr indent="-304800" lvl="1" marL="914400" rtl="0" algn="l">
              <a:spcBef>
                <a:spcPts val="0"/>
              </a:spcBef>
              <a:spcAft>
                <a:spcPts val="0"/>
              </a:spcAft>
              <a:buClr>
                <a:schemeClr val="dk1"/>
              </a:buClr>
              <a:buSzPts val="1200"/>
              <a:buFont typeface="Times New Roman"/>
              <a:buChar char="○"/>
            </a:pPr>
            <a:r>
              <a:rPr lang="en-US">
                <a:latin typeface="Times New Roman"/>
                <a:ea typeface="Times New Roman"/>
                <a:cs typeface="Times New Roman"/>
                <a:sym typeface="Times New Roman"/>
              </a:rPr>
              <a:t>Format: M205 Xnnn Ynnn</a:t>
            </a:r>
            <a:endParaRPr>
              <a:latin typeface="Times New Roman"/>
              <a:ea typeface="Times New Roman"/>
              <a:cs typeface="Times New Roman"/>
              <a:sym typeface="Times New Roman"/>
            </a:endParaRPr>
          </a:p>
          <a:p>
            <a:pPr indent="-304800" lvl="1" marL="914400" rtl="0" algn="l">
              <a:spcBef>
                <a:spcPts val="0"/>
              </a:spcBef>
              <a:spcAft>
                <a:spcPts val="0"/>
              </a:spcAft>
              <a:buClr>
                <a:schemeClr val="dk1"/>
              </a:buClr>
              <a:buSzPts val="1200"/>
              <a:buFont typeface="Times New Roman"/>
              <a:buChar char="○"/>
            </a:pPr>
            <a:r>
              <a:rPr lang="en-US">
                <a:latin typeface="Times New Roman"/>
                <a:ea typeface="Times New Roman"/>
                <a:cs typeface="Times New Roman"/>
                <a:sym typeface="Times New Roman"/>
              </a:rPr>
              <a:t>Example: M205 X20 Y20 - Set jerk limits for X and Y axes</a:t>
            </a:r>
            <a:endParaRPr>
              <a:latin typeface="Times New Roman"/>
              <a:ea typeface="Times New Roman"/>
              <a:cs typeface="Times New Roman"/>
              <a:sym typeface="Times New Roman"/>
            </a:endParaRPr>
          </a:p>
          <a:p>
            <a:pPr indent="-304800" lvl="1" marL="914400" rtl="0" algn="l">
              <a:spcBef>
                <a:spcPts val="0"/>
              </a:spcBef>
              <a:spcAft>
                <a:spcPts val="0"/>
              </a:spcAft>
              <a:buClr>
                <a:schemeClr val="dk1"/>
              </a:buClr>
              <a:buSzPts val="1200"/>
              <a:buFont typeface="Times New Roman"/>
              <a:buChar char="○"/>
            </a:pPr>
            <a:r>
              <a:rPr lang="en-US">
                <a:latin typeface="Times New Roman"/>
                <a:ea typeface="Times New Roman"/>
                <a:cs typeface="Times New Roman"/>
                <a:sym typeface="Times New Roman"/>
              </a:rPr>
              <a:t>Function: Defines jerk limits (rate of change of acceleration)</a:t>
            </a:r>
            <a:endParaRPr>
              <a:latin typeface="Times New Roman"/>
              <a:ea typeface="Times New Roman"/>
              <a:cs typeface="Times New Roman"/>
              <a:sym typeface="Times New Roman"/>
            </a:endParaRPr>
          </a:p>
          <a:p>
            <a:pPr indent="0" lvl="0" marL="0" rtl="0" algn="l">
              <a:spcBef>
                <a:spcPts val="1200"/>
              </a:spcBef>
              <a:spcAft>
                <a:spcPts val="0"/>
              </a:spcAft>
              <a:buClr>
                <a:schemeClr val="dk1"/>
              </a:buClr>
              <a:buSzPts val="1100"/>
              <a:buFont typeface="Arial"/>
              <a:buNone/>
            </a:pPr>
            <a:r>
              <a:rPr lang="en-US">
                <a:latin typeface="Times New Roman"/>
                <a:ea typeface="Times New Roman"/>
                <a:cs typeface="Times New Roman"/>
                <a:sym typeface="Times New Roman"/>
              </a:rPr>
              <a:t>These commands are critical for ensuring smooth movement during welding, which is essential for maintaining a stable arc and consistent bead geometry.</a:t>
            </a:r>
            <a:endParaRPr>
              <a:latin typeface="Times New Roman"/>
              <a:ea typeface="Times New Roman"/>
              <a:cs typeface="Times New Roman"/>
              <a:sym typeface="Times New Roman"/>
            </a:endParaRPr>
          </a:p>
          <a:p>
            <a:pPr indent="0" lvl="0" marL="0" rtl="0" algn="l">
              <a:spcBef>
                <a:spcPts val="1400"/>
              </a:spcBef>
              <a:spcAft>
                <a:spcPts val="0"/>
              </a:spcAft>
              <a:buClr>
                <a:schemeClr val="dk1"/>
              </a:buClr>
              <a:buSzPts val="1100"/>
              <a:buFont typeface="Arial"/>
              <a:buNone/>
            </a:pPr>
            <a:r>
              <a:rPr b="1" lang="en-US">
                <a:latin typeface="Times New Roman"/>
                <a:ea typeface="Times New Roman"/>
                <a:cs typeface="Times New Roman"/>
                <a:sym typeface="Times New Roman"/>
              </a:rPr>
              <a:t>8.2.4 Pause and Timing Commands (G4)</a:t>
            </a:r>
            <a:endParaRPr b="1">
              <a:latin typeface="Times New Roman"/>
              <a:ea typeface="Times New Roman"/>
              <a:cs typeface="Times New Roman"/>
              <a:sym typeface="Times New Roman"/>
            </a:endParaRPr>
          </a:p>
          <a:p>
            <a:pPr indent="-304800" lvl="0" marL="457200" rtl="0" algn="l">
              <a:spcBef>
                <a:spcPts val="1200"/>
              </a:spcBef>
              <a:spcAft>
                <a:spcPts val="0"/>
              </a:spcAft>
              <a:buClr>
                <a:schemeClr val="dk1"/>
              </a:buClr>
              <a:buSzPts val="1200"/>
              <a:buFont typeface="Times New Roman"/>
              <a:buChar char="●"/>
            </a:pPr>
            <a:r>
              <a:rPr b="1" lang="en-US">
                <a:latin typeface="Times New Roman"/>
                <a:ea typeface="Times New Roman"/>
                <a:cs typeface="Times New Roman"/>
                <a:sym typeface="Times New Roman"/>
              </a:rPr>
              <a:t>G4</a:t>
            </a:r>
            <a:r>
              <a:rPr lang="en-US">
                <a:latin typeface="Times New Roman"/>
                <a:ea typeface="Times New Roman"/>
                <a:cs typeface="Times New Roman"/>
                <a:sym typeface="Times New Roman"/>
              </a:rPr>
              <a:t>: Dwell/pause</a:t>
            </a:r>
            <a:endParaRPr>
              <a:latin typeface="Times New Roman"/>
              <a:ea typeface="Times New Roman"/>
              <a:cs typeface="Times New Roman"/>
              <a:sym typeface="Times New Roman"/>
            </a:endParaRPr>
          </a:p>
          <a:p>
            <a:pPr indent="-304800" lvl="1" marL="914400" rtl="0" algn="l">
              <a:spcBef>
                <a:spcPts val="0"/>
              </a:spcBef>
              <a:spcAft>
                <a:spcPts val="0"/>
              </a:spcAft>
              <a:buClr>
                <a:schemeClr val="dk1"/>
              </a:buClr>
              <a:buSzPts val="1200"/>
              <a:buFont typeface="Times New Roman"/>
              <a:buChar char="○"/>
            </a:pPr>
            <a:r>
              <a:rPr lang="en-US">
                <a:latin typeface="Times New Roman"/>
                <a:ea typeface="Times New Roman"/>
                <a:cs typeface="Times New Roman"/>
                <a:sym typeface="Times New Roman"/>
              </a:rPr>
              <a:t>Format: G4 Pnnn or G4 Snnn</a:t>
            </a:r>
            <a:endParaRPr>
              <a:latin typeface="Times New Roman"/>
              <a:ea typeface="Times New Roman"/>
              <a:cs typeface="Times New Roman"/>
              <a:sym typeface="Times New Roman"/>
            </a:endParaRPr>
          </a:p>
          <a:p>
            <a:pPr indent="-304800" lvl="1" marL="914400" rtl="0" algn="l">
              <a:spcBef>
                <a:spcPts val="0"/>
              </a:spcBef>
              <a:spcAft>
                <a:spcPts val="0"/>
              </a:spcAft>
              <a:buClr>
                <a:schemeClr val="dk1"/>
              </a:buClr>
              <a:buSzPts val="1200"/>
              <a:buFont typeface="Times New Roman"/>
              <a:buChar char="○"/>
            </a:pPr>
            <a:r>
              <a:rPr lang="en-US">
                <a:latin typeface="Times New Roman"/>
                <a:ea typeface="Times New Roman"/>
                <a:cs typeface="Times New Roman"/>
                <a:sym typeface="Times New Roman"/>
              </a:rPr>
              <a:t>Example: G4 P500 - Pause for 500 milliseconds</a:t>
            </a:r>
            <a:endParaRPr>
              <a:latin typeface="Times New Roman"/>
              <a:ea typeface="Times New Roman"/>
              <a:cs typeface="Times New Roman"/>
              <a:sym typeface="Times New Roman"/>
            </a:endParaRPr>
          </a:p>
          <a:p>
            <a:pPr indent="-304800" lvl="1" marL="914400" rtl="0" algn="l">
              <a:spcBef>
                <a:spcPts val="0"/>
              </a:spcBef>
              <a:spcAft>
                <a:spcPts val="0"/>
              </a:spcAft>
              <a:buClr>
                <a:schemeClr val="dk1"/>
              </a:buClr>
              <a:buSzPts val="1200"/>
              <a:buFont typeface="Times New Roman"/>
              <a:buChar char="○"/>
            </a:pPr>
            <a:r>
              <a:rPr lang="en-US">
                <a:latin typeface="Times New Roman"/>
                <a:ea typeface="Times New Roman"/>
                <a:cs typeface="Times New Roman"/>
                <a:sym typeface="Times New Roman"/>
              </a:rPr>
              <a:t>Example: G4 S1 - Pause for 1 second</a:t>
            </a:r>
            <a:endParaRPr>
              <a:latin typeface="Times New Roman"/>
              <a:ea typeface="Times New Roman"/>
              <a:cs typeface="Times New Roman"/>
              <a:sym typeface="Times New Roman"/>
            </a:endParaRPr>
          </a:p>
          <a:p>
            <a:pPr indent="-304800" lvl="1" marL="914400" rtl="0" algn="l">
              <a:spcBef>
                <a:spcPts val="0"/>
              </a:spcBef>
              <a:spcAft>
                <a:spcPts val="0"/>
              </a:spcAft>
              <a:buClr>
                <a:schemeClr val="dk1"/>
              </a:buClr>
              <a:buSzPts val="1200"/>
              <a:buFont typeface="Times New Roman"/>
              <a:buChar char="○"/>
            </a:pPr>
            <a:r>
              <a:rPr lang="en-US">
                <a:latin typeface="Times New Roman"/>
                <a:ea typeface="Times New Roman"/>
                <a:cs typeface="Times New Roman"/>
                <a:sym typeface="Times New Roman"/>
              </a:rPr>
              <a:t>Function: Creates a timed pause in execution</a:t>
            </a:r>
            <a:endParaRPr>
              <a:latin typeface="Times New Roman"/>
              <a:ea typeface="Times New Roman"/>
              <a:cs typeface="Times New Roman"/>
              <a:sym typeface="Times New Roman"/>
            </a:endParaRPr>
          </a:p>
          <a:p>
            <a:pPr indent="0" lvl="0" marL="0" rtl="0" algn="l">
              <a:spcBef>
                <a:spcPts val="1200"/>
              </a:spcBef>
              <a:spcAft>
                <a:spcPts val="0"/>
              </a:spcAft>
              <a:buClr>
                <a:schemeClr val="dk1"/>
              </a:buClr>
              <a:buSzPts val="1100"/>
              <a:buFont typeface="Arial"/>
              <a:buNone/>
            </a:pPr>
            <a:r>
              <a:rPr lang="en-US">
                <a:latin typeface="Times New Roman"/>
                <a:ea typeface="Times New Roman"/>
                <a:cs typeface="Times New Roman"/>
                <a:sym typeface="Times New Roman"/>
              </a:rPr>
              <a:t>In WAAM applications, dwell commands are used to stabilize the system before and after welding operations and to create synchronization points for sensor measurements.</a:t>
            </a:r>
            <a:endParaRPr>
              <a:latin typeface="Times New Roman"/>
              <a:ea typeface="Times New Roman"/>
              <a:cs typeface="Times New Roman"/>
              <a:sym typeface="Times New Roman"/>
            </a:endParaRPr>
          </a:p>
          <a:p>
            <a:pPr indent="0" lvl="0" marL="0" rtl="0" algn="l">
              <a:spcBef>
                <a:spcPts val="1400"/>
              </a:spcBef>
              <a:spcAft>
                <a:spcPts val="0"/>
              </a:spcAft>
              <a:buClr>
                <a:schemeClr val="dk1"/>
              </a:buClr>
              <a:buSzPts val="1100"/>
              <a:buFont typeface="Arial"/>
              <a:buNone/>
            </a:pPr>
            <a:r>
              <a:rPr b="1" lang="en-US">
                <a:latin typeface="Times New Roman"/>
                <a:ea typeface="Times New Roman"/>
                <a:cs typeface="Times New Roman"/>
                <a:sym typeface="Times New Roman"/>
              </a:rPr>
              <a:t>8.2.5 Temperature Control Commands (M109, M98)</a:t>
            </a:r>
            <a:endParaRPr b="1">
              <a:latin typeface="Times New Roman"/>
              <a:ea typeface="Times New Roman"/>
              <a:cs typeface="Times New Roman"/>
              <a:sym typeface="Times New Roman"/>
            </a:endParaRPr>
          </a:p>
          <a:p>
            <a:pPr indent="0" lvl="0" marL="0" rtl="0" algn="l">
              <a:spcBef>
                <a:spcPts val="1200"/>
              </a:spcBef>
              <a:spcAft>
                <a:spcPts val="0"/>
              </a:spcAft>
              <a:buClr>
                <a:schemeClr val="dk1"/>
              </a:buClr>
              <a:buSzPts val="1100"/>
              <a:buFont typeface="Arial"/>
              <a:buNone/>
            </a:pPr>
            <a:r>
              <a:rPr lang="en-US">
                <a:latin typeface="Times New Roman"/>
                <a:ea typeface="Times New Roman"/>
                <a:cs typeface="Times New Roman"/>
                <a:sym typeface="Times New Roman"/>
              </a:rPr>
              <a:t>These commands manage thermal aspects of the printing process.</a:t>
            </a:r>
            <a:endParaRPr>
              <a:latin typeface="Times New Roman"/>
              <a:ea typeface="Times New Roman"/>
              <a:cs typeface="Times New Roman"/>
              <a:sym typeface="Times New Roman"/>
            </a:endParaRPr>
          </a:p>
          <a:p>
            <a:pPr indent="-304800" lvl="0" marL="457200" rtl="0" algn="l">
              <a:spcBef>
                <a:spcPts val="1200"/>
              </a:spcBef>
              <a:spcAft>
                <a:spcPts val="0"/>
              </a:spcAft>
              <a:buClr>
                <a:schemeClr val="dk1"/>
              </a:buClr>
              <a:buSzPts val="1200"/>
              <a:buFont typeface="Times New Roman"/>
              <a:buChar char="●"/>
            </a:pPr>
            <a:r>
              <a:rPr b="1" lang="en-US">
                <a:latin typeface="Times New Roman"/>
                <a:ea typeface="Times New Roman"/>
                <a:cs typeface="Times New Roman"/>
                <a:sym typeface="Times New Roman"/>
              </a:rPr>
              <a:t>M109</a:t>
            </a:r>
            <a:r>
              <a:rPr lang="en-US">
                <a:latin typeface="Times New Roman"/>
                <a:ea typeface="Times New Roman"/>
                <a:cs typeface="Times New Roman"/>
                <a:sym typeface="Times New Roman"/>
              </a:rPr>
              <a:t>: Set extruder temperature and wait</a:t>
            </a:r>
            <a:br>
              <a:rPr lang="en-US">
                <a:latin typeface="Times New Roman"/>
                <a:ea typeface="Times New Roman"/>
                <a:cs typeface="Times New Roman"/>
                <a:sym typeface="Times New Roman"/>
              </a:rPr>
            </a:br>
            <a:endParaRPr>
              <a:latin typeface="Times New Roman"/>
              <a:ea typeface="Times New Roman"/>
              <a:cs typeface="Times New Roman"/>
              <a:sym typeface="Times New Roman"/>
            </a:endParaRPr>
          </a:p>
          <a:p>
            <a:pPr indent="-304800" lvl="1" marL="914400" rtl="0" algn="l">
              <a:spcBef>
                <a:spcPts val="0"/>
              </a:spcBef>
              <a:spcAft>
                <a:spcPts val="0"/>
              </a:spcAft>
              <a:buClr>
                <a:schemeClr val="dk1"/>
              </a:buClr>
              <a:buSzPts val="1200"/>
              <a:buFont typeface="Times New Roman"/>
              <a:buChar char="○"/>
            </a:pPr>
            <a:r>
              <a:rPr lang="en-US">
                <a:latin typeface="Times New Roman"/>
                <a:ea typeface="Times New Roman"/>
                <a:cs typeface="Times New Roman"/>
                <a:sym typeface="Times New Roman"/>
              </a:rPr>
              <a:t>Format: M109 Snnn</a:t>
            </a:r>
            <a:endParaRPr>
              <a:latin typeface="Times New Roman"/>
              <a:ea typeface="Times New Roman"/>
              <a:cs typeface="Times New Roman"/>
              <a:sym typeface="Times New Roman"/>
            </a:endParaRPr>
          </a:p>
          <a:p>
            <a:pPr indent="-304800" lvl="1" marL="914400" rtl="0" algn="l">
              <a:spcBef>
                <a:spcPts val="0"/>
              </a:spcBef>
              <a:spcAft>
                <a:spcPts val="0"/>
              </a:spcAft>
              <a:buClr>
                <a:schemeClr val="dk1"/>
              </a:buClr>
              <a:buSzPts val="1200"/>
              <a:buFont typeface="Times New Roman"/>
              <a:buChar char="○"/>
            </a:pPr>
            <a:r>
              <a:rPr lang="en-US">
                <a:latin typeface="Times New Roman"/>
                <a:ea typeface="Times New Roman"/>
                <a:cs typeface="Times New Roman"/>
                <a:sym typeface="Times New Roman"/>
              </a:rPr>
              <a:t>Example: M109 S200 - Heat to 200°C and wait until reached</a:t>
            </a:r>
            <a:endParaRPr>
              <a:latin typeface="Times New Roman"/>
              <a:ea typeface="Times New Roman"/>
              <a:cs typeface="Times New Roman"/>
              <a:sym typeface="Times New Roman"/>
            </a:endParaRPr>
          </a:p>
          <a:p>
            <a:pPr indent="-304800" lvl="1" marL="914400" rtl="0" algn="l">
              <a:spcBef>
                <a:spcPts val="0"/>
              </a:spcBef>
              <a:spcAft>
                <a:spcPts val="0"/>
              </a:spcAft>
              <a:buClr>
                <a:schemeClr val="dk1"/>
              </a:buClr>
              <a:buSzPts val="1200"/>
              <a:buFont typeface="Times New Roman"/>
              <a:buChar char="○"/>
            </a:pPr>
            <a:r>
              <a:rPr lang="en-US">
                <a:latin typeface="Times New Roman"/>
                <a:ea typeface="Times New Roman"/>
                <a:cs typeface="Times New Roman"/>
                <a:sym typeface="Times New Roman"/>
              </a:rPr>
              <a:t>Function: Ensures proper temperature before proceeding</a:t>
            </a:r>
            <a:endParaRPr>
              <a:latin typeface="Times New Roman"/>
              <a:ea typeface="Times New Roman"/>
              <a:cs typeface="Times New Roman"/>
              <a:sym typeface="Times New Roman"/>
            </a:endParaRPr>
          </a:p>
          <a:p>
            <a:pPr indent="-304800" lvl="0" marL="457200" rtl="0" algn="l">
              <a:spcBef>
                <a:spcPts val="0"/>
              </a:spcBef>
              <a:spcAft>
                <a:spcPts val="0"/>
              </a:spcAft>
              <a:buClr>
                <a:schemeClr val="dk1"/>
              </a:buClr>
              <a:buSzPts val="1200"/>
              <a:buFont typeface="Times New Roman"/>
              <a:buChar char="●"/>
            </a:pPr>
            <a:r>
              <a:rPr b="1" lang="en-US">
                <a:latin typeface="Times New Roman"/>
                <a:ea typeface="Times New Roman"/>
                <a:cs typeface="Times New Roman"/>
                <a:sym typeface="Times New Roman"/>
              </a:rPr>
              <a:t>M98</a:t>
            </a:r>
            <a:r>
              <a:rPr lang="en-US">
                <a:latin typeface="Times New Roman"/>
                <a:ea typeface="Times New Roman"/>
                <a:cs typeface="Times New Roman"/>
                <a:sym typeface="Times New Roman"/>
              </a:rPr>
              <a:t>: Call macro file</a:t>
            </a:r>
            <a:br>
              <a:rPr lang="en-US">
                <a:latin typeface="Times New Roman"/>
                <a:ea typeface="Times New Roman"/>
                <a:cs typeface="Times New Roman"/>
                <a:sym typeface="Times New Roman"/>
              </a:rPr>
            </a:br>
            <a:endParaRPr>
              <a:latin typeface="Times New Roman"/>
              <a:ea typeface="Times New Roman"/>
              <a:cs typeface="Times New Roman"/>
              <a:sym typeface="Times New Roman"/>
            </a:endParaRPr>
          </a:p>
          <a:p>
            <a:pPr indent="-304800" lvl="1" marL="914400" rtl="0" algn="l">
              <a:spcBef>
                <a:spcPts val="0"/>
              </a:spcBef>
              <a:spcAft>
                <a:spcPts val="0"/>
              </a:spcAft>
              <a:buClr>
                <a:schemeClr val="dk1"/>
              </a:buClr>
              <a:buSzPts val="1200"/>
              <a:buFont typeface="Times New Roman"/>
              <a:buChar char="○"/>
            </a:pPr>
            <a:r>
              <a:rPr lang="en-US">
                <a:latin typeface="Times New Roman"/>
                <a:ea typeface="Times New Roman"/>
                <a:cs typeface="Times New Roman"/>
                <a:sym typeface="Times New Roman"/>
              </a:rPr>
              <a:t>Format: M98 Pfilename</a:t>
            </a:r>
            <a:endParaRPr>
              <a:latin typeface="Times New Roman"/>
              <a:ea typeface="Times New Roman"/>
              <a:cs typeface="Times New Roman"/>
              <a:sym typeface="Times New Roman"/>
            </a:endParaRPr>
          </a:p>
          <a:p>
            <a:pPr indent="-304800" lvl="1" marL="914400" rtl="0" algn="l">
              <a:spcBef>
                <a:spcPts val="0"/>
              </a:spcBef>
              <a:spcAft>
                <a:spcPts val="0"/>
              </a:spcAft>
              <a:buClr>
                <a:schemeClr val="dk1"/>
              </a:buClr>
              <a:buSzPts val="1200"/>
              <a:buFont typeface="Times New Roman"/>
              <a:buChar char="○"/>
            </a:pPr>
            <a:r>
              <a:rPr lang="en-US">
                <a:latin typeface="Times New Roman"/>
                <a:ea typeface="Times New Roman"/>
                <a:cs typeface="Times New Roman"/>
                <a:sym typeface="Times New Roman"/>
              </a:rPr>
              <a:t>Example: M98 P"/macros/WaitForInterpassTemp.g" - Execute temperature waiting macro</a:t>
            </a:r>
            <a:endParaRPr>
              <a:latin typeface="Times New Roman"/>
              <a:ea typeface="Times New Roman"/>
              <a:cs typeface="Times New Roman"/>
              <a:sym typeface="Times New Roman"/>
            </a:endParaRPr>
          </a:p>
          <a:p>
            <a:pPr indent="-304800" lvl="1" marL="914400" rtl="0" algn="l">
              <a:spcBef>
                <a:spcPts val="0"/>
              </a:spcBef>
              <a:spcAft>
                <a:spcPts val="0"/>
              </a:spcAft>
              <a:buClr>
                <a:schemeClr val="dk1"/>
              </a:buClr>
              <a:buSzPts val="1200"/>
              <a:buFont typeface="Times New Roman"/>
              <a:buChar char="○"/>
            </a:pPr>
            <a:r>
              <a:rPr lang="en-US">
                <a:latin typeface="Times New Roman"/>
                <a:ea typeface="Times New Roman"/>
                <a:cs typeface="Times New Roman"/>
                <a:sym typeface="Times New Roman"/>
              </a:rPr>
              <a:t>Function: Runs a custom macro for complex operations</a:t>
            </a:r>
            <a:endParaRPr>
              <a:latin typeface="Times New Roman"/>
              <a:ea typeface="Times New Roman"/>
              <a:cs typeface="Times New Roman"/>
              <a:sym typeface="Times New Roman"/>
            </a:endParaRPr>
          </a:p>
          <a:p>
            <a:pPr indent="0" lvl="0" marL="0" rtl="0" algn="l">
              <a:spcBef>
                <a:spcPts val="1200"/>
              </a:spcBef>
              <a:spcAft>
                <a:spcPts val="0"/>
              </a:spcAft>
              <a:buClr>
                <a:schemeClr val="dk1"/>
              </a:buClr>
              <a:buSzPts val="1100"/>
              <a:buFont typeface="Arial"/>
              <a:buNone/>
            </a:pPr>
            <a:r>
              <a:rPr lang="en-US">
                <a:latin typeface="Times New Roman"/>
                <a:ea typeface="Times New Roman"/>
                <a:cs typeface="Times New Roman"/>
                <a:sym typeface="Times New Roman"/>
              </a:rPr>
              <a:t>Temperature control is critical in WAAM processes as it directly affects material properties and dimensional accuracy.</a:t>
            </a:r>
            <a:endParaRPr b="1">
              <a:latin typeface="Times New Roman"/>
              <a:ea typeface="Times New Roman"/>
              <a:cs typeface="Times New Roman"/>
              <a:sym typeface="Times New Roman"/>
            </a:endParaRPr>
          </a:p>
          <a:p>
            <a:pPr indent="0" lvl="0" marL="0" rtl="0" algn="l">
              <a:spcBef>
                <a:spcPts val="1800"/>
              </a:spcBef>
              <a:spcAft>
                <a:spcPts val="0"/>
              </a:spcAft>
              <a:buClr>
                <a:schemeClr val="dk1"/>
              </a:buClr>
              <a:buSzPts val="1100"/>
              <a:buFont typeface="Arial"/>
              <a:buNone/>
            </a:pPr>
            <a:r>
              <a:rPr b="1" lang="en-US">
                <a:latin typeface="Times New Roman"/>
                <a:ea typeface="Times New Roman"/>
                <a:cs typeface="Times New Roman"/>
                <a:sym typeface="Times New Roman"/>
              </a:rPr>
              <a:t>8.3 WAAM-Specific Commands and Extensions</a:t>
            </a:r>
            <a:endParaRPr b="1">
              <a:latin typeface="Times New Roman"/>
              <a:ea typeface="Times New Roman"/>
              <a:cs typeface="Times New Roman"/>
              <a:sym typeface="Times New Roman"/>
            </a:endParaRPr>
          </a:p>
          <a:p>
            <a:pPr indent="0" lvl="0" marL="0" rtl="0" algn="l">
              <a:spcBef>
                <a:spcPts val="1400"/>
              </a:spcBef>
              <a:spcAft>
                <a:spcPts val="0"/>
              </a:spcAft>
              <a:buClr>
                <a:schemeClr val="dk1"/>
              </a:buClr>
              <a:buSzPts val="1100"/>
              <a:buFont typeface="Arial"/>
              <a:buNone/>
            </a:pPr>
            <a:r>
              <a:rPr b="1" lang="en-US">
                <a:latin typeface="Times New Roman"/>
                <a:ea typeface="Times New Roman"/>
                <a:cs typeface="Times New Roman"/>
                <a:sym typeface="Times New Roman"/>
              </a:rPr>
              <a:t>8.3.1 Welder Control Commands (M42)</a:t>
            </a:r>
            <a:endParaRPr b="1">
              <a:latin typeface="Times New Roman"/>
              <a:ea typeface="Times New Roman"/>
              <a:cs typeface="Times New Roman"/>
              <a:sym typeface="Times New Roman"/>
            </a:endParaRPr>
          </a:p>
          <a:p>
            <a:pPr indent="0" lvl="0" marL="0" rtl="0" algn="l">
              <a:spcBef>
                <a:spcPts val="1200"/>
              </a:spcBef>
              <a:spcAft>
                <a:spcPts val="0"/>
              </a:spcAft>
              <a:buClr>
                <a:schemeClr val="dk1"/>
              </a:buClr>
              <a:buSzPts val="1100"/>
              <a:buFont typeface="Arial"/>
              <a:buNone/>
            </a:pPr>
            <a:r>
              <a:rPr lang="en-US">
                <a:latin typeface="Times New Roman"/>
                <a:ea typeface="Times New Roman"/>
                <a:cs typeface="Times New Roman"/>
                <a:sym typeface="Times New Roman"/>
              </a:rPr>
              <a:t>The Arcment system uses digital output control to manage the welding equipment:</a:t>
            </a:r>
            <a:endParaRPr>
              <a:latin typeface="Times New Roman"/>
              <a:ea typeface="Times New Roman"/>
              <a:cs typeface="Times New Roman"/>
              <a:sym typeface="Times New Roman"/>
            </a:endParaRPr>
          </a:p>
          <a:p>
            <a:pPr indent="-304800" lvl="0" marL="457200" rtl="0" algn="l">
              <a:spcBef>
                <a:spcPts val="1200"/>
              </a:spcBef>
              <a:spcAft>
                <a:spcPts val="0"/>
              </a:spcAft>
              <a:buClr>
                <a:schemeClr val="dk1"/>
              </a:buClr>
              <a:buSzPts val="1200"/>
              <a:buFont typeface="Times New Roman"/>
              <a:buChar char="●"/>
            </a:pPr>
            <a:r>
              <a:rPr b="1" lang="en-US">
                <a:latin typeface="Times New Roman"/>
                <a:ea typeface="Times New Roman"/>
                <a:cs typeface="Times New Roman"/>
                <a:sym typeface="Times New Roman"/>
              </a:rPr>
              <a:t>M42</a:t>
            </a:r>
            <a:r>
              <a:rPr lang="en-US">
                <a:latin typeface="Times New Roman"/>
                <a:ea typeface="Times New Roman"/>
                <a:cs typeface="Times New Roman"/>
                <a:sym typeface="Times New Roman"/>
              </a:rPr>
              <a:t>: Control pin output</a:t>
            </a:r>
            <a:endParaRPr>
              <a:latin typeface="Times New Roman"/>
              <a:ea typeface="Times New Roman"/>
              <a:cs typeface="Times New Roman"/>
              <a:sym typeface="Times New Roman"/>
            </a:endParaRPr>
          </a:p>
          <a:p>
            <a:pPr indent="-304800" lvl="1" marL="914400" rtl="0" algn="l">
              <a:spcBef>
                <a:spcPts val="0"/>
              </a:spcBef>
              <a:spcAft>
                <a:spcPts val="0"/>
              </a:spcAft>
              <a:buClr>
                <a:schemeClr val="dk1"/>
              </a:buClr>
              <a:buSzPts val="1200"/>
              <a:buFont typeface="Times New Roman"/>
              <a:buChar char="○"/>
            </a:pPr>
            <a:r>
              <a:rPr lang="en-US">
                <a:latin typeface="Times New Roman"/>
                <a:ea typeface="Times New Roman"/>
                <a:cs typeface="Times New Roman"/>
                <a:sym typeface="Times New Roman"/>
              </a:rPr>
              <a:t>Format: M42 Pnnn Snnn</a:t>
            </a:r>
            <a:endParaRPr>
              <a:latin typeface="Times New Roman"/>
              <a:ea typeface="Times New Roman"/>
              <a:cs typeface="Times New Roman"/>
              <a:sym typeface="Times New Roman"/>
            </a:endParaRPr>
          </a:p>
          <a:p>
            <a:pPr indent="-304800" lvl="1" marL="914400" rtl="0" algn="l">
              <a:spcBef>
                <a:spcPts val="0"/>
              </a:spcBef>
              <a:spcAft>
                <a:spcPts val="0"/>
              </a:spcAft>
              <a:buClr>
                <a:schemeClr val="dk1"/>
              </a:buClr>
              <a:buSzPts val="1200"/>
              <a:buFont typeface="Times New Roman"/>
              <a:buChar char="○"/>
            </a:pPr>
            <a:r>
              <a:rPr lang="en-US">
                <a:latin typeface="Times New Roman"/>
                <a:ea typeface="Times New Roman"/>
                <a:cs typeface="Times New Roman"/>
                <a:sym typeface="Times New Roman"/>
              </a:rPr>
              <a:t>Example: M42 P1 S1 - Set pin 1 high (enable welder)</a:t>
            </a:r>
            <a:endParaRPr>
              <a:latin typeface="Times New Roman"/>
              <a:ea typeface="Times New Roman"/>
              <a:cs typeface="Times New Roman"/>
              <a:sym typeface="Times New Roman"/>
            </a:endParaRPr>
          </a:p>
          <a:p>
            <a:pPr indent="-304800" lvl="1" marL="914400" rtl="0" algn="l">
              <a:spcBef>
                <a:spcPts val="0"/>
              </a:spcBef>
              <a:spcAft>
                <a:spcPts val="0"/>
              </a:spcAft>
              <a:buClr>
                <a:schemeClr val="dk1"/>
              </a:buClr>
              <a:buSzPts val="1200"/>
              <a:buFont typeface="Times New Roman"/>
              <a:buChar char="○"/>
            </a:pPr>
            <a:r>
              <a:rPr lang="en-US">
                <a:latin typeface="Times New Roman"/>
                <a:ea typeface="Times New Roman"/>
                <a:cs typeface="Times New Roman"/>
                <a:sym typeface="Times New Roman"/>
              </a:rPr>
              <a:t>Example: M42 P1 S0 - Set pin 1 low (disable welder)</a:t>
            </a:r>
            <a:endParaRPr>
              <a:latin typeface="Times New Roman"/>
              <a:ea typeface="Times New Roman"/>
              <a:cs typeface="Times New Roman"/>
              <a:sym typeface="Times New Roman"/>
            </a:endParaRPr>
          </a:p>
          <a:p>
            <a:pPr indent="-304800" lvl="1" marL="914400" rtl="0" algn="l">
              <a:spcBef>
                <a:spcPts val="0"/>
              </a:spcBef>
              <a:spcAft>
                <a:spcPts val="0"/>
              </a:spcAft>
              <a:buClr>
                <a:schemeClr val="dk1"/>
              </a:buClr>
              <a:buSzPts val="1200"/>
              <a:buFont typeface="Times New Roman"/>
              <a:buChar char="○"/>
            </a:pPr>
            <a:r>
              <a:rPr lang="en-US">
                <a:latin typeface="Times New Roman"/>
                <a:ea typeface="Times New Roman"/>
                <a:cs typeface="Times New Roman"/>
                <a:sym typeface="Times New Roman"/>
              </a:rPr>
              <a:t>Function: Directly controls the welding equipment state</a:t>
            </a:r>
            <a:endParaRPr>
              <a:latin typeface="Times New Roman"/>
              <a:ea typeface="Times New Roman"/>
              <a:cs typeface="Times New Roman"/>
              <a:sym typeface="Times New Roman"/>
            </a:endParaRPr>
          </a:p>
          <a:p>
            <a:pPr indent="0" lvl="0" marL="0" rtl="0" algn="l">
              <a:spcBef>
                <a:spcPts val="1200"/>
              </a:spcBef>
              <a:spcAft>
                <a:spcPts val="0"/>
              </a:spcAft>
              <a:buClr>
                <a:schemeClr val="dk1"/>
              </a:buClr>
              <a:buSzPts val="1100"/>
              <a:buFont typeface="Arial"/>
              <a:buNone/>
            </a:pPr>
            <a:r>
              <a:rPr lang="en-US">
                <a:latin typeface="Times New Roman"/>
                <a:ea typeface="Times New Roman"/>
                <a:cs typeface="Times New Roman"/>
                <a:sym typeface="Times New Roman"/>
              </a:rPr>
              <a:t>This command provides precise control over when welding is active, enabling the creation of well-defined beads.</a:t>
            </a:r>
            <a:endParaRPr b="1">
              <a:latin typeface="Times New Roman"/>
              <a:ea typeface="Times New Roman"/>
              <a:cs typeface="Times New Roman"/>
              <a:sym typeface="Times New Roman"/>
            </a:endParaRPr>
          </a:p>
          <a:p>
            <a:pPr indent="0" lvl="0" marL="0" rtl="0" algn="l">
              <a:spcBef>
                <a:spcPts val="1400"/>
              </a:spcBef>
              <a:spcAft>
                <a:spcPts val="0"/>
              </a:spcAft>
              <a:buClr>
                <a:schemeClr val="dk1"/>
              </a:buClr>
              <a:buSzPts val="1100"/>
              <a:buFont typeface="Arial"/>
              <a:buNone/>
            </a:pPr>
            <a:r>
              <a:rPr b="1" lang="en-US">
                <a:latin typeface="Times New Roman"/>
                <a:ea typeface="Times New Roman"/>
                <a:cs typeface="Times New Roman"/>
                <a:sym typeface="Times New Roman"/>
              </a:rPr>
              <a:t>8.3.2 Display and User Interface Commands (M291, M226)</a:t>
            </a:r>
            <a:endParaRPr b="1">
              <a:latin typeface="Times New Roman"/>
              <a:ea typeface="Times New Roman"/>
              <a:cs typeface="Times New Roman"/>
              <a:sym typeface="Times New Roman"/>
            </a:endParaRPr>
          </a:p>
          <a:p>
            <a:pPr indent="0" lvl="0" marL="0" rtl="0" algn="l">
              <a:spcBef>
                <a:spcPts val="1200"/>
              </a:spcBef>
              <a:spcAft>
                <a:spcPts val="0"/>
              </a:spcAft>
              <a:buClr>
                <a:schemeClr val="dk1"/>
              </a:buClr>
              <a:buSzPts val="1100"/>
              <a:buFont typeface="Arial"/>
              <a:buNone/>
            </a:pPr>
            <a:r>
              <a:rPr lang="en-US">
                <a:latin typeface="Times New Roman"/>
                <a:ea typeface="Times New Roman"/>
                <a:cs typeface="Times New Roman"/>
                <a:sym typeface="Times New Roman"/>
              </a:rPr>
              <a:t>These commands manage user interaction and status display:</a:t>
            </a:r>
            <a:endParaRPr>
              <a:latin typeface="Times New Roman"/>
              <a:ea typeface="Times New Roman"/>
              <a:cs typeface="Times New Roman"/>
              <a:sym typeface="Times New Roman"/>
            </a:endParaRPr>
          </a:p>
          <a:p>
            <a:pPr indent="-304800" lvl="0" marL="457200" rtl="0" algn="l">
              <a:spcBef>
                <a:spcPts val="1200"/>
              </a:spcBef>
              <a:spcAft>
                <a:spcPts val="0"/>
              </a:spcAft>
              <a:buClr>
                <a:schemeClr val="dk1"/>
              </a:buClr>
              <a:buSzPts val="1200"/>
              <a:buFont typeface="Times New Roman"/>
              <a:buChar char="●"/>
            </a:pPr>
            <a:r>
              <a:rPr b="1" lang="en-US">
                <a:latin typeface="Times New Roman"/>
                <a:ea typeface="Times New Roman"/>
                <a:cs typeface="Times New Roman"/>
                <a:sym typeface="Times New Roman"/>
              </a:rPr>
              <a:t>M291</a:t>
            </a:r>
            <a:r>
              <a:rPr lang="en-US">
                <a:latin typeface="Times New Roman"/>
                <a:ea typeface="Times New Roman"/>
                <a:cs typeface="Times New Roman"/>
                <a:sym typeface="Times New Roman"/>
              </a:rPr>
              <a:t>: Display message and optionally wait</a:t>
            </a:r>
            <a:br>
              <a:rPr lang="en-US">
                <a:latin typeface="Times New Roman"/>
                <a:ea typeface="Times New Roman"/>
                <a:cs typeface="Times New Roman"/>
                <a:sym typeface="Times New Roman"/>
              </a:rPr>
            </a:br>
            <a:endParaRPr>
              <a:latin typeface="Times New Roman"/>
              <a:ea typeface="Times New Roman"/>
              <a:cs typeface="Times New Roman"/>
              <a:sym typeface="Times New Roman"/>
            </a:endParaRPr>
          </a:p>
          <a:p>
            <a:pPr indent="-304800" lvl="1" marL="914400" rtl="0" algn="l">
              <a:spcBef>
                <a:spcPts val="0"/>
              </a:spcBef>
              <a:spcAft>
                <a:spcPts val="0"/>
              </a:spcAft>
              <a:buClr>
                <a:schemeClr val="dk1"/>
              </a:buClr>
              <a:buSzPts val="1200"/>
              <a:buFont typeface="Times New Roman"/>
              <a:buChar char="○"/>
            </a:pPr>
            <a:r>
              <a:rPr lang="en-US">
                <a:latin typeface="Times New Roman"/>
                <a:ea typeface="Times New Roman"/>
                <a:cs typeface="Times New Roman"/>
                <a:sym typeface="Times New Roman"/>
              </a:rPr>
              <a:t>Format: M291 P"message"</a:t>
            </a:r>
            <a:endParaRPr>
              <a:latin typeface="Times New Roman"/>
              <a:ea typeface="Times New Roman"/>
              <a:cs typeface="Times New Roman"/>
              <a:sym typeface="Times New Roman"/>
            </a:endParaRPr>
          </a:p>
          <a:p>
            <a:pPr indent="-304800" lvl="1" marL="914400" rtl="0" algn="l">
              <a:spcBef>
                <a:spcPts val="0"/>
              </a:spcBef>
              <a:spcAft>
                <a:spcPts val="0"/>
              </a:spcAft>
              <a:buClr>
                <a:schemeClr val="dk1"/>
              </a:buClr>
              <a:buSzPts val="1200"/>
              <a:buFont typeface="Times New Roman"/>
              <a:buChar char="○"/>
            </a:pPr>
            <a:r>
              <a:rPr lang="en-US">
                <a:latin typeface="Times New Roman"/>
                <a:ea typeface="Times New Roman"/>
                <a:cs typeface="Times New Roman"/>
                <a:sym typeface="Times New Roman"/>
              </a:rPr>
              <a:t>Example: M291 P"Weld On L0 B1" - Display "Weld On L0 B1" on the printer's screen</a:t>
            </a:r>
            <a:endParaRPr>
              <a:latin typeface="Times New Roman"/>
              <a:ea typeface="Times New Roman"/>
              <a:cs typeface="Times New Roman"/>
              <a:sym typeface="Times New Roman"/>
            </a:endParaRPr>
          </a:p>
          <a:p>
            <a:pPr indent="-304800" lvl="1" marL="914400" rtl="0" algn="l">
              <a:spcBef>
                <a:spcPts val="0"/>
              </a:spcBef>
              <a:spcAft>
                <a:spcPts val="0"/>
              </a:spcAft>
              <a:buClr>
                <a:schemeClr val="dk1"/>
              </a:buClr>
              <a:buSzPts val="1200"/>
              <a:buFont typeface="Times New Roman"/>
              <a:buChar char="○"/>
            </a:pPr>
            <a:r>
              <a:rPr lang="en-US">
                <a:latin typeface="Times New Roman"/>
                <a:ea typeface="Times New Roman"/>
                <a:cs typeface="Times New Roman"/>
                <a:sym typeface="Times New Roman"/>
              </a:rPr>
              <a:t>Function: Provides status information and process tracking</a:t>
            </a:r>
            <a:endParaRPr>
              <a:latin typeface="Times New Roman"/>
              <a:ea typeface="Times New Roman"/>
              <a:cs typeface="Times New Roman"/>
              <a:sym typeface="Times New Roman"/>
            </a:endParaRPr>
          </a:p>
          <a:p>
            <a:pPr indent="-304800" lvl="0" marL="457200" rtl="0" algn="l">
              <a:spcBef>
                <a:spcPts val="0"/>
              </a:spcBef>
              <a:spcAft>
                <a:spcPts val="0"/>
              </a:spcAft>
              <a:buClr>
                <a:schemeClr val="dk1"/>
              </a:buClr>
              <a:buSzPts val="1200"/>
              <a:buFont typeface="Times New Roman"/>
              <a:buChar char="●"/>
            </a:pPr>
            <a:r>
              <a:rPr b="1" lang="en-US">
                <a:latin typeface="Times New Roman"/>
                <a:ea typeface="Times New Roman"/>
                <a:cs typeface="Times New Roman"/>
                <a:sym typeface="Times New Roman"/>
              </a:rPr>
              <a:t>M226</a:t>
            </a:r>
            <a:r>
              <a:rPr lang="en-US">
                <a:latin typeface="Times New Roman"/>
                <a:ea typeface="Times New Roman"/>
                <a:cs typeface="Times New Roman"/>
                <a:sym typeface="Times New Roman"/>
              </a:rPr>
              <a:t>: Pause and wait for user action</a:t>
            </a:r>
            <a:br>
              <a:rPr lang="en-US">
                <a:latin typeface="Times New Roman"/>
                <a:ea typeface="Times New Roman"/>
                <a:cs typeface="Times New Roman"/>
                <a:sym typeface="Times New Roman"/>
              </a:rPr>
            </a:br>
            <a:endParaRPr>
              <a:latin typeface="Times New Roman"/>
              <a:ea typeface="Times New Roman"/>
              <a:cs typeface="Times New Roman"/>
              <a:sym typeface="Times New Roman"/>
            </a:endParaRPr>
          </a:p>
          <a:p>
            <a:pPr indent="-304800" lvl="1" marL="914400" rtl="0" algn="l">
              <a:spcBef>
                <a:spcPts val="0"/>
              </a:spcBef>
              <a:spcAft>
                <a:spcPts val="0"/>
              </a:spcAft>
              <a:buClr>
                <a:schemeClr val="dk1"/>
              </a:buClr>
              <a:buSzPts val="1200"/>
              <a:buFont typeface="Times New Roman"/>
              <a:buChar char="○"/>
            </a:pPr>
            <a:r>
              <a:rPr lang="en-US">
                <a:latin typeface="Times New Roman"/>
                <a:ea typeface="Times New Roman"/>
                <a:cs typeface="Times New Roman"/>
                <a:sym typeface="Times New Roman"/>
              </a:rPr>
              <a:t>Format: M226</a:t>
            </a:r>
            <a:endParaRPr>
              <a:latin typeface="Times New Roman"/>
              <a:ea typeface="Times New Roman"/>
              <a:cs typeface="Times New Roman"/>
              <a:sym typeface="Times New Roman"/>
            </a:endParaRPr>
          </a:p>
          <a:p>
            <a:pPr indent="-304800" lvl="1" marL="914400" rtl="0" algn="l">
              <a:spcBef>
                <a:spcPts val="0"/>
              </a:spcBef>
              <a:spcAft>
                <a:spcPts val="0"/>
              </a:spcAft>
              <a:buClr>
                <a:schemeClr val="dk1"/>
              </a:buClr>
              <a:buSzPts val="1200"/>
              <a:buFont typeface="Times New Roman"/>
              <a:buChar char="○"/>
            </a:pPr>
            <a:r>
              <a:rPr lang="en-US">
                <a:latin typeface="Times New Roman"/>
                <a:ea typeface="Times New Roman"/>
                <a:cs typeface="Times New Roman"/>
                <a:sym typeface="Times New Roman"/>
              </a:rPr>
              <a:t>Function: Pauses the print and waits for user interaction</a:t>
            </a:r>
            <a:endParaRPr>
              <a:latin typeface="Times New Roman"/>
              <a:ea typeface="Times New Roman"/>
              <a:cs typeface="Times New Roman"/>
              <a:sym typeface="Times New Roman"/>
            </a:endParaRPr>
          </a:p>
          <a:p>
            <a:pPr indent="-304800" lvl="1" marL="914400" rtl="0" algn="l">
              <a:spcBef>
                <a:spcPts val="0"/>
              </a:spcBef>
              <a:spcAft>
                <a:spcPts val="0"/>
              </a:spcAft>
              <a:buClr>
                <a:schemeClr val="dk1"/>
              </a:buClr>
              <a:buSzPts val="1200"/>
              <a:buFont typeface="Times New Roman"/>
              <a:buChar char="○"/>
            </a:pPr>
            <a:r>
              <a:rPr lang="en-US">
                <a:latin typeface="Times New Roman"/>
                <a:ea typeface="Times New Roman"/>
                <a:cs typeface="Times New Roman"/>
                <a:sym typeface="Times New Roman"/>
              </a:rPr>
              <a:t>Used for manual intervention points or quality checks</a:t>
            </a:r>
            <a:endParaRPr>
              <a:latin typeface="Times New Roman"/>
              <a:ea typeface="Times New Roman"/>
              <a:cs typeface="Times New Roman"/>
              <a:sym typeface="Times New Roman"/>
            </a:endParaRPr>
          </a:p>
          <a:p>
            <a:pPr indent="0" lvl="0" marL="0" rtl="0" algn="l">
              <a:spcBef>
                <a:spcPts val="1200"/>
              </a:spcBef>
              <a:spcAft>
                <a:spcPts val="0"/>
              </a:spcAft>
              <a:buClr>
                <a:schemeClr val="dk1"/>
              </a:buClr>
              <a:buSzPts val="1100"/>
              <a:buFont typeface="Arial"/>
              <a:buNone/>
            </a:pPr>
            <a:r>
              <a:rPr lang="en-US">
                <a:latin typeface="Times New Roman"/>
                <a:ea typeface="Times New Roman"/>
                <a:cs typeface="Times New Roman"/>
                <a:sym typeface="Times New Roman"/>
              </a:rPr>
              <a:t>These commands enhance process monitoring and control, providing visibility into the system's operations.</a:t>
            </a:r>
            <a:endParaRPr>
              <a:latin typeface="Times New Roman"/>
              <a:ea typeface="Times New Roman"/>
              <a:cs typeface="Times New Roman"/>
              <a:sym typeface="Times New Roman"/>
            </a:endParaRPr>
          </a:p>
          <a:p>
            <a:pPr indent="0" lvl="0" marL="0" rtl="0" algn="l">
              <a:lnSpc>
                <a:spcPct val="100000"/>
              </a:lnSpc>
              <a:spcBef>
                <a:spcPts val="1200"/>
              </a:spcBef>
              <a:spcAft>
                <a:spcPts val="0"/>
              </a:spcAft>
              <a:buSzPts val="1400"/>
              <a:buNone/>
            </a:pPr>
            <a:r>
              <a:t/>
            </a:r>
            <a:endParaRPr/>
          </a:p>
        </p:txBody>
      </p:sp>
      <p:sp>
        <p:nvSpPr>
          <p:cNvPr id="570" name="Google Shape;570;g33e27b3e0e6_0_32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g33e27b3e0e6_0_36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588" name="Google Shape;588;g33e27b3e0e6_0_36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1200"/>
              </a:spcBef>
              <a:spcAft>
                <a:spcPts val="0"/>
              </a:spcAft>
              <a:buClr>
                <a:schemeClr val="dk1"/>
              </a:buClr>
              <a:buSzPts val="1100"/>
              <a:buFont typeface="Arial"/>
              <a:buNone/>
            </a:pPr>
            <a:r>
              <a:rPr lang="en-US">
                <a:latin typeface="Times New Roman"/>
                <a:ea typeface="Times New Roman"/>
                <a:cs typeface="Times New Roman"/>
                <a:sym typeface="Times New Roman"/>
              </a:rPr>
              <a:t>Understanding coordinate systems is fundamental to WAAM operations:</a:t>
            </a:r>
            <a:endParaRPr>
              <a:latin typeface="Times New Roman"/>
              <a:ea typeface="Times New Roman"/>
              <a:cs typeface="Times New Roman"/>
              <a:sym typeface="Times New Roman"/>
            </a:endParaRPr>
          </a:p>
          <a:p>
            <a:pPr indent="-304800" lvl="0" marL="457200" rtl="0" algn="l">
              <a:spcBef>
                <a:spcPts val="1200"/>
              </a:spcBef>
              <a:spcAft>
                <a:spcPts val="0"/>
              </a:spcAft>
              <a:buClr>
                <a:schemeClr val="dk1"/>
              </a:buClr>
              <a:buSzPts val="1200"/>
              <a:buFont typeface="Times New Roman"/>
              <a:buChar char="●"/>
            </a:pPr>
            <a:r>
              <a:rPr b="1" lang="en-US">
                <a:latin typeface="Times New Roman"/>
                <a:ea typeface="Times New Roman"/>
                <a:cs typeface="Times New Roman"/>
                <a:sym typeface="Times New Roman"/>
              </a:rPr>
              <a:t>Machine Coordinates</a:t>
            </a:r>
            <a:r>
              <a:rPr lang="en-US">
                <a:latin typeface="Times New Roman"/>
                <a:ea typeface="Times New Roman"/>
                <a:cs typeface="Times New Roman"/>
                <a:sym typeface="Times New Roman"/>
              </a:rPr>
              <a:t>: Absolute positions relative to the machine's home position (origin)</a:t>
            </a:r>
            <a:endParaRPr>
              <a:latin typeface="Times New Roman"/>
              <a:ea typeface="Times New Roman"/>
              <a:cs typeface="Times New Roman"/>
              <a:sym typeface="Times New Roman"/>
            </a:endParaRPr>
          </a:p>
          <a:p>
            <a:pPr indent="-304800" lvl="0" marL="457200" rtl="0" algn="l">
              <a:spcBef>
                <a:spcPts val="0"/>
              </a:spcBef>
              <a:spcAft>
                <a:spcPts val="0"/>
              </a:spcAft>
              <a:buClr>
                <a:schemeClr val="dk1"/>
              </a:buClr>
              <a:buSzPts val="1200"/>
              <a:buFont typeface="Times New Roman"/>
              <a:buChar char="●"/>
            </a:pPr>
            <a:r>
              <a:rPr b="1" lang="en-US">
                <a:latin typeface="Times New Roman"/>
                <a:ea typeface="Times New Roman"/>
                <a:cs typeface="Times New Roman"/>
                <a:sym typeface="Times New Roman"/>
              </a:rPr>
              <a:t>Relative Movements</a:t>
            </a:r>
            <a:r>
              <a:rPr lang="en-US">
                <a:latin typeface="Times New Roman"/>
                <a:ea typeface="Times New Roman"/>
                <a:cs typeface="Times New Roman"/>
                <a:sym typeface="Times New Roman"/>
              </a:rPr>
              <a:t>: Displacements from the current position</a:t>
            </a:r>
            <a:endParaRPr>
              <a:latin typeface="Times New Roman"/>
              <a:ea typeface="Times New Roman"/>
              <a:cs typeface="Times New Roman"/>
              <a:sym typeface="Times New Roman"/>
            </a:endParaRPr>
          </a:p>
          <a:p>
            <a:pPr indent="-304800" lvl="0" marL="457200" rtl="0" algn="l">
              <a:spcBef>
                <a:spcPts val="0"/>
              </a:spcBef>
              <a:spcAft>
                <a:spcPts val="0"/>
              </a:spcAft>
              <a:buClr>
                <a:schemeClr val="dk1"/>
              </a:buClr>
              <a:buSzPts val="1200"/>
              <a:buFont typeface="Times New Roman"/>
              <a:buChar char="●"/>
            </a:pPr>
            <a:r>
              <a:rPr b="1" lang="en-US">
                <a:latin typeface="Times New Roman"/>
                <a:ea typeface="Times New Roman"/>
                <a:cs typeface="Times New Roman"/>
                <a:sym typeface="Times New Roman"/>
              </a:rPr>
              <a:t>Work Coordinates</a:t>
            </a:r>
            <a:r>
              <a:rPr lang="en-US">
                <a:latin typeface="Times New Roman"/>
                <a:ea typeface="Times New Roman"/>
                <a:cs typeface="Times New Roman"/>
                <a:sym typeface="Times New Roman"/>
              </a:rPr>
              <a:t>: Positions relative to a defined work origin</a:t>
            </a:r>
            <a:endParaRPr>
              <a:latin typeface="Times New Roman"/>
              <a:ea typeface="Times New Roman"/>
              <a:cs typeface="Times New Roman"/>
              <a:sym typeface="Times New Roman"/>
            </a:endParaRPr>
          </a:p>
          <a:p>
            <a:pPr indent="0" lvl="0" marL="0" rtl="0" algn="l">
              <a:spcBef>
                <a:spcPts val="1200"/>
              </a:spcBef>
              <a:spcAft>
                <a:spcPts val="0"/>
              </a:spcAft>
              <a:buClr>
                <a:schemeClr val="dk1"/>
              </a:buClr>
              <a:buSzPts val="1100"/>
              <a:buFont typeface="Arial"/>
              <a:buNone/>
            </a:pPr>
            <a:r>
              <a:rPr lang="en-US">
                <a:latin typeface="Times New Roman"/>
                <a:ea typeface="Times New Roman"/>
                <a:cs typeface="Times New Roman"/>
                <a:sym typeface="Times New Roman"/>
              </a:rPr>
              <a:t>WAAM systems typically use a combination of absolute positioning for precise feature placement and relative positioning for interpass movements and sensor operations.</a:t>
            </a:r>
            <a:endParaRPr>
              <a:latin typeface="Times New Roman"/>
              <a:ea typeface="Times New Roman"/>
              <a:cs typeface="Times New Roman"/>
              <a:sym typeface="Times New Roman"/>
            </a:endParaRPr>
          </a:p>
          <a:p>
            <a:pPr indent="0" lvl="0" marL="0" rtl="0" algn="l">
              <a:spcBef>
                <a:spcPts val="1400"/>
              </a:spcBef>
              <a:spcAft>
                <a:spcPts val="0"/>
              </a:spcAft>
              <a:buClr>
                <a:schemeClr val="dk1"/>
              </a:buClr>
              <a:buSzPts val="1100"/>
              <a:buFont typeface="Arial"/>
              <a:buNone/>
            </a:pPr>
            <a:r>
              <a:rPr b="1" lang="en-US">
                <a:latin typeface="Times New Roman"/>
                <a:ea typeface="Times New Roman"/>
                <a:cs typeface="Times New Roman"/>
                <a:sym typeface="Times New Roman"/>
              </a:rPr>
              <a:t>8.6.2 Feed Rates and Dynamics</a:t>
            </a:r>
            <a:endParaRPr b="1">
              <a:latin typeface="Times New Roman"/>
              <a:ea typeface="Times New Roman"/>
              <a:cs typeface="Times New Roman"/>
              <a:sym typeface="Times New Roman"/>
            </a:endParaRPr>
          </a:p>
          <a:p>
            <a:pPr indent="0" lvl="0" marL="0" rtl="0" algn="l">
              <a:spcBef>
                <a:spcPts val="1200"/>
              </a:spcBef>
              <a:spcAft>
                <a:spcPts val="0"/>
              </a:spcAft>
              <a:buClr>
                <a:schemeClr val="dk1"/>
              </a:buClr>
              <a:buSzPts val="1100"/>
              <a:buFont typeface="Arial"/>
              <a:buNone/>
            </a:pPr>
            <a:r>
              <a:rPr lang="en-US">
                <a:latin typeface="Times New Roman"/>
                <a:ea typeface="Times New Roman"/>
                <a:cs typeface="Times New Roman"/>
                <a:sym typeface="Times New Roman"/>
              </a:rPr>
              <a:t>Movement dynamics directly affect weld quality:</a:t>
            </a:r>
            <a:endParaRPr>
              <a:latin typeface="Times New Roman"/>
              <a:ea typeface="Times New Roman"/>
              <a:cs typeface="Times New Roman"/>
              <a:sym typeface="Times New Roman"/>
            </a:endParaRPr>
          </a:p>
          <a:p>
            <a:pPr indent="-304800" lvl="0" marL="457200" rtl="0" algn="l">
              <a:spcBef>
                <a:spcPts val="1200"/>
              </a:spcBef>
              <a:spcAft>
                <a:spcPts val="0"/>
              </a:spcAft>
              <a:buClr>
                <a:schemeClr val="dk1"/>
              </a:buClr>
              <a:buSzPts val="1200"/>
              <a:buFont typeface="Times New Roman"/>
              <a:buChar char="●"/>
            </a:pPr>
            <a:r>
              <a:rPr b="1" lang="en-US">
                <a:latin typeface="Times New Roman"/>
                <a:ea typeface="Times New Roman"/>
                <a:cs typeface="Times New Roman"/>
                <a:sym typeface="Times New Roman"/>
              </a:rPr>
              <a:t>Feed Rate</a:t>
            </a:r>
            <a:r>
              <a:rPr lang="en-US">
                <a:latin typeface="Times New Roman"/>
                <a:ea typeface="Times New Roman"/>
                <a:cs typeface="Times New Roman"/>
                <a:sym typeface="Times New Roman"/>
              </a:rPr>
              <a:t>: The speed at which the torch moves (mm/min)</a:t>
            </a:r>
            <a:endParaRPr>
              <a:latin typeface="Times New Roman"/>
              <a:ea typeface="Times New Roman"/>
              <a:cs typeface="Times New Roman"/>
              <a:sym typeface="Times New Roman"/>
            </a:endParaRPr>
          </a:p>
          <a:p>
            <a:pPr indent="-304800" lvl="0" marL="457200" rtl="0" algn="l">
              <a:spcBef>
                <a:spcPts val="0"/>
              </a:spcBef>
              <a:spcAft>
                <a:spcPts val="0"/>
              </a:spcAft>
              <a:buClr>
                <a:schemeClr val="dk1"/>
              </a:buClr>
              <a:buSzPts val="1200"/>
              <a:buFont typeface="Times New Roman"/>
              <a:buChar char="●"/>
            </a:pPr>
            <a:r>
              <a:rPr b="1" lang="en-US">
                <a:latin typeface="Times New Roman"/>
                <a:ea typeface="Times New Roman"/>
                <a:cs typeface="Times New Roman"/>
                <a:sym typeface="Times New Roman"/>
              </a:rPr>
              <a:t>Acceleration</a:t>
            </a:r>
            <a:r>
              <a:rPr lang="en-US">
                <a:latin typeface="Times New Roman"/>
                <a:ea typeface="Times New Roman"/>
                <a:cs typeface="Times New Roman"/>
                <a:sym typeface="Times New Roman"/>
              </a:rPr>
              <a:t>: How quickly the machine can change speed (mm/s²)</a:t>
            </a:r>
            <a:endParaRPr>
              <a:latin typeface="Times New Roman"/>
              <a:ea typeface="Times New Roman"/>
              <a:cs typeface="Times New Roman"/>
              <a:sym typeface="Times New Roman"/>
            </a:endParaRPr>
          </a:p>
          <a:p>
            <a:pPr indent="-304800" lvl="0" marL="457200" rtl="0" algn="l">
              <a:spcBef>
                <a:spcPts val="0"/>
              </a:spcBef>
              <a:spcAft>
                <a:spcPts val="0"/>
              </a:spcAft>
              <a:buClr>
                <a:schemeClr val="dk1"/>
              </a:buClr>
              <a:buSzPts val="1200"/>
              <a:buFont typeface="Times New Roman"/>
              <a:buChar char="●"/>
            </a:pPr>
            <a:r>
              <a:rPr b="1" lang="en-US">
                <a:latin typeface="Times New Roman"/>
                <a:ea typeface="Times New Roman"/>
                <a:cs typeface="Times New Roman"/>
                <a:sym typeface="Times New Roman"/>
              </a:rPr>
              <a:t>Jerk</a:t>
            </a:r>
            <a:r>
              <a:rPr lang="en-US">
                <a:latin typeface="Times New Roman"/>
                <a:ea typeface="Times New Roman"/>
                <a:cs typeface="Times New Roman"/>
                <a:sym typeface="Times New Roman"/>
              </a:rPr>
              <a:t>: The rate of change of acceleration (mm/s³)</a:t>
            </a:r>
            <a:endParaRPr>
              <a:latin typeface="Times New Roman"/>
              <a:ea typeface="Times New Roman"/>
              <a:cs typeface="Times New Roman"/>
              <a:sym typeface="Times New Roman"/>
            </a:endParaRPr>
          </a:p>
          <a:p>
            <a:pPr indent="0" lvl="0" marL="0" rtl="0" algn="l">
              <a:spcBef>
                <a:spcPts val="1200"/>
              </a:spcBef>
              <a:spcAft>
                <a:spcPts val="0"/>
              </a:spcAft>
              <a:buClr>
                <a:schemeClr val="dk1"/>
              </a:buClr>
              <a:buSzPts val="1100"/>
              <a:buFont typeface="Arial"/>
              <a:buNone/>
            </a:pPr>
            <a:r>
              <a:rPr lang="en-US">
                <a:latin typeface="Times New Roman"/>
                <a:ea typeface="Times New Roman"/>
                <a:cs typeface="Times New Roman"/>
                <a:sym typeface="Times New Roman"/>
              </a:rPr>
              <a:t>Optimizing these parameters ensures smooth movement during welding, which is essential for consistent bead geometry and material properties.</a:t>
            </a:r>
            <a:endParaRPr b="1">
              <a:latin typeface="Times New Roman"/>
              <a:ea typeface="Times New Roman"/>
              <a:cs typeface="Times New Roman"/>
              <a:sym typeface="Times New Roman"/>
            </a:endParaRPr>
          </a:p>
          <a:p>
            <a:pPr indent="0" lvl="0" marL="0" rtl="0" algn="l">
              <a:lnSpc>
                <a:spcPct val="100000"/>
              </a:lnSpc>
              <a:spcBef>
                <a:spcPts val="1200"/>
              </a:spcBef>
              <a:spcAft>
                <a:spcPts val="0"/>
              </a:spcAft>
              <a:buSzPts val="1400"/>
              <a:buNone/>
            </a:pPr>
            <a:r>
              <a:t/>
            </a:r>
            <a:endParaRPr/>
          </a:p>
        </p:txBody>
      </p:sp>
      <p:sp>
        <p:nvSpPr>
          <p:cNvPr id="589" name="Google Shape;589;g33e27b3e0e6_0_36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5" name="Shape 605"/>
        <p:cNvGrpSpPr/>
        <p:nvPr/>
      </p:nvGrpSpPr>
      <p:grpSpPr>
        <a:xfrm>
          <a:off x="0" y="0"/>
          <a:ext cx="0" cy="0"/>
          <a:chOff x="0" y="0"/>
          <a:chExt cx="0" cy="0"/>
        </a:xfrm>
      </p:grpSpPr>
      <p:sp>
        <p:nvSpPr>
          <p:cNvPr id="606" name="Google Shape;606;g33e27b3e0e6_0_38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07" name="Google Shape;607;g33e27b3e0e6_0_38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"Our system implements a dual-level processing approach that combines line-by-line execution with layer-by-layer feedback control. This approach is critical for achieving both precise movement control and adaptive compensation for process variations.</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Line-by-line processing refers to the system's handling of individual G-code commands as atomic instructions. The Sender module transmits these instructions to the Duet controller sequentially and waits for completion acknowledgment before proceeding to the next command:</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t/>
            </a:r>
            <a:endParaRPr sz="1100">
              <a:solidFill>
                <a:srgbClr val="ABB2BF"/>
              </a:solidFill>
              <a:highlight>
                <a:srgbClr val="282C34"/>
              </a:highlight>
              <a:latin typeface="Courier New"/>
              <a:ea typeface="Courier New"/>
              <a:cs typeface="Courier New"/>
              <a:sym typeface="Courier New"/>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This approach ensures precise timing and synchronization during execution, as each movement must complete before the next begins. The granular control enables:</a:t>
            </a:r>
            <a:endParaRPr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lang="en-US" sz="1100">
                <a:latin typeface="Arial"/>
                <a:ea typeface="Arial"/>
                <a:cs typeface="Arial"/>
                <a:sym typeface="Arial"/>
              </a:rPr>
              <a:t>Real-time monitoring of machine state during operation</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Precise timing of welding equipment activation/deactivation</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Potential interruption of the process if anomalies are detected</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Synchronization between movement and process parameters</a:t>
            </a:r>
            <a:endParaRPr sz="1100">
              <a:latin typeface="Arial"/>
              <a:ea typeface="Arial"/>
              <a:cs typeface="Arial"/>
              <a:sym typeface="Arial"/>
            </a:endParaRPr>
          </a:p>
          <a:p>
            <a:pPr indent="0" lvl="0" marL="0" rtl="0" algn="l">
              <a:lnSpc>
                <a:spcPct val="115000"/>
              </a:lnSpc>
              <a:spcBef>
                <a:spcPts val="1200"/>
              </a:spcBef>
              <a:spcAft>
                <a:spcPts val="1200"/>
              </a:spcAft>
              <a:buNone/>
            </a:pPr>
            <a:r>
              <a:t/>
            </a:r>
            <a:endParaRPr sz="1100">
              <a:latin typeface="Arial"/>
              <a:ea typeface="Arial"/>
              <a:cs typeface="Arial"/>
              <a:sym typeface="Arial"/>
            </a:endParaRPr>
          </a:p>
        </p:txBody>
      </p:sp>
      <p:sp>
        <p:nvSpPr>
          <p:cNvPr id="608" name="Google Shape;608;g33e27b3e0e6_0_38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g33e27b3e0e6_0_40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26" name="Google Shape;626;g33e27b3e0e6_0_40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In parallel, layer-by-layer processing operates at a higher abstraction level, treating entire layers as logical units for adaptive control. After a complete layer is deposited, the system:</a:t>
            </a:r>
            <a:endParaRPr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AutoNum type="arabicPeriod"/>
            </a:pPr>
            <a:r>
              <a:rPr lang="en-US" sz="1100">
                <a:latin typeface="Arial"/>
                <a:ea typeface="Arial"/>
                <a:cs typeface="Arial"/>
                <a:sym typeface="Arial"/>
              </a:rPr>
              <a:t>Generates and executes a scanning path to measure the deposited geometry</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AutoNum type="arabicPeriod"/>
            </a:pPr>
            <a:r>
              <a:rPr lang="en-US" sz="1100">
                <a:latin typeface="Arial"/>
                <a:ea typeface="Arial"/>
                <a:cs typeface="Arial"/>
                <a:sym typeface="Arial"/>
              </a:rPr>
              <a:t>Processes the scan data to calculate height deviations from target specifications</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AutoNum type="arabicPeriod"/>
            </a:pPr>
            <a:r>
              <a:rPr lang="en-US" sz="1100">
                <a:latin typeface="Arial"/>
                <a:ea typeface="Arial"/>
                <a:cs typeface="Arial"/>
                <a:sym typeface="Arial"/>
              </a:rPr>
              <a:t>Modifies the G-code for the subsequent layer to compensate for these deviations</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AutoNum type="arabicPeriod"/>
            </a:pPr>
            <a:r>
              <a:rPr lang="en-US" sz="1100">
                <a:latin typeface="Arial"/>
                <a:ea typeface="Arial"/>
                <a:cs typeface="Arial"/>
                <a:sym typeface="Arial"/>
              </a:rPr>
              <a:t>Continues to the next layer with the adjusted parameters</a:t>
            </a:r>
            <a:endParaRPr sz="1100">
              <a:latin typeface="Arial"/>
              <a:ea typeface="Arial"/>
              <a:cs typeface="Arial"/>
              <a:sym typeface="Arial"/>
            </a:endParaRPr>
          </a:p>
          <a:p>
            <a:pPr indent="0" lvl="0" marL="0" rtl="0" algn="l">
              <a:lnSpc>
                <a:spcPct val="100000"/>
              </a:lnSpc>
              <a:spcBef>
                <a:spcPts val="1200"/>
              </a:spcBef>
              <a:spcAft>
                <a:spcPts val="0"/>
              </a:spcAft>
              <a:buSzPts val="1400"/>
              <a:buNone/>
            </a:pPr>
            <a:r>
              <a:t/>
            </a:r>
            <a:endParaRPr/>
          </a:p>
        </p:txBody>
      </p:sp>
      <p:sp>
        <p:nvSpPr>
          <p:cNvPr id="627" name="Google Shape;627;g33e27b3e0e6_0_40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g33e27b3e0e6_0_4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45" name="Google Shape;645;g33e27b3e0e6_0_4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This layer-level approach is implemented in the Main controller's run() method:</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t/>
            </a:r>
            <a:endParaRPr sz="1100">
              <a:solidFill>
                <a:srgbClr val="ABB2BF"/>
              </a:solidFill>
              <a:highlight>
                <a:srgbClr val="282C34"/>
              </a:highlight>
              <a:latin typeface="Courier New"/>
              <a:ea typeface="Courier New"/>
              <a:cs typeface="Courier New"/>
              <a:sym typeface="Courier New"/>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The advantages of this dual-level approach include:</a:t>
            </a:r>
            <a:endParaRPr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lang="en-US" sz="1100">
                <a:latin typeface="Arial"/>
                <a:ea typeface="Arial"/>
                <a:cs typeface="Arial"/>
                <a:sym typeface="Arial"/>
              </a:rPr>
              <a:t>Precision control during material deposition through line-by-line execution</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Comprehensive layer analysis through post-deposition scanning</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Adaptive correction without interrupting the deposition process</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Statistical processing of measurement data for robust correction</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Ability to record and analyze process results for further optimization</a:t>
            </a:r>
            <a:endParaRPr sz="1100">
              <a:latin typeface="Arial"/>
              <a:ea typeface="Arial"/>
              <a:cs typeface="Arial"/>
              <a:sym typeface="Arial"/>
            </a:endParaRPr>
          </a:p>
          <a:p>
            <a:pPr indent="0" lvl="0" marL="0" rtl="0" algn="l">
              <a:lnSpc>
                <a:spcPct val="115000"/>
              </a:lnSpc>
              <a:spcBef>
                <a:spcPts val="1200"/>
              </a:spcBef>
              <a:spcAft>
                <a:spcPts val="1200"/>
              </a:spcAft>
              <a:buClr>
                <a:schemeClr val="dk1"/>
              </a:buClr>
              <a:buSzPts val="1100"/>
              <a:buFont typeface="Arial"/>
              <a:buNone/>
            </a:pPr>
            <a:r>
              <a:rPr lang="en-US" sz="1100">
                <a:latin typeface="Arial"/>
                <a:ea typeface="Arial"/>
                <a:cs typeface="Arial"/>
                <a:sym typeface="Arial"/>
              </a:rPr>
              <a:t>This dual-level approach combines the precise control of line-by-line execution with the adaptive capabilities of layer-by-layer feedback, creating a robust semi-closed-loop system that can maintain dimensional accuracy throughout the build process."</a:t>
            </a:r>
            <a:endParaRPr/>
          </a:p>
        </p:txBody>
      </p:sp>
      <p:sp>
        <p:nvSpPr>
          <p:cNvPr id="646" name="Google Shape;646;g33e27b3e0e6_0_42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2" name="Shape 662"/>
        <p:cNvGrpSpPr/>
        <p:nvPr/>
      </p:nvGrpSpPr>
      <p:grpSpPr>
        <a:xfrm>
          <a:off x="0" y="0"/>
          <a:ext cx="0" cy="0"/>
          <a:chOff x="0" y="0"/>
          <a:chExt cx="0" cy="0"/>
        </a:xfrm>
      </p:grpSpPr>
      <p:sp>
        <p:nvSpPr>
          <p:cNvPr id="663" name="Google Shape;663;g33e27b3e0e6_0_4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64" name="Google Shape;664;g33e27b3e0e6_0_44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5" name="Google Shape;665;g33e27b3e0e6_0_44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g33e27b3e0e6_0_46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83" name="Google Shape;683;g33e27b3e0e6_0_46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4" name="Google Shape;684;g33e27b3e0e6_0_46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0" name="Shape 700"/>
        <p:cNvGrpSpPr/>
        <p:nvPr/>
      </p:nvGrpSpPr>
      <p:grpSpPr>
        <a:xfrm>
          <a:off x="0" y="0"/>
          <a:ext cx="0" cy="0"/>
          <a:chOff x="0" y="0"/>
          <a:chExt cx="0" cy="0"/>
        </a:xfrm>
      </p:grpSpPr>
      <p:sp>
        <p:nvSpPr>
          <p:cNvPr id="701" name="Google Shape;701;g33e27b3e0e6_0_48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702" name="Google Shape;702;g33e27b3e0e6_0_48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SzPts val="1100"/>
              <a:buNone/>
            </a:pPr>
            <a:r>
              <a:rPr lang="en-US" sz="1100">
                <a:latin typeface="Arial"/>
                <a:ea typeface="Arial"/>
                <a:cs typeface="Arial"/>
                <a:sym typeface="Arial"/>
              </a:rPr>
              <a:t>"In conclusion, this project successfully developed and implemented a semi-closed-loop control system for Wire Arc Additive Manufacturing that incorporates real-time laser scanning to enable adaptive layer-by-layer height control.</a:t>
            </a:r>
            <a:endParaRPr sz="1100">
              <a:latin typeface="Arial"/>
              <a:ea typeface="Arial"/>
              <a:cs typeface="Arial"/>
              <a:sym typeface="Arial"/>
            </a:endParaRPr>
          </a:p>
          <a:p>
            <a:pPr indent="0" lvl="0" marL="0" rtl="0" algn="l">
              <a:lnSpc>
                <a:spcPct val="115000"/>
              </a:lnSpc>
              <a:spcBef>
                <a:spcPts val="1200"/>
              </a:spcBef>
              <a:spcAft>
                <a:spcPts val="0"/>
              </a:spcAft>
              <a:buSzPts val="1100"/>
              <a:buNone/>
            </a:pPr>
            <a:r>
              <a:rPr lang="en-US" sz="1100">
                <a:latin typeface="Arial"/>
                <a:ea typeface="Arial"/>
                <a:cs typeface="Arial"/>
                <a:sym typeface="Arial"/>
              </a:rPr>
              <a:t>The integration of the Baumer OX200 2D laser line scanner with the Duet 3 Mainboard 6HC controller creates a system capable of measuring deposited layer geometry with ±0.05mm precision and dynamically adjusting subsequent build parameters to maintain dimensional accuracy. The +30° angled mounting of the scanner leverages the Flex Mount capability to optimize measurement reliability on metallic surfaces.</a:t>
            </a:r>
            <a:endParaRPr sz="1100">
              <a:latin typeface="Arial"/>
              <a:ea typeface="Arial"/>
              <a:cs typeface="Arial"/>
              <a:sym typeface="Arial"/>
            </a:endParaRPr>
          </a:p>
          <a:p>
            <a:pPr indent="0" lvl="0" marL="0" rtl="0" algn="l">
              <a:lnSpc>
                <a:spcPct val="115000"/>
              </a:lnSpc>
              <a:spcBef>
                <a:spcPts val="1200"/>
              </a:spcBef>
              <a:spcAft>
                <a:spcPts val="0"/>
              </a:spcAft>
              <a:buSzPts val="1100"/>
              <a:buNone/>
            </a:pPr>
            <a:r>
              <a:rPr lang="en-US" sz="1100">
                <a:latin typeface="Arial"/>
                <a:ea typeface="Arial"/>
                <a:cs typeface="Arial"/>
                <a:sym typeface="Arial"/>
              </a:rPr>
              <a:t>The modular Arcment software framework provides interfaces for G-code preprocessing, sensor data acquisition, and adaptive control, establishing a foundation for more sophisticated closed-loop control of WAAM processes. The architecture's separation of concerns enables independent component development while maintaining clear interfaces for system integration.</a:t>
            </a:r>
            <a:endParaRPr sz="1100">
              <a:latin typeface="Arial"/>
              <a:ea typeface="Arial"/>
              <a:cs typeface="Arial"/>
              <a:sym typeface="Arial"/>
            </a:endParaRPr>
          </a:p>
          <a:p>
            <a:pPr indent="0" lvl="0" marL="0" rtl="0" algn="l">
              <a:lnSpc>
                <a:spcPct val="115000"/>
              </a:lnSpc>
              <a:spcBef>
                <a:spcPts val="1200"/>
              </a:spcBef>
              <a:spcAft>
                <a:spcPts val="0"/>
              </a:spcAft>
              <a:buSzPts val="1100"/>
              <a:buNone/>
            </a:pPr>
            <a:r>
              <a:rPr lang="en-US" sz="1100">
                <a:latin typeface="Arial"/>
                <a:ea typeface="Arial"/>
                <a:cs typeface="Arial"/>
                <a:sym typeface="Arial"/>
              </a:rPr>
              <a:t>By addressing the critical challenge of error accumulation in additive manufacturing, this system represents a significant step toward fully automated industrial manufacturing with enhanced process stability and part quality. The layer-by-layer adaptive approach prevents the compounding of dimensional errors that plague traditional open-loop WAAM systems, enabling the production of components with final dimensions deviating less than 0.5mm from target specifications.</a:t>
            </a:r>
            <a:endParaRPr sz="1100">
              <a:latin typeface="Arial"/>
              <a:ea typeface="Arial"/>
              <a:cs typeface="Arial"/>
              <a:sym typeface="Arial"/>
            </a:endParaRPr>
          </a:p>
          <a:p>
            <a:pPr indent="0" lvl="0" marL="0" rtl="0" algn="l">
              <a:lnSpc>
                <a:spcPct val="115000"/>
              </a:lnSpc>
              <a:spcBef>
                <a:spcPts val="1200"/>
              </a:spcBef>
              <a:spcAft>
                <a:spcPts val="0"/>
              </a:spcAft>
              <a:buSzPts val="1100"/>
              <a:buNone/>
            </a:pPr>
            <a:r>
              <a:rPr lang="en-US" sz="1100">
                <a:latin typeface="Arial"/>
                <a:ea typeface="Arial"/>
                <a:cs typeface="Arial"/>
                <a:sym typeface="Arial"/>
              </a:rPr>
              <a:t>While the complete implementation of adaptive control remains a goal for future work, this project has successfully developed and validated the key components and architectural framework needed to achieve this goal. The system demonstrates the feasibility of laser-based adaptive control for WAAM and establishes a clear path for further development.</a:t>
            </a:r>
            <a:endParaRPr sz="1100">
              <a:latin typeface="Arial"/>
              <a:ea typeface="Arial"/>
              <a:cs typeface="Arial"/>
              <a:sym typeface="Arial"/>
            </a:endParaRPr>
          </a:p>
          <a:p>
            <a:pPr indent="0" lvl="0" marL="0" rtl="0" algn="l">
              <a:lnSpc>
                <a:spcPct val="115000"/>
              </a:lnSpc>
              <a:spcBef>
                <a:spcPts val="1200"/>
              </a:spcBef>
              <a:spcAft>
                <a:spcPts val="0"/>
              </a:spcAft>
              <a:buSzPts val="1100"/>
              <a:buNone/>
            </a:pPr>
            <a:r>
              <a:t/>
            </a:r>
            <a:endParaRPr sz="1100">
              <a:latin typeface="Arial"/>
              <a:ea typeface="Arial"/>
              <a:cs typeface="Arial"/>
              <a:sym typeface="Arial"/>
            </a:endParaRPr>
          </a:p>
          <a:p>
            <a:pPr indent="0" lvl="0" marL="0" rtl="0" algn="l">
              <a:lnSpc>
                <a:spcPct val="115000"/>
              </a:lnSpc>
              <a:spcBef>
                <a:spcPts val="0"/>
              </a:spcBef>
              <a:spcAft>
                <a:spcPts val="0"/>
              </a:spcAft>
              <a:buSzPts val="1100"/>
              <a:buNone/>
            </a:pPr>
            <a:r>
              <a:rPr b="1" lang="en-US" sz="1100">
                <a:latin typeface="Arial"/>
                <a:ea typeface="Arial"/>
                <a:cs typeface="Arial"/>
                <a:sym typeface="Arial"/>
              </a:rPr>
              <a:t>Q: Why did you choose a semi-closed-loop approach instead of a fully-closed-loop system?</a:t>
            </a:r>
            <a:r>
              <a:rPr lang="en-US" sz="1100">
                <a:latin typeface="Arial"/>
                <a:ea typeface="Arial"/>
                <a:cs typeface="Arial"/>
                <a:sym typeface="Arial"/>
              </a:rPr>
              <a:t> A: The semi-closed-loop approach offers a better balance between implementation complexity and performance improvement for WAAM. A fully-closed-loop system would require real-time adjustment during deposition, which introduces significant challenges in sensor integration, response time, and process stability. Our layer-by-layer approach provides substantial improvement over open-loop systems while maintaining process stability within each layer. It also allows for more comprehensive measurement and statistical processing between layers.</a:t>
            </a:r>
            <a:endParaRPr sz="1100">
              <a:latin typeface="Arial"/>
              <a:ea typeface="Arial"/>
              <a:cs typeface="Arial"/>
              <a:sym typeface="Arial"/>
            </a:endParaRPr>
          </a:p>
          <a:p>
            <a:pPr indent="0" lvl="0" marL="0" rtl="0" algn="l">
              <a:lnSpc>
                <a:spcPct val="115000"/>
              </a:lnSpc>
              <a:spcBef>
                <a:spcPts val="0"/>
              </a:spcBef>
              <a:spcAft>
                <a:spcPts val="0"/>
              </a:spcAft>
              <a:buSzPts val="1100"/>
              <a:buNone/>
            </a:pPr>
            <a:r>
              <a:rPr b="1" lang="en-US" sz="1100">
                <a:latin typeface="Arial"/>
                <a:ea typeface="Arial"/>
                <a:cs typeface="Arial"/>
                <a:sym typeface="Arial"/>
              </a:rPr>
              <a:t>Q: How did you address the communication issues with the Duet controller?</a:t>
            </a:r>
            <a:r>
              <a:rPr lang="en-US" sz="1100">
                <a:latin typeface="Arial"/>
                <a:ea typeface="Arial"/>
                <a:cs typeface="Arial"/>
                <a:sym typeface="Arial"/>
              </a:rPr>
              <a:t> A: We implemented a polling mechanism in our Sender class that continuously checks for status until receiving a valid 'idle' response. This approach includes position monitoring as a redundant verification of machine state and incorporates short delays between status checks to prevent overwhelming the controller. While not as elegant as direct status reporting, this practical workaround ensures commands are completed before sending the next one, maintaining proper sequencing despite the API limitations.</a:t>
            </a:r>
            <a:endParaRPr sz="1100">
              <a:latin typeface="Arial"/>
              <a:ea typeface="Arial"/>
              <a:cs typeface="Arial"/>
              <a:sym typeface="Arial"/>
            </a:endParaRPr>
          </a:p>
          <a:p>
            <a:pPr indent="0" lvl="0" marL="0" rtl="0" algn="l">
              <a:lnSpc>
                <a:spcPct val="115000"/>
              </a:lnSpc>
              <a:spcBef>
                <a:spcPts val="0"/>
              </a:spcBef>
              <a:spcAft>
                <a:spcPts val="0"/>
              </a:spcAft>
              <a:buSzPts val="1100"/>
              <a:buNone/>
            </a:pPr>
            <a:r>
              <a:rPr b="1" lang="en-US" sz="1100">
                <a:latin typeface="Arial"/>
                <a:ea typeface="Arial"/>
                <a:cs typeface="Arial"/>
                <a:sym typeface="Arial"/>
              </a:rPr>
              <a:t>Q: What factors influenced your choice of the Baumer OX200 laser scanner?</a:t>
            </a:r>
            <a:r>
              <a:rPr lang="en-US" sz="1100">
                <a:latin typeface="Arial"/>
                <a:ea typeface="Arial"/>
                <a:cs typeface="Arial"/>
                <a:sym typeface="Arial"/>
              </a:rPr>
              <a:t> A: We selected the Baumer OX200 based on several factors: its measurement precision (±0.05mm), its Flex Mount feature allowing ±30° mounting angle compensation, its robust industrial design suitable for WAAM environments, its multiple communication interfaces, and its integrated processing capabilities. We also considered alternatives like the SICK Profiler 2 and Keyence LJ-X Series, but the Baumer offered the best combination of features, performance, and value for our specific application.</a:t>
            </a:r>
            <a:endParaRPr sz="1100">
              <a:latin typeface="Arial"/>
              <a:ea typeface="Arial"/>
              <a:cs typeface="Arial"/>
              <a:sym typeface="Arial"/>
            </a:endParaRPr>
          </a:p>
          <a:p>
            <a:pPr indent="0" lvl="0" marL="0" rtl="0" algn="l">
              <a:lnSpc>
                <a:spcPct val="115000"/>
              </a:lnSpc>
              <a:spcBef>
                <a:spcPts val="0"/>
              </a:spcBef>
              <a:spcAft>
                <a:spcPts val="0"/>
              </a:spcAft>
              <a:buSzPts val="1100"/>
              <a:buNone/>
            </a:pPr>
            <a:r>
              <a:rPr b="1" lang="en-US" sz="1100">
                <a:latin typeface="Arial"/>
                <a:ea typeface="Arial"/>
                <a:cs typeface="Arial"/>
                <a:sym typeface="Arial"/>
              </a:rPr>
              <a:t>Q: How does your system handle variations in reflectivity of different metallic surfaces?</a:t>
            </a:r>
            <a:r>
              <a:rPr lang="en-US" sz="1100">
                <a:latin typeface="Arial"/>
                <a:ea typeface="Arial"/>
                <a:cs typeface="Arial"/>
                <a:sym typeface="Arial"/>
              </a:rPr>
              <a:t> A: Our system addresses reflectivity challenges through multiple approaches. First, we leverage the Baumer OX200's configurable exposure settings to optimize for specific materials. Second, we mount the scanner at a +30° angle to reduce direct reflections. Third, our software implements statistical filtering to remove anomalous readings caused by reflections. Finally, we collect multiple measurements across each layer, ensuring reliable average height determination even if some individual readings are affected by reflectivity issues.</a:t>
            </a:r>
            <a:endParaRPr sz="1100">
              <a:latin typeface="Arial"/>
              <a:ea typeface="Arial"/>
              <a:cs typeface="Arial"/>
              <a:sym typeface="Arial"/>
            </a:endParaRPr>
          </a:p>
          <a:p>
            <a:pPr indent="0" lvl="0" marL="0" rtl="0" algn="l">
              <a:lnSpc>
                <a:spcPct val="115000"/>
              </a:lnSpc>
              <a:spcBef>
                <a:spcPts val="0"/>
              </a:spcBef>
              <a:spcAft>
                <a:spcPts val="0"/>
              </a:spcAft>
              <a:buSzPts val="1100"/>
              <a:buNone/>
            </a:pPr>
            <a:r>
              <a:rPr b="1" lang="en-US" sz="1100">
                <a:latin typeface="Arial"/>
                <a:ea typeface="Arial"/>
                <a:cs typeface="Arial"/>
                <a:sym typeface="Arial"/>
              </a:rPr>
              <a:t>Q: What improvements would you make if you were to continue this project?</a:t>
            </a:r>
            <a:r>
              <a:rPr lang="en-US" sz="1100">
                <a:latin typeface="Arial"/>
                <a:ea typeface="Arial"/>
                <a:cs typeface="Arial"/>
                <a:sym typeface="Arial"/>
              </a:rPr>
              <a:t> A: The most immediate improvement would be implementing the complete adaptive control loop with experimental validation on multi-layer builds. Beyond that, I would implement zone-based adaptive control to handle localized variations within layers, integrate thermal monitoring to account for temperature effects on deposition, develop more sophisticated scanning patterns based on part geometry, and explore machine learning approaches for predictive correction and defect detection.</a:t>
            </a:r>
            <a:endParaRPr sz="1100">
              <a:latin typeface="Arial"/>
              <a:ea typeface="Arial"/>
              <a:cs typeface="Arial"/>
              <a:sym typeface="Arial"/>
            </a:endParaRPr>
          </a:p>
          <a:p>
            <a:pPr indent="0" lvl="0" marL="0" rtl="0" algn="l">
              <a:lnSpc>
                <a:spcPct val="115000"/>
              </a:lnSpc>
              <a:spcBef>
                <a:spcPts val="1200"/>
              </a:spcBef>
              <a:spcAft>
                <a:spcPts val="1200"/>
              </a:spcAft>
              <a:buClr>
                <a:schemeClr val="dk1"/>
              </a:buClr>
              <a:buSzPts val="1100"/>
              <a:buFont typeface="Arial"/>
              <a:buNone/>
            </a:pPr>
            <a:r>
              <a:t/>
            </a:r>
            <a:endParaRPr sz="1100">
              <a:latin typeface="Arial"/>
              <a:ea typeface="Arial"/>
              <a:cs typeface="Arial"/>
              <a:sym typeface="Arial"/>
            </a:endParaRPr>
          </a:p>
        </p:txBody>
      </p:sp>
      <p:sp>
        <p:nvSpPr>
          <p:cNvPr id="703" name="Google Shape;703;g33e27b3e0e6_0_48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9" name="Shape 719"/>
        <p:cNvGrpSpPr/>
        <p:nvPr/>
      </p:nvGrpSpPr>
      <p:grpSpPr>
        <a:xfrm>
          <a:off x="0" y="0"/>
          <a:ext cx="0" cy="0"/>
          <a:chOff x="0" y="0"/>
          <a:chExt cx="0" cy="0"/>
        </a:xfrm>
      </p:grpSpPr>
      <p:sp>
        <p:nvSpPr>
          <p:cNvPr id="720" name="Google Shape;720;g33e27b3e0e6_0_50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721" name="Google Shape;721;g33e27b3e0e6_0_50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2" name="Google Shape;722;g33e27b3e0e6_0_50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3"/>
          <p:cNvSpPr txBox="1"/>
          <p:nvPr>
            <p:ph type="ctrTitle"/>
          </p:nvPr>
        </p:nvSpPr>
        <p:spPr>
          <a:xfrm>
            <a:off x="914400" y="2130426"/>
            <a:ext cx="10363200" cy="14700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7" name="Google Shape;17;p13"/>
          <p:cNvSpPr txBox="1"/>
          <p:nvPr>
            <p:ph idx="1" type="subTitle"/>
          </p:nvPr>
        </p:nvSpPr>
        <p:spPr>
          <a:xfrm>
            <a:off x="1828800" y="3886200"/>
            <a:ext cx="8534400" cy="17526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640"/>
              </a:spcBef>
              <a:spcAft>
                <a:spcPts val="0"/>
              </a:spcAft>
              <a:buClr>
                <a:schemeClr val="dk1"/>
              </a:buClr>
              <a:buSzPts val="3200"/>
              <a:buFont typeface="Arial"/>
              <a:buNone/>
              <a:defRPr/>
            </a:lvl1pPr>
            <a:lvl2pPr lvl="1" algn="ctr">
              <a:lnSpc>
                <a:spcPct val="100000"/>
              </a:lnSpc>
              <a:spcBef>
                <a:spcPts val="560"/>
              </a:spcBef>
              <a:spcAft>
                <a:spcPts val="0"/>
              </a:spcAft>
              <a:buClr>
                <a:schemeClr val="dk1"/>
              </a:buClr>
              <a:buSzPts val="2800"/>
              <a:buFont typeface="Arial"/>
              <a:buNone/>
              <a:defRPr/>
            </a:lvl2pPr>
            <a:lvl3pPr lvl="2" algn="ctr">
              <a:lnSpc>
                <a:spcPct val="100000"/>
              </a:lnSpc>
              <a:spcBef>
                <a:spcPts val="480"/>
              </a:spcBef>
              <a:spcAft>
                <a:spcPts val="0"/>
              </a:spcAft>
              <a:buClr>
                <a:schemeClr val="dk1"/>
              </a:buClr>
              <a:buSzPts val="2400"/>
              <a:buFont typeface="Arial"/>
              <a:buNone/>
              <a:defRPr/>
            </a:lvl3pPr>
            <a:lvl4pPr lvl="3" algn="ctr">
              <a:lnSpc>
                <a:spcPct val="100000"/>
              </a:lnSpc>
              <a:spcBef>
                <a:spcPts val="400"/>
              </a:spcBef>
              <a:spcAft>
                <a:spcPts val="0"/>
              </a:spcAft>
              <a:buClr>
                <a:schemeClr val="dk1"/>
              </a:buClr>
              <a:buSzPts val="2000"/>
              <a:buFont typeface="Arial"/>
              <a:buNone/>
              <a:defRPr/>
            </a:lvl4pPr>
            <a:lvl5pPr lvl="4" algn="ctr">
              <a:lnSpc>
                <a:spcPct val="100000"/>
              </a:lnSpc>
              <a:spcBef>
                <a:spcPts val="400"/>
              </a:spcBef>
              <a:spcAft>
                <a:spcPts val="0"/>
              </a:spcAft>
              <a:buClr>
                <a:schemeClr val="dk1"/>
              </a:buClr>
              <a:buSzPts val="2000"/>
              <a:buFont typeface="Arial"/>
              <a:buNone/>
              <a:defRPr/>
            </a:lvl5pPr>
            <a:lvl6pPr lvl="5" algn="ctr">
              <a:lnSpc>
                <a:spcPct val="100000"/>
              </a:lnSpc>
              <a:spcBef>
                <a:spcPts val="400"/>
              </a:spcBef>
              <a:spcAft>
                <a:spcPts val="0"/>
              </a:spcAft>
              <a:buClr>
                <a:schemeClr val="dk1"/>
              </a:buClr>
              <a:buSzPts val="2000"/>
              <a:buFont typeface="Arial"/>
              <a:buNone/>
              <a:defRPr/>
            </a:lvl6pPr>
            <a:lvl7pPr lvl="6" algn="ctr">
              <a:lnSpc>
                <a:spcPct val="100000"/>
              </a:lnSpc>
              <a:spcBef>
                <a:spcPts val="400"/>
              </a:spcBef>
              <a:spcAft>
                <a:spcPts val="0"/>
              </a:spcAft>
              <a:buClr>
                <a:schemeClr val="dk1"/>
              </a:buClr>
              <a:buSzPts val="2000"/>
              <a:buFont typeface="Arial"/>
              <a:buNone/>
              <a:defRPr/>
            </a:lvl7pPr>
            <a:lvl8pPr lvl="7" algn="ctr">
              <a:lnSpc>
                <a:spcPct val="100000"/>
              </a:lnSpc>
              <a:spcBef>
                <a:spcPts val="400"/>
              </a:spcBef>
              <a:spcAft>
                <a:spcPts val="0"/>
              </a:spcAft>
              <a:buClr>
                <a:schemeClr val="dk1"/>
              </a:buClr>
              <a:buSzPts val="2000"/>
              <a:buFont typeface="Arial"/>
              <a:buNone/>
              <a:defRPr/>
            </a:lvl8pPr>
            <a:lvl9pPr lvl="8" algn="ctr">
              <a:lnSpc>
                <a:spcPct val="100000"/>
              </a:lnSpc>
              <a:spcBef>
                <a:spcPts val="400"/>
              </a:spcBef>
              <a:spcAft>
                <a:spcPts val="0"/>
              </a:spcAft>
              <a:buClr>
                <a:schemeClr val="dk1"/>
              </a:buClr>
              <a:buSzPts val="2000"/>
              <a:buFont typeface="Arial"/>
              <a:buNone/>
              <a:defRPr/>
            </a:lvl9pPr>
          </a:lstStyle>
          <a:p/>
        </p:txBody>
      </p:sp>
      <p:sp>
        <p:nvSpPr>
          <p:cNvPr id="18" name="Google Shape;18;p13"/>
          <p:cNvSpPr txBox="1"/>
          <p:nvPr>
            <p:ph idx="10" type="dt"/>
          </p:nvPr>
        </p:nvSpPr>
        <p:spPr>
          <a:xfrm>
            <a:off x="609600" y="6245225"/>
            <a:ext cx="28448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3"/>
          <p:cNvSpPr txBox="1"/>
          <p:nvPr>
            <p:ph idx="11" type="ftr"/>
          </p:nvPr>
        </p:nvSpPr>
        <p:spPr>
          <a:xfrm>
            <a:off x="4165600" y="6245225"/>
            <a:ext cx="3860800" cy="4762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3"/>
          <p:cNvSpPr txBox="1"/>
          <p:nvPr>
            <p:ph idx="12" type="sldNum"/>
          </p:nvPr>
        </p:nvSpPr>
        <p:spPr>
          <a:xfrm>
            <a:off x="11482808" y="6245225"/>
            <a:ext cx="44584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rgbClr val="C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rgbClr val="C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rgbClr val="C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rgbClr val="C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rgbClr val="C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rgbClr val="C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rgbClr val="C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rgbClr val="C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rgbClr val="C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4"/>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3" name="Google Shape;23;p14"/>
          <p:cNvSpPr txBox="1"/>
          <p:nvPr>
            <p:ph idx="1" type="body"/>
          </p:nvPr>
        </p:nvSpPr>
        <p:spPr>
          <a:xfrm>
            <a:off x="609600" y="1600201"/>
            <a:ext cx="10972800" cy="4525963"/>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 name="Google Shape;24;p14"/>
          <p:cNvSpPr txBox="1"/>
          <p:nvPr>
            <p:ph idx="10" type="dt"/>
          </p:nvPr>
        </p:nvSpPr>
        <p:spPr>
          <a:xfrm>
            <a:off x="609600" y="6245225"/>
            <a:ext cx="28448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4"/>
          <p:cNvSpPr txBox="1"/>
          <p:nvPr>
            <p:ph idx="11" type="ftr"/>
          </p:nvPr>
        </p:nvSpPr>
        <p:spPr>
          <a:xfrm>
            <a:off x="4165600" y="6245225"/>
            <a:ext cx="3860800" cy="4762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14"/>
          <p:cNvSpPr txBox="1"/>
          <p:nvPr>
            <p:ph idx="12" type="sldNum"/>
          </p:nvPr>
        </p:nvSpPr>
        <p:spPr>
          <a:xfrm>
            <a:off x="11482808" y="6245225"/>
            <a:ext cx="44584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rgbClr val="C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rgbClr val="C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rgbClr val="C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rgbClr val="C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rgbClr val="C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rgbClr val="C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rgbClr val="C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rgbClr val="C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rgbClr val="C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5"/>
          <p:cNvSpPr txBox="1"/>
          <p:nvPr>
            <p:ph type="title"/>
          </p:nvPr>
        </p:nvSpPr>
        <p:spPr>
          <a:xfrm>
            <a:off x="963084" y="4406901"/>
            <a:ext cx="10363200" cy="136207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b="1" sz="4000" cap="none"/>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9" name="Google Shape;29;p15"/>
          <p:cNvSpPr txBox="1"/>
          <p:nvPr>
            <p:ph idx="1" type="body"/>
          </p:nvPr>
        </p:nvSpPr>
        <p:spPr>
          <a:xfrm>
            <a:off x="963084" y="2906713"/>
            <a:ext cx="10363200" cy="1500187"/>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00"/>
              </a:spcBef>
              <a:spcAft>
                <a:spcPts val="0"/>
              </a:spcAft>
              <a:buClr>
                <a:schemeClr val="dk1"/>
              </a:buClr>
              <a:buSzPts val="2000"/>
              <a:buFont typeface="Arial"/>
              <a:buNone/>
              <a:defRPr sz="2000"/>
            </a:lvl1pPr>
            <a:lvl2pPr indent="-228600" lvl="1" marL="914400" algn="l">
              <a:lnSpc>
                <a:spcPct val="100000"/>
              </a:lnSpc>
              <a:spcBef>
                <a:spcPts val="360"/>
              </a:spcBef>
              <a:spcAft>
                <a:spcPts val="0"/>
              </a:spcAft>
              <a:buClr>
                <a:schemeClr val="dk1"/>
              </a:buClr>
              <a:buSzPts val="1800"/>
              <a:buFont typeface="Arial"/>
              <a:buNone/>
              <a:defRPr sz="1800"/>
            </a:lvl2pPr>
            <a:lvl3pPr indent="-228600" lvl="2" marL="1371600" algn="l">
              <a:lnSpc>
                <a:spcPct val="100000"/>
              </a:lnSpc>
              <a:spcBef>
                <a:spcPts val="320"/>
              </a:spcBef>
              <a:spcAft>
                <a:spcPts val="0"/>
              </a:spcAft>
              <a:buClr>
                <a:schemeClr val="dk1"/>
              </a:buClr>
              <a:buSzPts val="1600"/>
              <a:buFont typeface="Arial"/>
              <a:buNone/>
              <a:defRPr sz="1600"/>
            </a:lvl3pPr>
            <a:lvl4pPr indent="-228600" lvl="3" marL="1828800" algn="l">
              <a:lnSpc>
                <a:spcPct val="100000"/>
              </a:lnSpc>
              <a:spcBef>
                <a:spcPts val="280"/>
              </a:spcBef>
              <a:spcAft>
                <a:spcPts val="0"/>
              </a:spcAft>
              <a:buClr>
                <a:schemeClr val="dk1"/>
              </a:buClr>
              <a:buSzPts val="1400"/>
              <a:buFont typeface="Arial"/>
              <a:buNone/>
              <a:defRPr sz="1400"/>
            </a:lvl4pPr>
            <a:lvl5pPr indent="-228600" lvl="4" marL="2286000" algn="l">
              <a:lnSpc>
                <a:spcPct val="100000"/>
              </a:lnSpc>
              <a:spcBef>
                <a:spcPts val="280"/>
              </a:spcBef>
              <a:spcAft>
                <a:spcPts val="0"/>
              </a:spcAft>
              <a:buClr>
                <a:schemeClr val="dk1"/>
              </a:buClr>
              <a:buSzPts val="1400"/>
              <a:buFont typeface="Arial"/>
              <a:buNone/>
              <a:defRPr sz="1400"/>
            </a:lvl5pPr>
            <a:lvl6pPr indent="-228600" lvl="5" marL="2743200" algn="l">
              <a:lnSpc>
                <a:spcPct val="100000"/>
              </a:lnSpc>
              <a:spcBef>
                <a:spcPts val="280"/>
              </a:spcBef>
              <a:spcAft>
                <a:spcPts val="0"/>
              </a:spcAft>
              <a:buClr>
                <a:schemeClr val="dk1"/>
              </a:buClr>
              <a:buSzPts val="1400"/>
              <a:buFont typeface="Arial"/>
              <a:buNone/>
              <a:defRPr sz="1400"/>
            </a:lvl6pPr>
            <a:lvl7pPr indent="-228600" lvl="6" marL="3200400" algn="l">
              <a:lnSpc>
                <a:spcPct val="100000"/>
              </a:lnSpc>
              <a:spcBef>
                <a:spcPts val="280"/>
              </a:spcBef>
              <a:spcAft>
                <a:spcPts val="0"/>
              </a:spcAft>
              <a:buClr>
                <a:schemeClr val="dk1"/>
              </a:buClr>
              <a:buSzPts val="1400"/>
              <a:buFont typeface="Arial"/>
              <a:buNone/>
              <a:defRPr sz="1400"/>
            </a:lvl7pPr>
            <a:lvl8pPr indent="-228600" lvl="7" marL="3657600" algn="l">
              <a:lnSpc>
                <a:spcPct val="100000"/>
              </a:lnSpc>
              <a:spcBef>
                <a:spcPts val="280"/>
              </a:spcBef>
              <a:spcAft>
                <a:spcPts val="0"/>
              </a:spcAft>
              <a:buClr>
                <a:schemeClr val="dk1"/>
              </a:buClr>
              <a:buSzPts val="1400"/>
              <a:buFont typeface="Arial"/>
              <a:buNone/>
              <a:defRPr sz="1400"/>
            </a:lvl8pPr>
            <a:lvl9pPr indent="-228600" lvl="8" marL="4114800" algn="l">
              <a:lnSpc>
                <a:spcPct val="100000"/>
              </a:lnSpc>
              <a:spcBef>
                <a:spcPts val="280"/>
              </a:spcBef>
              <a:spcAft>
                <a:spcPts val="0"/>
              </a:spcAft>
              <a:buClr>
                <a:schemeClr val="dk1"/>
              </a:buClr>
              <a:buSzPts val="1400"/>
              <a:buFont typeface="Arial"/>
              <a:buNone/>
              <a:defRPr sz="1400"/>
            </a:lvl9pPr>
          </a:lstStyle>
          <a:p/>
        </p:txBody>
      </p:sp>
      <p:sp>
        <p:nvSpPr>
          <p:cNvPr id="30" name="Google Shape;30;p15"/>
          <p:cNvSpPr txBox="1"/>
          <p:nvPr>
            <p:ph idx="10" type="dt"/>
          </p:nvPr>
        </p:nvSpPr>
        <p:spPr>
          <a:xfrm>
            <a:off x="609600" y="6245225"/>
            <a:ext cx="28448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5"/>
          <p:cNvSpPr txBox="1"/>
          <p:nvPr>
            <p:ph idx="11" type="ftr"/>
          </p:nvPr>
        </p:nvSpPr>
        <p:spPr>
          <a:xfrm>
            <a:off x="4165600" y="6245225"/>
            <a:ext cx="3860800" cy="4762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15"/>
          <p:cNvSpPr txBox="1"/>
          <p:nvPr>
            <p:ph idx="12" type="sldNum"/>
          </p:nvPr>
        </p:nvSpPr>
        <p:spPr>
          <a:xfrm>
            <a:off x="11482808" y="6245225"/>
            <a:ext cx="44584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rgbClr val="C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rgbClr val="C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rgbClr val="C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rgbClr val="C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rgbClr val="C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rgbClr val="C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rgbClr val="C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rgbClr val="C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rgbClr val="C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6"/>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5" name="Google Shape;35;p16"/>
          <p:cNvSpPr txBox="1"/>
          <p:nvPr>
            <p:ph idx="1" type="body"/>
          </p:nvPr>
        </p:nvSpPr>
        <p:spPr>
          <a:xfrm>
            <a:off x="609600" y="1600201"/>
            <a:ext cx="5384800" cy="4525963"/>
          </a:xfrm>
          <a:prstGeom prst="rect">
            <a:avLst/>
          </a:prstGeom>
          <a:noFill/>
          <a:ln>
            <a:noFill/>
          </a:ln>
        </p:spPr>
        <p:txBody>
          <a:bodyPr anchorCtr="0" anchor="t" bIns="45700" lIns="91425" spcFirstLastPara="1" rIns="91425" wrap="square" tIns="45700">
            <a:noAutofit/>
          </a:bodyPr>
          <a:lstStyle>
            <a:lvl1pPr indent="-406400" lvl="0" marL="457200" algn="l">
              <a:lnSpc>
                <a:spcPct val="100000"/>
              </a:lnSpc>
              <a:spcBef>
                <a:spcPts val="560"/>
              </a:spcBef>
              <a:spcAft>
                <a:spcPts val="0"/>
              </a:spcAft>
              <a:buClr>
                <a:schemeClr val="dk1"/>
              </a:buClr>
              <a:buSzPts val="2800"/>
              <a:buFont typeface="Arial"/>
              <a:buChar char="•"/>
              <a:defRPr sz="2800"/>
            </a:lvl1pPr>
            <a:lvl2pPr indent="-381000" lvl="1" marL="914400" algn="l">
              <a:lnSpc>
                <a:spcPct val="100000"/>
              </a:lnSpc>
              <a:spcBef>
                <a:spcPts val="480"/>
              </a:spcBef>
              <a:spcAft>
                <a:spcPts val="0"/>
              </a:spcAft>
              <a:buClr>
                <a:schemeClr val="dk1"/>
              </a:buClr>
              <a:buSzPts val="2400"/>
              <a:buFont typeface="Arial"/>
              <a:buChar char="–"/>
              <a:defRPr sz="2400"/>
            </a:lvl2pPr>
            <a:lvl3pPr indent="-355600" lvl="2" marL="1371600" algn="l">
              <a:lnSpc>
                <a:spcPct val="100000"/>
              </a:lnSpc>
              <a:spcBef>
                <a:spcPts val="400"/>
              </a:spcBef>
              <a:spcAft>
                <a:spcPts val="0"/>
              </a:spcAft>
              <a:buClr>
                <a:schemeClr val="dk1"/>
              </a:buClr>
              <a:buSzPts val="2000"/>
              <a:buFont typeface="Arial"/>
              <a:buChar char="•"/>
              <a:defRPr sz="2000"/>
            </a:lvl3pPr>
            <a:lvl4pPr indent="-342900" lvl="3" marL="1828800" algn="l">
              <a:lnSpc>
                <a:spcPct val="100000"/>
              </a:lnSpc>
              <a:spcBef>
                <a:spcPts val="360"/>
              </a:spcBef>
              <a:spcAft>
                <a:spcPts val="0"/>
              </a:spcAft>
              <a:buClr>
                <a:schemeClr val="dk1"/>
              </a:buClr>
              <a:buSzPts val="1800"/>
              <a:buFont typeface="Arial"/>
              <a:buChar char="–"/>
              <a:defRPr sz="1800"/>
            </a:lvl4pPr>
            <a:lvl5pPr indent="-342900" lvl="4" marL="2286000" algn="l">
              <a:lnSpc>
                <a:spcPct val="100000"/>
              </a:lnSpc>
              <a:spcBef>
                <a:spcPts val="360"/>
              </a:spcBef>
              <a:spcAft>
                <a:spcPts val="0"/>
              </a:spcAft>
              <a:buClr>
                <a:schemeClr val="dk1"/>
              </a:buClr>
              <a:buSzPts val="1800"/>
              <a:buFont typeface="Arial"/>
              <a:buChar char="»"/>
              <a:defRPr sz="1800"/>
            </a:lvl5pPr>
            <a:lvl6pPr indent="-342900" lvl="5" marL="2743200" algn="l">
              <a:lnSpc>
                <a:spcPct val="100000"/>
              </a:lnSpc>
              <a:spcBef>
                <a:spcPts val="360"/>
              </a:spcBef>
              <a:spcAft>
                <a:spcPts val="0"/>
              </a:spcAft>
              <a:buClr>
                <a:schemeClr val="dk1"/>
              </a:buClr>
              <a:buSzPts val="1800"/>
              <a:buFont typeface="Arial"/>
              <a:buChar char="»"/>
              <a:defRPr sz="1800"/>
            </a:lvl6pPr>
            <a:lvl7pPr indent="-342900" lvl="6" marL="3200400" algn="l">
              <a:lnSpc>
                <a:spcPct val="100000"/>
              </a:lnSpc>
              <a:spcBef>
                <a:spcPts val="360"/>
              </a:spcBef>
              <a:spcAft>
                <a:spcPts val="0"/>
              </a:spcAft>
              <a:buClr>
                <a:schemeClr val="dk1"/>
              </a:buClr>
              <a:buSzPts val="1800"/>
              <a:buFont typeface="Arial"/>
              <a:buChar char="»"/>
              <a:defRPr sz="1800"/>
            </a:lvl7pPr>
            <a:lvl8pPr indent="-342900" lvl="7" marL="3657600" algn="l">
              <a:lnSpc>
                <a:spcPct val="100000"/>
              </a:lnSpc>
              <a:spcBef>
                <a:spcPts val="360"/>
              </a:spcBef>
              <a:spcAft>
                <a:spcPts val="0"/>
              </a:spcAft>
              <a:buClr>
                <a:schemeClr val="dk1"/>
              </a:buClr>
              <a:buSzPts val="1800"/>
              <a:buFont typeface="Arial"/>
              <a:buChar char="»"/>
              <a:defRPr sz="1800"/>
            </a:lvl8pPr>
            <a:lvl9pPr indent="-342900" lvl="8" marL="4114800" algn="l">
              <a:lnSpc>
                <a:spcPct val="100000"/>
              </a:lnSpc>
              <a:spcBef>
                <a:spcPts val="360"/>
              </a:spcBef>
              <a:spcAft>
                <a:spcPts val="0"/>
              </a:spcAft>
              <a:buClr>
                <a:schemeClr val="dk1"/>
              </a:buClr>
              <a:buSzPts val="1800"/>
              <a:buFont typeface="Arial"/>
              <a:buChar char="»"/>
              <a:defRPr sz="1800"/>
            </a:lvl9pPr>
          </a:lstStyle>
          <a:p/>
        </p:txBody>
      </p:sp>
      <p:sp>
        <p:nvSpPr>
          <p:cNvPr id="36" name="Google Shape;36;p16"/>
          <p:cNvSpPr txBox="1"/>
          <p:nvPr>
            <p:ph idx="2" type="body"/>
          </p:nvPr>
        </p:nvSpPr>
        <p:spPr>
          <a:xfrm>
            <a:off x="6197600" y="1600201"/>
            <a:ext cx="5384800" cy="4525963"/>
          </a:xfrm>
          <a:prstGeom prst="rect">
            <a:avLst/>
          </a:prstGeom>
          <a:noFill/>
          <a:ln>
            <a:noFill/>
          </a:ln>
        </p:spPr>
        <p:txBody>
          <a:bodyPr anchorCtr="0" anchor="t" bIns="45700" lIns="91425" spcFirstLastPara="1" rIns="91425" wrap="square" tIns="45700">
            <a:noAutofit/>
          </a:bodyPr>
          <a:lstStyle>
            <a:lvl1pPr indent="-406400" lvl="0" marL="457200" algn="l">
              <a:lnSpc>
                <a:spcPct val="100000"/>
              </a:lnSpc>
              <a:spcBef>
                <a:spcPts val="560"/>
              </a:spcBef>
              <a:spcAft>
                <a:spcPts val="0"/>
              </a:spcAft>
              <a:buClr>
                <a:schemeClr val="dk1"/>
              </a:buClr>
              <a:buSzPts val="2800"/>
              <a:buFont typeface="Arial"/>
              <a:buChar char="•"/>
              <a:defRPr sz="2800"/>
            </a:lvl1pPr>
            <a:lvl2pPr indent="-381000" lvl="1" marL="914400" algn="l">
              <a:lnSpc>
                <a:spcPct val="100000"/>
              </a:lnSpc>
              <a:spcBef>
                <a:spcPts val="480"/>
              </a:spcBef>
              <a:spcAft>
                <a:spcPts val="0"/>
              </a:spcAft>
              <a:buClr>
                <a:schemeClr val="dk1"/>
              </a:buClr>
              <a:buSzPts val="2400"/>
              <a:buFont typeface="Arial"/>
              <a:buChar char="–"/>
              <a:defRPr sz="2400"/>
            </a:lvl2pPr>
            <a:lvl3pPr indent="-355600" lvl="2" marL="1371600" algn="l">
              <a:lnSpc>
                <a:spcPct val="100000"/>
              </a:lnSpc>
              <a:spcBef>
                <a:spcPts val="400"/>
              </a:spcBef>
              <a:spcAft>
                <a:spcPts val="0"/>
              </a:spcAft>
              <a:buClr>
                <a:schemeClr val="dk1"/>
              </a:buClr>
              <a:buSzPts val="2000"/>
              <a:buFont typeface="Arial"/>
              <a:buChar char="•"/>
              <a:defRPr sz="2000"/>
            </a:lvl3pPr>
            <a:lvl4pPr indent="-342900" lvl="3" marL="1828800" algn="l">
              <a:lnSpc>
                <a:spcPct val="100000"/>
              </a:lnSpc>
              <a:spcBef>
                <a:spcPts val="360"/>
              </a:spcBef>
              <a:spcAft>
                <a:spcPts val="0"/>
              </a:spcAft>
              <a:buClr>
                <a:schemeClr val="dk1"/>
              </a:buClr>
              <a:buSzPts val="1800"/>
              <a:buFont typeface="Arial"/>
              <a:buChar char="–"/>
              <a:defRPr sz="1800"/>
            </a:lvl4pPr>
            <a:lvl5pPr indent="-342900" lvl="4" marL="2286000" algn="l">
              <a:lnSpc>
                <a:spcPct val="100000"/>
              </a:lnSpc>
              <a:spcBef>
                <a:spcPts val="360"/>
              </a:spcBef>
              <a:spcAft>
                <a:spcPts val="0"/>
              </a:spcAft>
              <a:buClr>
                <a:schemeClr val="dk1"/>
              </a:buClr>
              <a:buSzPts val="1800"/>
              <a:buFont typeface="Arial"/>
              <a:buChar char="»"/>
              <a:defRPr sz="1800"/>
            </a:lvl5pPr>
            <a:lvl6pPr indent="-342900" lvl="5" marL="2743200" algn="l">
              <a:lnSpc>
                <a:spcPct val="100000"/>
              </a:lnSpc>
              <a:spcBef>
                <a:spcPts val="360"/>
              </a:spcBef>
              <a:spcAft>
                <a:spcPts val="0"/>
              </a:spcAft>
              <a:buClr>
                <a:schemeClr val="dk1"/>
              </a:buClr>
              <a:buSzPts val="1800"/>
              <a:buFont typeface="Arial"/>
              <a:buChar char="»"/>
              <a:defRPr sz="1800"/>
            </a:lvl6pPr>
            <a:lvl7pPr indent="-342900" lvl="6" marL="3200400" algn="l">
              <a:lnSpc>
                <a:spcPct val="100000"/>
              </a:lnSpc>
              <a:spcBef>
                <a:spcPts val="360"/>
              </a:spcBef>
              <a:spcAft>
                <a:spcPts val="0"/>
              </a:spcAft>
              <a:buClr>
                <a:schemeClr val="dk1"/>
              </a:buClr>
              <a:buSzPts val="1800"/>
              <a:buFont typeface="Arial"/>
              <a:buChar char="»"/>
              <a:defRPr sz="1800"/>
            </a:lvl7pPr>
            <a:lvl8pPr indent="-342900" lvl="7" marL="3657600" algn="l">
              <a:lnSpc>
                <a:spcPct val="100000"/>
              </a:lnSpc>
              <a:spcBef>
                <a:spcPts val="360"/>
              </a:spcBef>
              <a:spcAft>
                <a:spcPts val="0"/>
              </a:spcAft>
              <a:buClr>
                <a:schemeClr val="dk1"/>
              </a:buClr>
              <a:buSzPts val="1800"/>
              <a:buFont typeface="Arial"/>
              <a:buChar char="»"/>
              <a:defRPr sz="1800"/>
            </a:lvl8pPr>
            <a:lvl9pPr indent="-342900" lvl="8" marL="4114800" algn="l">
              <a:lnSpc>
                <a:spcPct val="100000"/>
              </a:lnSpc>
              <a:spcBef>
                <a:spcPts val="360"/>
              </a:spcBef>
              <a:spcAft>
                <a:spcPts val="0"/>
              </a:spcAft>
              <a:buClr>
                <a:schemeClr val="dk1"/>
              </a:buClr>
              <a:buSzPts val="1800"/>
              <a:buFont typeface="Arial"/>
              <a:buChar char="»"/>
              <a:defRPr sz="1800"/>
            </a:lvl9pPr>
          </a:lstStyle>
          <a:p/>
        </p:txBody>
      </p:sp>
      <p:sp>
        <p:nvSpPr>
          <p:cNvPr id="37" name="Google Shape;37;p16"/>
          <p:cNvSpPr txBox="1"/>
          <p:nvPr>
            <p:ph idx="10" type="dt"/>
          </p:nvPr>
        </p:nvSpPr>
        <p:spPr>
          <a:xfrm>
            <a:off x="609600" y="6245225"/>
            <a:ext cx="28448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6"/>
          <p:cNvSpPr txBox="1"/>
          <p:nvPr>
            <p:ph idx="11" type="ftr"/>
          </p:nvPr>
        </p:nvSpPr>
        <p:spPr>
          <a:xfrm>
            <a:off x="4165600" y="6245225"/>
            <a:ext cx="3860800" cy="4762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16"/>
          <p:cNvSpPr txBox="1"/>
          <p:nvPr>
            <p:ph idx="12" type="sldNum"/>
          </p:nvPr>
        </p:nvSpPr>
        <p:spPr>
          <a:xfrm>
            <a:off x="11482808" y="6245225"/>
            <a:ext cx="44584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rgbClr val="C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rgbClr val="C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rgbClr val="C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rgbClr val="C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rgbClr val="C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rgbClr val="C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rgbClr val="C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rgbClr val="C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rgbClr val="C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17"/>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2" name="Google Shape;42;p17"/>
          <p:cNvSpPr txBox="1"/>
          <p:nvPr>
            <p:ph idx="1" type="body"/>
          </p:nvPr>
        </p:nvSpPr>
        <p:spPr>
          <a:xfrm>
            <a:off x="609600" y="1535113"/>
            <a:ext cx="5386917" cy="6397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80"/>
              </a:spcBef>
              <a:spcAft>
                <a:spcPts val="0"/>
              </a:spcAft>
              <a:buClr>
                <a:schemeClr val="dk1"/>
              </a:buClr>
              <a:buSzPts val="2400"/>
              <a:buFont typeface="Arial"/>
              <a:buNone/>
              <a:defRPr b="1" sz="2400"/>
            </a:lvl1pPr>
            <a:lvl2pPr indent="-228600" lvl="1" marL="914400" algn="l">
              <a:lnSpc>
                <a:spcPct val="100000"/>
              </a:lnSpc>
              <a:spcBef>
                <a:spcPts val="400"/>
              </a:spcBef>
              <a:spcAft>
                <a:spcPts val="0"/>
              </a:spcAft>
              <a:buClr>
                <a:schemeClr val="dk1"/>
              </a:buClr>
              <a:buSzPts val="2000"/>
              <a:buFont typeface="Arial"/>
              <a:buNone/>
              <a:defRPr b="1" sz="2000"/>
            </a:lvl2pPr>
            <a:lvl3pPr indent="-228600" lvl="2" marL="1371600" algn="l">
              <a:lnSpc>
                <a:spcPct val="100000"/>
              </a:lnSpc>
              <a:spcBef>
                <a:spcPts val="360"/>
              </a:spcBef>
              <a:spcAft>
                <a:spcPts val="0"/>
              </a:spcAft>
              <a:buClr>
                <a:schemeClr val="dk1"/>
              </a:buClr>
              <a:buSzPts val="1800"/>
              <a:buFont typeface="Arial"/>
              <a:buNone/>
              <a:defRPr b="1" sz="1800"/>
            </a:lvl3pPr>
            <a:lvl4pPr indent="-228600" lvl="3" marL="1828800" algn="l">
              <a:lnSpc>
                <a:spcPct val="100000"/>
              </a:lnSpc>
              <a:spcBef>
                <a:spcPts val="320"/>
              </a:spcBef>
              <a:spcAft>
                <a:spcPts val="0"/>
              </a:spcAft>
              <a:buClr>
                <a:schemeClr val="dk1"/>
              </a:buClr>
              <a:buSzPts val="1600"/>
              <a:buFont typeface="Arial"/>
              <a:buNone/>
              <a:defRPr b="1" sz="1600"/>
            </a:lvl4pPr>
            <a:lvl5pPr indent="-228600" lvl="4" marL="2286000" algn="l">
              <a:lnSpc>
                <a:spcPct val="100000"/>
              </a:lnSpc>
              <a:spcBef>
                <a:spcPts val="320"/>
              </a:spcBef>
              <a:spcAft>
                <a:spcPts val="0"/>
              </a:spcAft>
              <a:buClr>
                <a:schemeClr val="dk1"/>
              </a:buClr>
              <a:buSzPts val="1600"/>
              <a:buFont typeface="Arial"/>
              <a:buNone/>
              <a:defRPr b="1" sz="1600"/>
            </a:lvl5pPr>
            <a:lvl6pPr indent="-228600" lvl="5" marL="2743200" algn="l">
              <a:lnSpc>
                <a:spcPct val="100000"/>
              </a:lnSpc>
              <a:spcBef>
                <a:spcPts val="320"/>
              </a:spcBef>
              <a:spcAft>
                <a:spcPts val="0"/>
              </a:spcAft>
              <a:buClr>
                <a:schemeClr val="dk1"/>
              </a:buClr>
              <a:buSzPts val="1600"/>
              <a:buFont typeface="Arial"/>
              <a:buNone/>
              <a:defRPr b="1" sz="1600"/>
            </a:lvl6pPr>
            <a:lvl7pPr indent="-228600" lvl="6" marL="3200400" algn="l">
              <a:lnSpc>
                <a:spcPct val="100000"/>
              </a:lnSpc>
              <a:spcBef>
                <a:spcPts val="320"/>
              </a:spcBef>
              <a:spcAft>
                <a:spcPts val="0"/>
              </a:spcAft>
              <a:buClr>
                <a:schemeClr val="dk1"/>
              </a:buClr>
              <a:buSzPts val="1600"/>
              <a:buFont typeface="Arial"/>
              <a:buNone/>
              <a:defRPr b="1" sz="1600"/>
            </a:lvl7pPr>
            <a:lvl8pPr indent="-228600" lvl="7" marL="3657600" algn="l">
              <a:lnSpc>
                <a:spcPct val="100000"/>
              </a:lnSpc>
              <a:spcBef>
                <a:spcPts val="320"/>
              </a:spcBef>
              <a:spcAft>
                <a:spcPts val="0"/>
              </a:spcAft>
              <a:buClr>
                <a:schemeClr val="dk1"/>
              </a:buClr>
              <a:buSzPts val="1600"/>
              <a:buFont typeface="Arial"/>
              <a:buNone/>
              <a:defRPr b="1" sz="1600"/>
            </a:lvl8pPr>
            <a:lvl9pPr indent="-228600" lvl="8" marL="4114800" algn="l">
              <a:lnSpc>
                <a:spcPct val="100000"/>
              </a:lnSpc>
              <a:spcBef>
                <a:spcPts val="320"/>
              </a:spcBef>
              <a:spcAft>
                <a:spcPts val="0"/>
              </a:spcAft>
              <a:buClr>
                <a:schemeClr val="dk1"/>
              </a:buClr>
              <a:buSzPts val="1600"/>
              <a:buFont typeface="Arial"/>
              <a:buNone/>
              <a:defRPr b="1" sz="1600"/>
            </a:lvl9pPr>
          </a:lstStyle>
          <a:p/>
        </p:txBody>
      </p:sp>
      <p:sp>
        <p:nvSpPr>
          <p:cNvPr id="43" name="Google Shape;43;p17"/>
          <p:cNvSpPr txBox="1"/>
          <p:nvPr>
            <p:ph idx="2" type="body"/>
          </p:nvPr>
        </p:nvSpPr>
        <p:spPr>
          <a:xfrm>
            <a:off x="609600" y="2174875"/>
            <a:ext cx="5386917" cy="3951288"/>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480"/>
              </a:spcBef>
              <a:spcAft>
                <a:spcPts val="0"/>
              </a:spcAft>
              <a:buClr>
                <a:schemeClr val="dk1"/>
              </a:buClr>
              <a:buSzPts val="2400"/>
              <a:buFont typeface="Arial"/>
              <a:buChar char="•"/>
              <a:defRPr sz="2400"/>
            </a:lvl1pPr>
            <a:lvl2pPr indent="-355600" lvl="1" marL="914400" algn="l">
              <a:lnSpc>
                <a:spcPct val="100000"/>
              </a:lnSpc>
              <a:spcBef>
                <a:spcPts val="400"/>
              </a:spcBef>
              <a:spcAft>
                <a:spcPts val="0"/>
              </a:spcAft>
              <a:buClr>
                <a:schemeClr val="dk1"/>
              </a:buClr>
              <a:buSzPts val="2000"/>
              <a:buFont typeface="Arial"/>
              <a:buChar char="–"/>
              <a:defRPr sz="2000"/>
            </a:lvl2pPr>
            <a:lvl3pPr indent="-342900" lvl="2" marL="1371600" algn="l">
              <a:lnSpc>
                <a:spcPct val="100000"/>
              </a:lnSpc>
              <a:spcBef>
                <a:spcPts val="360"/>
              </a:spcBef>
              <a:spcAft>
                <a:spcPts val="0"/>
              </a:spcAft>
              <a:buClr>
                <a:schemeClr val="dk1"/>
              </a:buClr>
              <a:buSzPts val="1800"/>
              <a:buFont typeface="Arial"/>
              <a:buChar char="•"/>
              <a:defRPr sz="1800"/>
            </a:lvl3pPr>
            <a:lvl4pPr indent="-330200" lvl="3" marL="1828800" algn="l">
              <a:lnSpc>
                <a:spcPct val="100000"/>
              </a:lnSpc>
              <a:spcBef>
                <a:spcPts val="320"/>
              </a:spcBef>
              <a:spcAft>
                <a:spcPts val="0"/>
              </a:spcAft>
              <a:buClr>
                <a:schemeClr val="dk1"/>
              </a:buClr>
              <a:buSzPts val="1600"/>
              <a:buFont typeface="Arial"/>
              <a:buChar char="–"/>
              <a:defRPr sz="1600"/>
            </a:lvl4pPr>
            <a:lvl5pPr indent="-330200" lvl="4" marL="2286000" algn="l">
              <a:lnSpc>
                <a:spcPct val="100000"/>
              </a:lnSpc>
              <a:spcBef>
                <a:spcPts val="320"/>
              </a:spcBef>
              <a:spcAft>
                <a:spcPts val="0"/>
              </a:spcAft>
              <a:buClr>
                <a:schemeClr val="dk1"/>
              </a:buClr>
              <a:buSzPts val="1600"/>
              <a:buFont typeface="Arial"/>
              <a:buChar char="»"/>
              <a:defRPr sz="1600"/>
            </a:lvl5pPr>
            <a:lvl6pPr indent="-330200" lvl="5" marL="2743200" algn="l">
              <a:lnSpc>
                <a:spcPct val="100000"/>
              </a:lnSpc>
              <a:spcBef>
                <a:spcPts val="320"/>
              </a:spcBef>
              <a:spcAft>
                <a:spcPts val="0"/>
              </a:spcAft>
              <a:buClr>
                <a:schemeClr val="dk1"/>
              </a:buClr>
              <a:buSzPts val="1600"/>
              <a:buFont typeface="Arial"/>
              <a:buChar char="»"/>
              <a:defRPr sz="1600"/>
            </a:lvl6pPr>
            <a:lvl7pPr indent="-330200" lvl="6" marL="3200400" algn="l">
              <a:lnSpc>
                <a:spcPct val="100000"/>
              </a:lnSpc>
              <a:spcBef>
                <a:spcPts val="320"/>
              </a:spcBef>
              <a:spcAft>
                <a:spcPts val="0"/>
              </a:spcAft>
              <a:buClr>
                <a:schemeClr val="dk1"/>
              </a:buClr>
              <a:buSzPts val="1600"/>
              <a:buFont typeface="Arial"/>
              <a:buChar char="»"/>
              <a:defRPr sz="1600"/>
            </a:lvl7pPr>
            <a:lvl8pPr indent="-330200" lvl="7" marL="3657600" algn="l">
              <a:lnSpc>
                <a:spcPct val="100000"/>
              </a:lnSpc>
              <a:spcBef>
                <a:spcPts val="320"/>
              </a:spcBef>
              <a:spcAft>
                <a:spcPts val="0"/>
              </a:spcAft>
              <a:buClr>
                <a:schemeClr val="dk1"/>
              </a:buClr>
              <a:buSzPts val="1600"/>
              <a:buFont typeface="Arial"/>
              <a:buChar char="»"/>
              <a:defRPr sz="1600"/>
            </a:lvl8pPr>
            <a:lvl9pPr indent="-330200" lvl="8" marL="4114800" algn="l">
              <a:lnSpc>
                <a:spcPct val="100000"/>
              </a:lnSpc>
              <a:spcBef>
                <a:spcPts val="320"/>
              </a:spcBef>
              <a:spcAft>
                <a:spcPts val="0"/>
              </a:spcAft>
              <a:buClr>
                <a:schemeClr val="dk1"/>
              </a:buClr>
              <a:buSzPts val="1600"/>
              <a:buFont typeface="Arial"/>
              <a:buChar char="»"/>
              <a:defRPr sz="1600"/>
            </a:lvl9pPr>
          </a:lstStyle>
          <a:p/>
        </p:txBody>
      </p:sp>
      <p:sp>
        <p:nvSpPr>
          <p:cNvPr id="44" name="Google Shape;44;p17"/>
          <p:cNvSpPr txBox="1"/>
          <p:nvPr>
            <p:ph idx="3" type="body"/>
          </p:nvPr>
        </p:nvSpPr>
        <p:spPr>
          <a:xfrm>
            <a:off x="6193368" y="1535113"/>
            <a:ext cx="5389033" cy="6397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80"/>
              </a:spcBef>
              <a:spcAft>
                <a:spcPts val="0"/>
              </a:spcAft>
              <a:buClr>
                <a:schemeClr val="dk1"/>
              </a:buClr>
              <a:buSzPts val="2400"/>
              <a:buFont typeface="Arial"/>
              <a:buNone/>
              <a:defRPr b="1" sz="2400"/>
            </a:lvl1pPr>
            <a:lvl2pPr indent="-228600" lvl="1" marL="914400" algn="l">
              <a:lnSpc>
                <a:spcPct val="100000"/>
              </a:lnSpc>
              <a:spcBef>
                <a:spcPts val="400"/>
              </a:spcBef>
              <a:spcAft>
                <a:spcPts val="0"/>
              </a:spcAft>
              <a:buClr>
                <a:schemeClr val="dk1"/>
              </a:buClr>
              <a:buSzPts val="2000"/>
              <a:buFont typeface="Arial"/>
              <a:buNone/>
              <a:defRPr b="1" sz="2000"/>
            </a:lvl2pPr>
            <a:lvl3pPr indent="-228600" lvl="2" marL="1371600" algn="l">
              <a:lnSpc>
                <a:spcPct val="100000"/>
              </a:lnSpc>
              <a:spcBef>
                <a:spcPts val="360"/>
              </a:spcBef>
              <a:spcAft>
                <a:spcPts val="0"/>
              </a:spcAft>
              <a:buClr>
                <a:schemeClr val="dk1"/>
              </a:buClr>
              <a:buSzPts val="1800"/>
              <a:buFont typeface="Arial"/>
              <a:buNone/>
              <a:defRPr b="1" sz="1800"/>
            </a:lvl3pPr>
            <a:lvl4pPr indent="-228600" lvl="3" marL="1828800" algn="l">
              <a:lnSpc>
                <a:spcPct val="100000"/>
              </a:lnSpc>
              <a:spcBef>
                <a:spcPts val="320"/>
              </a:spcBef>
              <a:spcAft>
                <a:spcPts val="0"/>
              </a:spcAft>
              <a:buClr>
                <a:schemeClr val="dk1"/>
              </a:buClr>
              <a:buSzPts val="1600"/>
              <a:buFont typeface="Arial"/>
              <a:buNone/>
              <a:defRPr b="1" sz="1600"/>
            </a:lvl4pPr>
            <a:lvl5pPr indent="-228600" lvl="4" marL="2286000" algn="l">
              <a:lnSpc>
                <a:spcPct val="100000"/>
              </a:lnSpc>
              <a:spcBef>
                <a:spcPts val="320"/>
              </a:spcBef>
              <a:spcAft>
                <a:spcPts val="0"/>
              </a:spcAft>
              <a:buClr>
                <a:schemeClr val="dk1"/>
              </a:buClr>
              <a:buSzPts val="1600"/>
              <a:buFont typeface="Arial"/>
              <a:buNone/>
              <a:defRPr b="1" sz="1600"/>
            </a:lvl5pPr>
            <a:lvl6pPr indent="-228600" lvl="5" marL="2743200" algn="l">
              <a:lnSpc>
                <a:spcPct val="100000"/>
              </a:lnSpc>
              <a:spcBef>
                <a:spcPts val="320"/>
              </a:spcBef>
              <a:spcAft>
                <a:spcPts val="0"/>
              </a:spcAft>
              <a:buClr>
                <a:schemeClr val="dk1"/>
              </a:buClr>
              <a:buSzPts val="1600"/>
              <a:buFont typeface="Arial"/>
              <a:buNone/>
              <a:defRPr b="1" sz="1600"/>
            </a:lvl6pPr>
            <a:lvl7pPr indent="-228600" lvl="6" marL="3200400" algn="l">
              <a:lnSpc>
                <a:spcPct val="100000"/>
              </a:lnSpc>
              <a:spcBef>
                <a:spcPts val="320"/>
              </a:spcBef>
              <a:spcAft>
                <a:spcPts val="0"/>
              </a:spcAft>
              <a:buClr>
                <a:schemeClr val="dk1"/>
              </a:buClr>
              <a:buSzPts val="1600"/>
              <a:buFont typeface="Arial"/>
              <a:buNone/>
              <a:defRPr b="1" sz="1600"/>
            </a:lvl7pPr>
            <a:lvl8pPr indent="-228600" lvl="7" marL="3657600" algn="l">
              <a:lnSpc>
                <a:spcPct val="100000"/>
              </a:lnSpc>
              <a:spcBef>
                <a:spcPts val="320"/>
              </a:spcBef>
              <a:spcAft>
                <a:spcPts val="0"/>
              </a:spcAft>
              <a:buClr>
                <a:schemeClr val="dk1"/>
              </a:buClr>
              <a:buSzPts val="1600"/>
              <a:buFont typeface="Arial"/>
              <a:buNone/>
              <a:defRPr b="1" sz="1600"/>
            </a:lvl8pPr>
            <a:lvl9pPr indent="-228600" lvl="8" marL="4114800" algn="l">
              <a:lnSpc>
                <a:spcPct val="100000"/>
              </a:lnSpc>
              <a:spcBef>
                <a:spcPts val="320"/>
              </a:spcBef>
              <a:spcAft>
                <a:spcPts val="0"/>
              </a:spcAft>
              <a:buClr>
                <a:schemeClr val="dk1"/>
              </a:buClr>
              <a:buSzPts val="1600"/>
              <a:buFont typeface="Arial"/>
              <a:buNone/>
              <a:defRPr b="1" sz="1600"/>
            </a:lvl9pPr>
          </a:lstStyle>
          <a:p/>
        </p:txBody>
      </p:sp>
      <p:sp>
        <p:nvSpPr>
          <p:cNvPr id="45" name="Google Shape;45;p17"/>
          <p:cNvSpPr txBox="1"/>
          <p:nvPr>
            <p:ph idx="4" type="body"/>
          </p:nvPr>
        </p:nvSpPr>
        <p:spPr>
          <a:xfrm>
            <a:off x="6193368" y="2174875"/>
            <a:ext cx="5389033" cy="3951288"/>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480"/>
              </a:spcBef>
              <a:spcAft>
                <a:spcPts val="0"/>
              </a:spcAft>
              <a:buClr>
                <a:schemeClr val="dk1"/>
              </a:buClr>
              <a:buSzPts val="2400"/>
              <a:buFont typeface="Arial"/>
              <a:buChar char="•"/>
              <a:defRPr sz="2400"/>
            </a:lvl1pPr>
            <a:lvl2pPr indent="-355600" lvl="1" marL="914400" algn="l">
              <a:lnSpc>
                <a:spcPct val="100000"/>
              </a:lnSpc>
              <a:spcBef>
                <a:spcPts val="400"/>
              </a:spcBef>
              <a:spcAft>
                <a:spcPts val="0"/>
              </a:spcAft>
              <a:buClr>
                <a:schemeClr val="dk1"/>
              </a:buClr>
              <a:buSzPts val="2000"/>
              <a:buFont typeface="Arial"/>
              <a:buChar char="–"/>
              <a:defRPr sz="2000"/>
            </a:lvl2pPr>
            <a:lvl3pPr indent="-342900" lvl="2" marL="1371600" algn="l">
              <a:lnSpc>
                <a:spcPct val="100000"/>
              </a:lnSpc>
              <a:spcBef>
                <a:spcPts val="360"/>
              </a:spcBef>
              <a:spcAft>
                <a:spcPts val="0"/>
              </a:spcAft>
              <a:buClr>
                <a:schemeClr val="dk1"/>
              </a:buClr>
              <a:buSzPts val="1800"/>
              <a:buFont typeface="Arial"/>
              <a:buChar char="•"/>
              <a:defRPr sz="1800"/>
            </a:lvl3pPr>
            <a:lvl4pPr indent="-330200" lvl="3" marL="1828800" algn="l">
              <a:lnSpc>
                <a:spcPct val="100000"/>
              </a:lnSpc>
              <a:spcBef>
                <a:spcPts val="320"/>
              </a:spcBef>
              <a:spcAft>
                <a:spcPts val="0"/>
              </a:spcAft>
              <a:buClr>
                <a:schemeClr val="dk1"/>
              </a:buClr>
              <a:buSzPts val="1600"/>
              <a:buFont typeface="Arial"/>
              <a:buChar char="–"/>
              <a:defRPr sz="1600"/>
            </a:lvl4pPr>
            <a:lvl5pPr indent="-330200" lvl="4" marL="2286000" algn="l">
              <a:lnSpc>
                <a:spcPct val="100000"/>
              </a:lnSpc>
              <a:spcBef>
                <a:spcPts val="320"/>
              </a:spcBef>
              <a:spcAft>
                <a:spcPts val="0"/>
              </a:spcAft>
              <a:buClr>
                <a:schemeClr val="dk1"/>
              </a:buClr>
              <a:buSzPts val="1600"/>
              <a:buFont typeface="Arial"/>
              <a:buChar char="»"/>
              <a:defRPr sz="1600"/>
            </a:lvl5pPr>
            <a:lvl6pPr indent="-330200" lvl="5" marL="2743200" algn="l">
              <a:lnSpc>
                <a:spcPct val="100000"/>
              </a:lnSpc>
              <a:spcBef>
                <a:spcPts val="320"/>
              </a:spcBef>
              <a:spcAft>
                <a:spcPts val="0"/>
              </a:spcAft>
              <a:buClr>
                <a:schemeClr val="dk1"/>
              </a:buClr>
              <a:buSzPts val="1600"/>
              <a:buFont typeface="Arial"/>
              <a:buChar char="»"/>
              <a:defRPr sz="1600"/>
            </a:lvl6pPr>
            <a:lvl7pPr indent="-330200" lvl="6" marL="3200400" algn="l">
              <a:lnSpc>
                <a:spcPct val="100000"/>
              </a:lnSpc>
              <a:spcBef>
                <a:spcPts val="320"/>
              </a:spcBef>
              <a:spcAft>
                <a:spcPts val="0"/>
              </a:spcAft>
              <a:buClr>
                <a:schemeClr val="dk1"/>
              </a:buClr>
              <a:buSzPts val="1600"/>
              <a:buFont typeface="Arial"/>
              <a:buChar char="»"/>
              <a:defRPr sz="1600"/>
            </a:lvl7pPr>
            <a:lvl8pPr indent="-330200" lvl="7" marL="3657600" algn="l">
              <a:lnSpc>
                <a:spcPct val="100000"/>
              </a:lnSpc>
              <a:spcBef>
                <a:spcPts val="320"/>
              </a:spcBef>
              <a:spcAft>
                <a:spcPts val="0"/>
              </a:spcAft>
              <a:buClr>
                <a:schemeClr val="dk1"/>
              </a:buClr>
              <a:buSzPts val="1600"/>
              <a:buFont typeface="Arial"/>
              <a:buChar char="»"/>
              <a:defRPr sz="1600"/>
            </a:lvl8pPr>
            <a:lvl9pPr indent="-330200" lvl="8" marL="4114800" algn="l">
              <a:lnSpc>
                <a:spcPct val="100000"/>
              </a:lnSpc>
              <a:spcBef>
                <a:spcPts val="320"/>
              </a:spcBef>
              <a:spcAft>
                <a:spcPts val="0"/>
              </a:spcAft>
              <a:buClr>
                <a:schemeClr val="dk1"/>
              </a:buClr>
              <a:buSzPts val="1600"/>
              <a:buFont typeface="Arial"/>
              <a:buChar char="»"/>
              <a:defRPr sz="1600"/>
            </a:lvl9pPr>
          </a:lstStyle>
          <a:p/>
        </p:txBody>
      </p:sp>
      <p:sp>
        <p:nvSpPr>
          <p:cNvPr id="46" name="Google Shape;46;p17"/>
          <p:cNvSpPr txBox="1"/>
          <p:nvPr>
            <p:ph idx="10" type="dt"/>
          </p:nvPr>
        </p:nvSpPr>
        <p:spPr>
          <a:xfrm>
            <a:off x="609600" y="6245225"/>
            <a:ext cx="28448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17"/>
          <p:cNvSpPr txBox="1"/>
          <p:nvPr>
            <p:ph idx="11" type="ftr"/>
          </p:nvPr>
        </p:nvSpPr>
        <p:spPr>
          <a:xfrm>
            <a:off x="4165600" y="6245225"/>
            <a:ext cx="3860800" cy="4762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17"/>
          <p:cNvSpPr txBox="1"/>
          <p:nvPr>
            <p:ph idx="12" type="sldNum"/>
          </p:nvPr>
        </p:nvSpPr>
        <p:spPr>
          <a:xfrm>
            <a:off x="11482808" y="6245225"/>
            <a:ext cx="44584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rgbClr val="C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rgbClr val="C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rgbClr val="C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rgbClr val="C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rgbClr val="C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rgbClr val="C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rgbClr val="C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rgbClr val="C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rgbClr val="C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18"/>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1" name="Google Shape;51;p18"/>
          <p:cNvSpPr txBox="1"/>
          <p:nvPr>
            <p:ph idx="10" type="dt"/>
          </p:nvPr>
        </p:nvSpPr>
        <p:spPr>
          <a:xfrm>
            <a:off x="609600" y="6245225"/>
            <a:ext cx="28448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8"/>
          <p:cNvSpPr txBox="1"/>
          <p:nvPr>
            <p:ph idx="11" type="ftr"/>
          </p:nvPr>
        </p:nvSpPr>
        <p:spPr>
          <a:xfrm>
            <a:off x="4165600" y="6245225"/>
            <a:ext cx="3860800" cy="4762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8"/>
          <p:cNvSpPr txBox="1"/>
          <p:nvPr>
            <p:ph idx="12" type="sldNum"/>
          </p:nvPr>
        </p:nvSpPr>
        <p:spPr>
          <a:xfrm>
            <a:off x="11482808" y="6245225"/>
            <a:ext cx="44584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rgbClr val="C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rgbClr val="C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rgbClr val="C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rgbClr val="C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rgbClr val="C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rgbClr val="C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rgbClr val="C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rgbClr val="C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rgbClr val="C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19"/>
          <p:cNvSpPr txBox="1"/>
          <p:nvPr>
            <p:ph idx="10" type="dt"/>
          </p:nvPr>
        </p:nvSpPr>
        <p:spPr>
          <a:xfrm>
            <a:off x="609600" y="6245225"/>
            <a:ext cx="28448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19"/>
          <p:cNvSpPr txBox="1"/>
          <p:nvPr>
            <p:ph idx="11" type="ftr"/>
          </p:nvPr>
        </p:nvSpPr>
        <p:spPr>
          <a:xfrm>
            <a:off x="4165600" y="6245225"/>
            <a:ext cx="3860800" cy="4762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19"/>
          <p:cNvSpPr txBox="1"/>
          <p:nvPr>
            <p:ph idx="12" type="sldNum"/>
          </p:nvPr>
        </p:nvSpPr>
        <p:spPr>
          <a:xfrm>
            <a:off x="11482808" y="6245225"/>
            <a:ext cx="44584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rgbClr val="C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rgbClr val="C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rgbClr val="C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rgbClr val="C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rgbClr val="C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rgbClr val="C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rgbClr val="C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rgbClr val="C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rgbClr val="C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0"/>
          <p:cNvSpPr txBox="1"/>
          <p:nvPr>
            <p:ph type="title"/>
          </p:nvPr>
        </p:nvSpPr>
        <p:spPr>
          <a:xfrm>
            <a:off x="609601" y="273050"/>
            <a:ext cx="4011084" cy="116205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b="1" sz="20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60" name="Google Shape;60;p20"/>
          <p:cNvSpPr txBox="1"/>
          <p:nvPr>
            <p:ph idx="1" type="body"/>
          </p:nvPr>
        </p:nvSpPr>
        <p:spPr>
          <a:xfrm>
            <a:off x="4766733" y="273051"/>
            <a:ext cx="6815667" cy="5853113"/>
          </a:xfrm>
          <a:prstGeom prst="rect">
            <a:avLst/>
          </a:prstGeom>
          <a:noFill/>
          <a:ln>
            <a:noFill/>
          </a:ln>
        </p:spPr>
        <p:txBody>
          <a:bodyPr anchorCtr="0" anchor="t" bIns="45700" lIns="91425" spcFirstLastPara="1" rIns="91425" wrap="square" tIns="45700">
            <a:noAutofit/>
          </a:bodyPr>
          <a:lstStyle>
            <a:lvl1pPr indent="-431800" lvl="0" marL="457200" algn="l">
              <a:lnSpc>
                <a:spcPct val="100000"/>
              </a:lnSpc>
              <a:spcBef>
                <a:spcPts val="640"/>
              </a:spcBef>
              <a:spcAft>
                <a:spcPts val="0"/>
              </a:spcAft>
              <a:buClr>
                <a:schemeClr val="dk1"/>
              </a:buClr>
              <a:buSzPts val="3200"/>
              <a:buFont typeface="Arial"/>
              <a:buChar char="•"/>
              <a:defRPr sz="3200"/>
            </a:lvl1pPr>
            <a:lvl2pPr indent="-406400" lvl="1" marL="914400" algn="l">
              <a:lnSpc>
                <a:spcPct val="100000"/>
              </a:lnSpc>
              <a:spcBef>
                <a:spcPts val="560"/>
              </a:spcBef>
              <a:spcAft>
                <a:spcPts val="0"/>
              </a:spcAft>
              <a:buClr>
                <a:schemeClr val="dk1"/>
              </a:buClr>
              <a:buSzPts val="2800"/>
              <a:buFont typeface="Arial"/>
              <a:buChar char="–"/>
              <a:defRPr sz="2800"/>
            </a:lvl2pPr>
            <a:lvl3pPr indent="-381000" lvl="2" marL="1371600" algn="l">
              <a:lnSpc>
                <a:spcPct val="100000"/>
              </a:lnSpc>
              <a:spcBef>
                <a:spcPts val="480"/>
              </a:spcBef>
              <a:spcAft>
                <a:spcPts val="0"/>
              </a:spcAft>
              <a:buClr>
                <a:schemeClr val="dk1"/>
              </a:buClr>
              <a:buSzPts val="2400"/>
              <a:buFont typeface="Arial"/>
              <a:buChar char="•"/>
              <a:defRPr sz="2400"/>
            </a:lvl3pPr>
            <a:lvl4pPr indent="-355600" lvl="3" marL="1828800" algn="l">
              <a:lnSpc>
                <a:spcPct val="100000"/>
              </a:lnSpc>
              <a:spcBef>
                <a:spcPts val="400"/>
              </a:spcBef>
              <a:spcAft>
                <a:spcPts val="0"/>
              </a:spcAft>
              <a:buClr>
                <a:schemeClr val="dk1"/>
              </a:buClr>
              <a:buSzPts val="2000"/>
              <a:buFont typeface="Arial"/>
              <a:buChar char="–"/>
              <a:defRPr sz="2000"/>
            </a:lvl4pPr>
            <a:lvl5pPr indent="-355600" lvl="4" marL="2286000" algn="l">
              <a:lnSpc>
                <a:spcPct val="100000"/>
              </a:lnSpc>
              <a:spcBef>
                <a:spcPts val="400"/>
              </a:spcBef>
              <a:spcAft>
                <a:spcPts val="0"/>
              </a:spcAft>
              <a:buClr>
                <a:schemeClr val="dk1"/>
              </a:buClr>
              <a:buSzPts val="2000"/>
              <a:buFont typeface="Arial"/>
              <a:buChar char="»"/>
              <a:defRPr sz="2000"/>
            </a:lvl5pPr>
            <a:lvl6pPr indent="-355600" lvl="5" marL="2743200" algn="l">
              <a:lnSpc>
                <a:spcPct val="100000"/>
              </a:lnSpc>
              <a:spcBef>
                <a:spcPts val="400"/>
              </a:spcBef>
              <a:spcAft>
                <a:spcPts val="0"/>
              </a:spcAft>
              <a:buClr>
                <a:schemeClr val="dk1"/>
              </a:buClr>
              <a:buSzPts val="2000"/>
              <a:buFont typeface="Arial"/>
              <a:buChar char="»"/>
              <a:defRPr sz="2000"/>
            </a:lvl6pPr>
            <a:lvl7pPr indent="-355600" lvl="6" marL="3200400" algn="l">
              <a:lnSpc>
                <a:spcPct val="100000"/>
              </a:lnSpc>
              <a:spcBef>
                <a:spcPts val="400"/>
              </a:spcBef>
              <a:spcAft>
                <a:spcPts val="0"/>
              </a:spcAft>
              <a:buClr>
                <a:schemeClr val="dk1"/>
              </a:buClr>
              <a:buSzPts val="2000"/>
              <a:buFont typeface="Arial"/>
              <a:buChar char="»"/>
              <a:defRPr sz="2000"/>
            </a:lvl7pPr>
            <a:lvl8pPr indent="-355600" lvl="7" marL="3657600" algn="l">
              <a:lnSpc>
                <a:spcPct val="100000"/>
              </a:lnSpc>
              <a:spcBef>
                <a:spcPts val="400"/>
              </a:spcBef>
              <a:spcAft>
                <a:spcPts val="0"/>
              </a:spcAft>
              <a:buClr>
                <a:schemeClr val="dk1"/>
              </a:buClr>
              <a:buSzPts val="2000"/>
              <a:buFont typeface="Arial"/>
              <a:buChar char="»"/>
              <a:defRPr sz="2000"/>
            </a:lvl8pPr>
            <a:lvl9pPr indent="-355600" lvl="8" marL="4114800" algn="l">
              <a:lnSpc>
                <a:spcPct val="100000"/>
              </a:lnSpc>
              <a:spcBef>
                <a:spcPts val="400"/>
              </a:spcBef>
              <a:spcAft>
                <a:spcPts val="0"/>
              </a:spcAft>
              <a:buClr>
                <a:schemeClr val="dk1"/>
              </a:buClr>
              <a:buSzPts val="2000"/>
              <a:buFont typeface="Arial"/>
              <a:buChar char="»"/>
              <a:defRPr sz="2000"/>
            </a:lvl9pPr>
          </a:lstStyle>
          <a:p/>
        </p:txBody>
      </p:sp>
      <p:sp>
        <p:nvSpPr>
          <p:cNvPr id="61" name="Google Shape;61;p20"/>
          <p:cNvSpPr txBox="1"/>
          <p:nvPr>
            <p:ph idx="2" type="body"/>
          </p:nvPr>
        </p:nvSpPr>
        <p:spPr>
          <a:xfrm>
            <a:off x="609601" y="1435101"/>
            <a:ext cx="4011084" cy="4691063"/>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280"/>
              </a:spcBef>
              <a:spcAft>
                <a:spcPts val="0"/>
              </a:spcAft>
              <a:buClr>
                <a:schemeClr val="dk1"/>
              </a:buClr>
              <a:buSzPts val="1400"/>
              <a:buFont typeface="Arial"/>
              <a:buNone/>
              <a:defRPr sz="1400"/>
            </a:lvl1pPr>
            <a:lvl2pPr indent="-228600" lvl="1" marL="914400" algn="l">
              <a:lnSpc>
                <a:spcPct val="100000"/>
              </a:lnSpc>
              <a:spcBef>
                <a:spcPts val="240"/>
              </a:spcBef>
              <a:spcAft>
                <a:spcPts val="0"/>
              </a:spcAft>
              <a:buClr>
                <a:schemeClr val="dk1"/>
              </a:buClr>
              <a:buSzPts val="1200"/>
              <a:buFont typeface="Arial"/>
              <a:buNone/>
              <a:defRPr sz="1200"/>
            </a:lvl2pPr>
            <a:lvl3pPr indent="-228600" lvl="2" marL="1371600" algn="l">
              <a:lnSpc>
                <a:spcPct val="100000"/>
              </a:lnSpc>
              <a:spcBef>
                <a:spcPts val="200"/>
              </a:spcBef>
              <a:spcAft>
                <a:spcPts val="0"/>
              </a:spcAft>
              <a:buClr>
                <a:schemeClr val="dk1"/>
              </a:buClr>
              <a:buSzPts val="1000"/>
              <a:buFont typeface="Arial"/>
              <a:buNone/>
              <a:defRPr sz="1000"/>
            </a:lvl3pPr>
            <a:lvl4pPr indent="-228600" lvl="3" marL="1828800" algn="l">
              <a:lnSpc>
                <a:spcPct val="100000"/>
              </a:lnSpc>
              <a:spcBef>
                <a:spcPts val="180"/>
              </a:spcBef>
              <a:spcAft>
                <a:spcPts val="0"/>
              </a:spcAft>
              <a:buClr>
                <a:schemeClr val="dk1"/>
              </a:buClr>
              <a:buSzPts val="900"/>
              <a:buFont typeface="Arial"/>
              <a:buNone/>
              <a:defRPr sz="900"/>
            </a:lvl4pPr>
            <a:lvl5pPr indent="-228600" lvl="4" marL="2286000" algn="l">
              <a:lnSpc>
                <a:spcPct val="100000"/>
              </a:lnSpc>
              <a:spcBef>
                <a:spcPts val="180"/>
              </a:spcBef>
              <a:spcAft>
                <a:spcPts val="0"/>
              </a:spcAft>
              <a:buClr>
                <a:schemeClr val="dk1"/>
              </a:buClr>
              <a:buSzPts val="900"/>
              <a:buFont typeface="Arial"/>
              <a:buNone/>
              <a:defRPr sz="900"/>
            </a:lvl5pPr>
            <a:lvl6pPr indent="-228600" lvl="5" marL="2743200" algn="l">
              <a:lnSpc>
                <a:spcPct val="100000"/>
              </a:lnSpc>
              <a:spcBef>
                <a:spcPts val="180"/>
              </a:spcBef>
              <a:spcAft>
                <a:spcPts val="0"/>
              </a:spcAft>
              <a:buClr>
                <a:schemeClr val="dk1"/>
              </a:buClr>
              <a:buSzPts val="900"/>
              <a:buFont typeface="Arial"/>
              <a:buNone/>
              <a:defRPr sz="900"/>
            </a:lvl6pPr>
            <a:lvl7pPr indent="-228600" lvl="6" marL="3200400" algn="l">
              <a:lnSpc>
                <a:spcPct val="100000"/>
              </a:lnSpc>
              <a:spcBef>
                <a:spcPts val="180"/>
              </a:spcBef>
              <a:spcAft>
                <a:spcPts val="0"/>
              </a:spcAft>
              <a:buClr>
                <a:schemeClr val="dk1"/>
              </a:buClr>
              <a:buSzPts val="900"/>
              <a:buFont typeface="Arial"/>
              <a:buNone/>
              <a:defRPr sz="900"/>
            </a:lvl7pPr>
            <a:lvl8pPr indent="-228600" lvl="7" marL="3657600" algn="l">
              <a:lnSpc>
                <a:spcPct val="100000"/>
              </a:lnSpc>
              <a:spcBef>
                <a:spcPts val="180"/>
              </a:spcBef>
              <a:spcAft>
                <a:spcPts val="0"/>
              </a:spcAft>
              <a:buClr>
                <a:schemeClr val="dk1"/>
              </a:buClr>
              <a:buSzPts val="900"/>
              <a:buFont typeface="Arial"/>
              <a:buNone/>
              <a:defRPr sz="900"/>
            </a:lvl8pPr>
            <a:lvl9pPr indent="-228600" lvl="8" marL="4114800" algn="l">
              <a:lnSpc>
                <a:spcPct val="100000"/>
              </a:lnSpc>
              <a:spcBef>
                <a:spcPts val="180"/>
              </a:spcBef>
              <a:spcAft>
                <a:spcPts val="0"/>
              </a:spcAft>
              <a:buClr>
                <a:schemeClr val="dk1"/>
              </a:buClr>
              <a:buSzPts val="900"/>
              <a:buFont typeface="Arial"/>
              <a:buNone/>
              <a:defRPr sz="900"/>
            </a:lvl9pPr>
          </a:lstStyle>
          <a:p/>
        </p:txBody>
      </p:sp>
      <p:sp>
        <p:nvSpPr>
          <p:cNvPr id="62" name="Google Shape;62;p20"/>
          <p:cNvSpPr txBox="1"/>
          <p:nvPr>
            <p:ph idx="10" type="dt"/>
          </p:nvPr>
        </p:nvSpPr>
        <p:spPr>
          <a:xfrm>
            <a:off x="609600" y="6245225"/>
            <a:ext cx="28448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0"/>
          <p:cNvSpPr txBox="1"/>
          <p:nvPr>
            <p:ph idx="11" type="ftr"/>
          </p:nvPr>
        </p:nvSpPr>
        <p:spPr>
          <a:xfrm>
            <a:off x="4165600" y="6245225"/>
            <a:ext cx="3860800" cy="4762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0"/>
          <p:cNvSpPr txBox="1"/>
          <p:nvPr>
            <p:ph idx="12" type="sldNum"/>
          </p:nvPr>
        </p:nvSpPr>
        <p:spPr>
          <a:xfrm>
            <a:off x="11482808" y="6245225"/>
            <a:ext cx="44584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rgbClr val="C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rgbClr val="C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rgbClr val="C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rgbClr val="C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rgbClr val="C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rgbClr val="C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rgbClr val="C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rgbClr val="C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rgbClr val="C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1"/>
          <p:cNvSpPr txBox="1"/>
          <p:nvPr>
            <p:ph type="title"/>
          </p:nvPr>
        </p:nvSpPr>
        <p:spPr>
          <a:xfrm>
            <a:off x="2389717" y="4800600"/>
            <a:ext cx="7315200" cy="566738"/>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b="1" sz="20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67" name="Google Shape;67;p21"/>
          <p:cNvSpPr/>
          <p:nvPr>
            <p:ph idx="2" type="pic"/>
          </p:nvPr>
        </p:nvSpPr>
        <p:spPr>
          <a:xfrm>
            <a:off x="2389717" y="612775"/>
            <a:ext cx="7315200" cy="4114800"/>
          </a:xfrm>
          <a:prstGeom prst="rect">
            <a:avLst/>
          </a:prstGeom>
          <a:noFill/>
          <a:ln>
            <a:noFill/>
          </a:ln>
        </p:spPr>
      </p:sp>
      <p:sp>
        <p:nvSpPr>
          <p:cNvPr id="68" name="Google Shape;68;p21"/>
          <p:cNvSpPr txBox="1"/>
          <p:nvPr>
            <p:ph idx="1" type="body"/>
          </p:nvPr>
        </p:nvSpPr>
        <p:spPr>
          <a:xfrm>
            <a:off x="2389717" y="5367338"/>
            <a:ext cx="7315200" cy="804862"/>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280"/>
              </a:spcBef>
              <a:spcAft>
                <a:spcPts val="0"/>
              </a:spcAft>
              <a:buClr>
                <a:schemeClr val="dk1"/>
              </a:buClr>
              <a:buSzPts val="1400"/>
              <a:buFont typeface="Arial"/>
              <a:buNone/>
              <a:defRPr sz="1400"/>
            </a:lvl1pPr>
            <a:lvl2pPr indent="-228600" lvl="1" marL="914400" algn="l">
              <a:lnSpc>
                <a:spcPct val="100000"/>
              </a:lnSpc>
              <a:spcBef>
                <a:spcPts val="240"/>
              </a:spcBef>
              <a:spcAft>
                <a:spcPts val="0"/>
              </a:spcAft>
              <a:buClr>
                <a:schemeClr val="dk1"/>
              </a:buClr>
              <a:buSzPts val="1200"/>
              <a:buFont typeface="Arial"/>
              <a:buNone/>
              <a:defRPr sz="1200"/>
            </a:lvl2pPr>
            <a:lvl3pPr indent="-228600" lvl="2" marL="1371600" algn="l">
              <a:lnSpc>
                <a:spcPct val="100000"/>
              </a:lnSpc>
              <a:spcBef>
                <a:spcPts val="200"/>
              </a:spcBef>
              <a:spcAft>
                <a:spcPts val="0"/>
              </a:spcAft>
              <a:buClr>
                <a:schemeClr val="dk1"/>
              </a:buClr>
              <a:buSzPts val="1000"/>
              <a:buFont typeface="Arial"/>
              <a:buNone/>
              <a:defRPr sz="1000"/>
            </a:lvl3pPr>
            <a:lvl4pPr indent="-228600" lvl="3" marL="1828800" algn="l">
              <a:lnSpc>
                <a:spcPct val="100000"/>
              </a:lnSpc>
              <a:spcBef>
                <a:spcPts val="180"/>
              </a:spcBef>
              <a:spcAft>
                <a:spcPts val="0"/>
              </a:spcAft>
              <a:buClr>
                <a:schemeClr val="dk1"/>
              </a:buClr>
              <a:buSzPts val="900"/>
              <a:buFont typeface="Arial"/>
              <a:buNone/>
              <a:defRPr sz="900"/>
            </a:lvl4pPr>
            <a:lvl5pPr indent="-228600" lvl="4" marL="2286000" algn="l">
              <a:lnSpc>
                <a:spcPct val="100000"/>
              </a:lnSpc>
              <a:spcBef>
                <a:spcPts val="180"/>
              </a:spcBef>
              <a:spcAft>
                <a:spcPts val="0"/>
              </a:spcAft>
              <a:buClr>
                <a:schemeClr val="dk1"/>
              </a:buClr>
              <a:buSzPts val="900"/>
              <a:buFont typeface="Arial"/>
              <a:buNone/>
              <a:defRPr sz="900"/>
            </a:lvl5pPr>
            <a:lvl6pPr indent="-228600" lvl="5" marL="2743200" algn="l">
              <a:lnSpc>
                <a:spcPct val="100000"/>
              </a:lnSpc>
              <a:spcBef>
                <a:spcPts val="180"/>
              </a:spcBef>
              <a:spcAft>
                <a:spcPts val="0"/>
              </a:spcAft>
              <a:buClr>
                <a:schemeClr val="dk1"/>
              </a:buClr>
              <a:buSzPts val="900"/>
              <a:buFont typeface="Arial"/>
              <a:buNone/>
              <a:defRPr sz="900"/>
            </a:lvl6pPr>
            <a:lvl7pPr indent="-228600" lvl="6" marL="3200400" algn="l">
              <a:lnSpc>
                <a:spcPct val="100000"/>
              </a:lnSpc>
              <a:spcBef>
                <a:spcPts val="180"/>
              </a:spcBef>
              <a:spcAft>
                <a:spcPts val="0"/>
              </a:spcAft>
              <a:buClr>
                <a:schemeClr val="dk1"/>
              </a:buClr>
              <a:buSzPts val="900"/>
              <a:buFont typeface="Arial"/>
              <a:buNone/>
              <a:defRPr sz="900"/>
            </a:lvl7pPr>
            <a:lvl8pPr indent="-228600" lvl="7" marL="3657600" algn="l">
              <a:lnSpc>
                <a:spcPct val="100000"/>
              </a:lnSpc>
              <a:spcBef>
                <a:spcPts val="180"/>
              </a:spcBef>
              <a:spcAft>
                <a:spcPts val="0"/>
              </a:spcAft>
              <a:buClr>
                <a:schemeClr val="dk1"/>
              </a:buClr>
              <a:buSzPts val="900"/>
              <a:buFont typeface="Arial"/>
              <a:buNone/>
              <a:defRPr sz="900"/>
            </a:lvl8pPr>
            <a:lvl9pPr indent="-228600" lvl="8" marL="4114800" algn="l">
              <a:lnSpc>
                <a:spcPct val="100000"/>
              </a:lnSpc>
              <a:spcBef>
                <a:spcPts val="180"/>
              </a:spcBef>
              <a:spcAft>
                <a:spcPts val="0"/>
              </a:spcAft>
              <a:buClr>
                <a:schemeClr val="dk1"/>
              </a:buClr>
              <a:buSzPts val="900"/>
              <a:buFont typeface="Arial"/>
              <a:buNone/>
              <a:defRPr sz="900"/>
            </a:lvl9pPr>
          </a:lstStyle>
          <a:p/>
        </p:txBody>
      </p:sp>
      <p:sp>
        <p:nvSpPr>
          <p:cNvPr id="69" name="Google Shape;69;p21"/>
          <p:cNvSpPr txBox="1"/>
          <p:nvPr>
            <p:ph idx="10" type="dt"/>
          </p:nvPr>
        </p:nvSpPr>
        <p:spPr>
          <a:xfrm>
            <a:off x="609600" y="6245225"/>
            <a:ext cx="28448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1"/>
          <p:cNvSpPr txBox="1"/>
          <p:nvPr>
            <p:ph idx="11" type="ftr"/>
          </p:nvPr>
        </p:nvSpPr>
        <p:spPr>
          <a:xfrm>
            <a:off x="4165600" y="6245225"/>
            <a:ext cx="3860800" cy="4762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1"/>
          <p:cNvSpPr txBox="1"/>
          <p:nvPr>
            <p:ph idx="12" type="sldNum"/>
          </p:nvPr>
        </p:nvSpPr>
        <p:spPr>
          <a:xfrm>
            <a:off x="11482808" y="6245225"/>
            <a:ext cx="44584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rgbClr val="C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rgbClr val="C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rgbClr val="C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rgbClr val="C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rgbClr val="C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rgbClr val="C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rgbClr val="C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rgbClr val="C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rgbClr val="C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2"/>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4" name="Google Shape;74;p22"/>
          <p:cNvSpPr txBox="1"/>
          <p:nvPr>
            <p:ph idx="1" type="body"/>
          </p:nvPr>
        </p:nvSpPr>
        <p:spPr>
          <a:xfrm rot="5400000">
            <a:off x="3833019" y="-1623218"/>
            <a:ext cx="4525963" cy="109728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22"/>
          <p:cNvSpPr txBox="1"/>
          <p:nvPr>
            <p:ph idx="10" type="dt"/>
          </p:nvPr>
        </p:nvSpPr>
        <p:spPr>
          <a:xfrm>
            <a:off x="609600" y="6245225"/>
            <a:ext cx="28448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2"/>
          <p:cNvSpPr txBox="1"/>
          <p:nvPr>
            <p:ph idx="11" type="ftr"/>
          </p:nvPr>
        </p:nvSpPr>
        <p:spPr>
          <a:xfrm>
            <a:off x="4165600" y="6245225"/>
            <a:ext cx="3860800" cy="4762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2"/>
          <p:cNvSpPr txBox="1"/>
          <p:nvPr>
            <p:ph idx="12" type="sldNum"/>
          </p:nvPr>
        </p:nvSpPr>
        <p:spPr>
          <a:xfrm>
            <a:off x="11482808" y="6245225"/>
            <a:ext cx="44584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rgbClr val="C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rgbClr val="C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rgbClr val="C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rgbClr val="C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rgbClr val="C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rgbClr val="C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rgbClr val="C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rgbClr val="C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rgbClr val="C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3"/>
          <p:cNvSpPr txBox="1"/>
          <p:nvPr>
            <p:ph type="title"/>
          </p:nvPr>
        </p:nvSpPr>
        <p:spPr>
          <a:xfrm rot="5400000">
            <a:off x="7285038" y="1828802"/>
            <a:ext cx="5851525" cy="27432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80" name="Google Shape;80;p23"/>
          <p:cNvSpPr txBox="1"/>
          <p:nvPr>
            <p:ph idx="1" type="body"/>
          </p:nvPr>
        </p:nvSpPr>
        <p:spPr>
          <a:xfrm rot="5400000">
            <a:off x="1697038" y="-812799"/>
            <a:ext cx="5851525" cy="80264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23"/>
          <p:cNvSpPr txBox="1"/>
          <p:nvPr>
            <p:ph idx="10" type="dt"/>
          </p:nvPr>
        </p:nvSpPr>
        <p:spPr>
          <a:xfrm>
            <a:off x="609600" y="6245225"/>
            <a:ext cx="28448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3"/>
          <p:cNvSpPr txBox="1"/>
          <p:nvPr>
            <p:ph idx="11" type="ftr"/>
          </p:nvPr>
        </p:nvSpPr>
        <p:spPr>
          <a:xfrm>
            <a:off x="4165600" y="6245225"/>
            <a:ext cx="3860800" cy="4762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3"/>
          <p:cNvSpPr txBox="1"/>
          <p:nvPr>
            <p:ph idx="12" type="sldNum"/>
          </p:nvPr>
        </p:nvSpPr>
        <p:spPr>
          <a:xfrm>
            <a:off x="11482808" y="6245225"/>
            <a:ext cx="44584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rgbClr val="C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rgbClr val="C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rgbClr val="C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rgbClr val="C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rgbClr val="C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rgbClr val="C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rgbClr val="C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rgbClr val="C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rgbClr val="C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2"/>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4400" u="none" cap="none" strike="noStrike">
                <a:solidFill>
                  <a:schemeClr val="dk2"/>
                </a:solidFill>
                <a:latin typeface="Arial"/>
                <a:ea typeface="Arial"/>
                <a:cs typeface="Arial"/>
                <a:sym typeface="Arial"/>
              </a:defRPr>
            </a:lvl1pPr>
            <a:lvl2pPr lvl="1" marR="0" rtl="0" algn="ctr">
              <a:lnSpc>
                <a:spcPct val="100000"/>
              </a:lnSpc>
              <a:spcBef>
                <a:spcPts val="0"/>
              </a:spcBef>
              <a:spcAft>
                <a:spcPts val="0"/>
              </a:spcAft>
              <a:buClr>
                <a:srgbClr val="000000"/>
              </a:buClr>
              <a:buSzPts val="1400"/>
              <a:buFont typeface="Arial"/>
              <a:buNone/>
              <a:defRPr b="0" i="0" sz="4400" u="none" cap="none" strike="noStrike">
                <a:solidFill>
                  <a:schemeClr val="dk2"/>
                </a:solidFill>
                <a:latin typeface="Arial"/>
                <a:ea typeface="Arial"/>
                <a:cs typeface="Arial"/>
                <a:sym typeface="Arial"/>
              </a:defRPr>
            </a:lvl2pPr>
            <a:lvl3pPr lvl="2" marR="0" rtl="0" algn="ctr">
              <a:lnSpc>
                <a:spcPct val="100000"/>
              </a:lnSpc>
              <a:spcBef>
                <a:spcPts val="0"/>
              </a:spcBef>
              <a:spcAft>
                <a:spcPts val="0"/>
              </a:spcAft>
              <a:buClr>
                <a:srgbClr val="000000"/>
              </a:buClr>
              <a:buSzPts val="1400"/>
              <a:buFont typeface="Arial"/>
              <a:buNone/>
              <a:defRPr b="0" i="0" sz="4400" u="none" cap="none" strike="noStrike">
                <a:solidFill>
                  <a:schemeClr val="dk2"/>
                </a:solidFill>
                <a:latin typeface="Arial"/>
                <a:ea typeface="Arial"/>
                <a:cs typeface="Arial"/>
                <a:sym typeface="Arial"/>
              </a:defRPr>
            </a:lvl3pPr>
            <a:lvl4pPr lvl="3" marR="0" rtl="0" algn="ctr">
              <a:lnSpc>
                <a:spcPct val="100000"/>
              </a:lnSpc>
              <a:spcBef>
                <a:spcPts val="0"/>
              </a:spcBef>
              <a:spcAft>
                <a:spcPts val="0"/>
              </a:spcAft>
              <a:buClr>
                <a:srgbClr val="000000"/>
              </a:buClr>
              <a:buSzPts val="1400"/>
              <a:buFont typeface="Arial"/>
              <a:buNone/>
              <a:defRPr b="0" i="0" sz="4400" u="none" cap="none" strike="noStrike">
                <a:solidFill>
                  <a:schemeClr val="dk2"/>
                </a:solidFill>
                <a:latin typeface="Arial"/>
                <a:ea typeface="Arial"/>
                <a:cs typeface="Arial"/>
                <a:sym typeface="Arial"/>
              </a:defRPr>
            </a:lvl4pPr>
            <a:lvl5pPr lvl="4" marR="0" rtl="0" algn="ctr">
              <a:lnSpc>
                <a:spcPct val="100000"/>
              </a:lnSpc>
              <a:spcBef>
                <a:spcPts val="0"/>
              </a:spcBef>
              <a:spcAft>
                <a:spcPts val="0"/>
              </a:spcAft>
              <a:buClr>
                <a:srgbClr val="000000"/>
              </a:buClr>
              <a:buSzPts val="1400"/>
              <a:buFont typeface="Arial"/>
              <a:buNone/>
              <a:defRPr b="0" i="0" sz="4400" u="none" cap="none" strike="noStrike">
                <a:solidFill>
                  <a:schemeClr val="dk2"/>
                </a:solidFill>
                <a:latin typeface="Arial"/>
                <a:ea typeface="Arial"/>
                <a:cs typeface="Arial"/>
                <a:sym typeface="Arial"/>
              </a:defRPr>
            </a:lvl5pPr>
            <a:lvl6pPr lvl="5" marR="0" rtl="0" algn="ctr">
              <a:lnSpc>
                <a:spcPct val="100000"/>
              </a:lnSpc>
              <a:spcBef>
                <a:spcPts val="0"/>
              </a:spcBef>
              <a:spcAft>
                <a:spcPts val="0"/>
              </a:spcAft>
              <a:buClr>
                <a:srgbClr val="000000"/>
              </a:buClr>
              <a:buSzPts val="1400"/>
              <a:buFont typeface="Arial"/>
              <a:buNone/>
              <a:defRPr b="0" i="0" sz="4400" u="none" cap="none" strike="noStrike">
                <a:solidFill>
                  <a:schemeClr val="dk2"/>
                </a:solidFill>
                <a:latin typeface="Arial"/>
                <a:ea typeface="Arial"/>
                <a:cs typeface="Arial"/>
                <a:sym typeface="Arial"/>
              </a:defRPr>
            </a:lvl6pPr>
            <a:lvl7pPr lvl="6" marR="0" rtl="0" algn="ctr">
              <a:lnSpc>
                <a:spcPct val="100000"/>
              </a:lnSpc>
              <a:spcBef>
                <a:spcPts val="0"/>
              </a:spcBef>
              <a:spcAft>
                <a:spcPts val="0"/>
              </a:spcAft>
              <a:buClr>
                <a:srgbClr val="000000"/>
              </a:buClr>
              <a:buSzPts val="1400"/>
              <a:buFont typeface="Arial"/>
              <a:buNone/>
              <a:defRPr b="0" i="0" sz="4400" u="none" cap="none" strike="noStrike">
                <a:solidFill>
                  <a:schemeClr val="dk2"/>
                </a:solidFill>
                <a:latin typeface="Arial"/>
                <a:ea typeface="Arial"/>
                <a:cs typeface="Arial"/>
                <a:sym typeface="Arial"/>
              </a:defRPr>
            </a:lvl7pPr>
            <a:lvl8pPr lvl="7" marR="0" rtl="0" algn="ctr">
              <a:lnSpc>
                <a:spcPct val="100000"/>
              </a:lnSpc>
              <a:spcBef>
                <a:spcPts val="0"/>
              </a:spcBef>
              <a:spcAft>
                <a:spcPts val="0"/>
              </a:spcAft>
              <a:buClr>
                <a:srgbClr val="000000"/>
              </a:buClr>
              <a:buSzPts val="1400"/>
              <a:buFont typeface="Arial"/>
              <a:buNone/>
              <a:defRPr b="0" i="0" sz="4400" u="none" cap="none" strike="noStrike">
                <a:solidFill>
                  <a:schemeClr val="dk2"/>
                </a:solidFill>
                <a:latin typeface="Arial"/>
                <a:ea typeface="Arial"/>
                <a:cs typeface="Arial"/>
                <a:sym typeface="Arial"/>
              </a:defRPr>
            </a:lvl8pPr>
            <a:lvl9pPr lvl="8" marR="0" rtl="0" algn="ctr">
              <a:lnSpc>
                <a:spcPct val="100000"/>
              </a:lnSpc>
              <a:spcBef>
                <a:spcPts val="0"/>
              </a:spcBef>
              <a:spcAft>
                <a:spcPts val="0"/>
              </a:spcAft>
              <a:buClr>
                <a:srgbClr val="000000"/>
              </a:buClr>
              <a:buSzPts val="1400"/>
              <a:buFont typeface="Arial"/>
              <a:buNone/>
              <a:defRPr b="0" i="0" sz="4400" u="none" cap="none" strike="noStrike">
                <a:solidFill>
                  <a:schemeClr val="dk2"/>
                </a:solidFill>
                <a:latin typeface="Arial"/>
                <a:ea typeface="Arial"/>
                <a:cs typeface="Arial"/>
                <a:sym typeface="Arial"/>
              </a:defRPr>
            </a:lvl9pPr>
          </a:lstStyle>
          <a:p/>
        </p:txBody>
      </p:sp>
      <p:sp>
        <p:nvSpPr>
          <p:cNvPr id="11" name="Google Shape;11;p12"/>
          <p:cNvSpPr txBox="1"/>
          <p:nvPr>
            <p:ph idx="1" type="body"/>
          </p:nvPr>
        </p:nvSpPr>
        <p:spPr>
          <a:xfrm>
            <a:off x="609600" y="1600201"/>
            <a:ext cx="10972800" cy="4525963"/>
          </a:xfrm>
          <a:prstGeom prst="rect">
            <a:avLst/>
          </a:prstGeom>
          <a:noFill/>
          <a:ln>
            <a:noFill/>
          </a:ln>
        </p:spPr>
        <p:txBody>
          <a:bodyPr anchorCtr="0" anchor="t" bIns="45700" lIns="91425" spcFirstLastPara="1" rIns="91425" wrap="square" tIns="45700">
            <a:no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12"/>
          <p:cNvSpPr txBox="1"/>
          <p:nvPr>
            <p:ph idx="10" type="dt"/>
          </p:nvPr>
        </p:nvSpPr>
        <p:spPr>
          <a:xfrm>
            <a:off x="609600" y="6245225"/>
            <a:ext cx="2844800" cy="47625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12"/>
          <p:cNvSpPr txBox="1"/>
          <p:nvPr>
            <p:ph idx="11" type="ftr"/>
          </p:nvPr>
        </p:nvSpPr>
        <p:spPr>
          <a:xfrm>
            <a:off x="4165600" y="6245225"/>
            <a:ext cx="3860800" cy="47625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12"/>
          <p:cNvSpPr txBox="1"/>
          <p:nvPr>
            <p:ph idx="12" type="sldNum"/>
          </p:nvPr>
        </p:nvSpPr>
        <p:spPr>
          <a:xfrm>
            <a:off x="11482808" y="6245225"/>
            <a:ext cx="445840" cy="47625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400"/>
              <a:buFont typeface="Arial"/>
              <a:buNone/>
              <a:defRPr b="0" i="0" sz="1400" u="none" cap="none" strike="noStrike">
                <a:solidFill>
                  <a:srgbClr val="C00000"/>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400"/>
              <a:buFont typeface="Arial"/>
              <a:buNone/>
              <a:defRPr b="0" i="0" sz="1400" u="none" cap="none" strike="noStrike">
                <a:solidFill>
                  <a:srgbClr val="C00000"/>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400"/>
              <a:buFont typeface="Arial"/>
              <a:buNone/>
              <a:defRPr b="0" i="0" sz="1400" u="none" cap="none" strike="noStrike">
                <a:solidFill>
                  <a:srgbClr val="C00000"/>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400"/>
              <a:buFont typeface="Arial"/>
              <a:buNone/>
              <a:defRPr b="0" i="0" sz="1400" u="none" cap="none" strike="noStrike">
                <a:solidFill>
                  <a:srgbClr val="C00000"/>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400"/>
              <a:buFont typeface="Arial"/>
              <a:buNone/>
              <a:defRPr b="0" i="0" sz="1400" u="none" cap="none" strike="noStrike">
                <a:solidFill>
                  <a:srgbClr val="C00000"/>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400"/>
              <a:buFont typeface="Arial"/>
              <a:buNone/>
              <a:defRPr b="0" i="0" sz="1400" u="none" cap="none" strike="noStrike">
                <a:solidFill>
                  <a:srgbClr val="C00000"/>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400"/>
              <a:buFont typeface="Arial"/>
              <a:buNone/>
              <a:defRPr b="0" i="0" sz="1400" u="none" cap="none" strike="noStrike">
                <a:solidFill>
                  <a:srgbClr val="C00000"/>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400"/>
              <a:buFont typeface="Arial"/>
              <a:buNone/>
              <a:defRPr b="0" i="0" sz="1400" u="none" cap="none" strike="noStrike">
                <a:solidFill>
                  <a:srgbClr val="C00000"/>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400"/>
              <a:buFont typeface="Arial"/>
              <a:buNone/>
              <a:defRPr b="0" i="0" sz="1400" u="none" cap="none" strike="noStrike">
                <a:solidFill>
                  <a:srgbClr val="C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
          <p:cNvSpPr txBox="1"/>
          <p:nvPr/>
        </p:nvSpPr>
        <p:spPr>
          <a:xfrm>
            <a:off x="29700" y="4204350"/>
            <a:ext cx="9951900" cy="1052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rgbClr val="000000"/>
                </a:solidFill>
                <a:latin typeface="Times New Roman"/>
                <a:ea typeface="Times New Roman"/>
                <a:cs typeface="Times New Roman"/>
                <a:sym typeface="Times New Roman"/>
              </a:rPr>
              <a:t>Presenter: Ishika K. Kanakath</a:t>
            </a:r>
            <a:endParaRPr b="0" i="1" sz="1800" u="none" cap="none" strike="noStrike">
              <a:solidFill>
                <a:srgbClr val="000000"/>
              </a:solidFill>
              <a:latin typeface="Times New Roman"/>
              <a:ea typeface="Times New Roman"/>
              <a:cs typeface="Times New Roman"/>
              <a:sym typeface="Times New Roman"/>
            </a:endParaRPr>
          </a:p>
        </p:txBody>
      </p:sp>
      <p:sp>
        <p:nvSpPr>
          <p:cNvPr id="89" name="Google Shape;89;p1"/>
          <p:cNvSpPr/>
          <p:nvPr/>
        </p:nvSpPr>
        <p:spPr>
          <a:xfrm>
            <a:off x="58425" y="1393975"/>
            <a:ext cx="12030900" cy="1794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700"/>
              <a:buFont typeface="Arial"/>
              <a:buNone/>
            </a:pPr>
            <a:r>
              <a:t/>
            </a:r>
            <a:endParaRPr b="1" i="0" sz="19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700"/>
              <a:buFont typeface="Arial"/>
              <a:buNone/>
            </a:pPr>
            <a:r>
              <a:rPr b="1" i="0" lang="en-US" sz="1900" u="none" cap="none" strike="noStrike">
                <a:solidFill>
                  <a:schemeClr val="dk1"/>
                </a:solidFill>
                <a:latin typeface="Arial"/>
                <a:ea typeface="Arial"/>
                <a:cs typeface="Arial"/>
                <a:sym typeface="Arial"/>
              </a:rPr>
              <a:t>    </a:t>
            </a:r>
            <a:endParaRPr b="1" i="0" sz="1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700"/>
              <a:buFont typeface="Arial"/>
              <a:buNone/>
            </a:pPr>
            <a:r>
              <a:t/>
            </a:r>
            <a:endParaRPr b="1" i="0" sz="1900" u="none" cap="none" strike="noStrike">
              <a:solidFill>
                <a:schemeClr val="dk1"/>
              </a:solidFill>
              <a:latin typeface="Arial"/>
              <a:ea typeface="Arial"/>
              <a:cs typeface="Arial"/>
              <a:sym typeface="Arial"/>
            </a:endParaRPr>
          </a:p>
          <a:p>
            <a:pPr indent="0" lvl="0" marL="0" rtl="0" algn="ctr">
              <a:spcBef>
                <a:spcPts val="0"/>
              </a:spcBef>
              <a:spcAft>
                <a:spcPts val="0"/>
              </a:spcAft>
              <a:buClr>
                <a:schemeClr val="dk1"/>
              </a:buClr>
              <a:buSzPts val="1100"/>
              <a:buFont typeface="Arial"/>
              <a:buNone/>
            </a:pPr>
            <a:r>
              <a:rPr b="1" lang="en-US" sz="1800">
                <a:solidFill>
                  <a:schemeClr val="dk1"/>
                </a:solidFill>
              </a:rPr>
              <a:t>Title:</a:t>
            </a:r>
            <a:r>
              <a:rPr lang="en-US" sz="1800">
                <a:solidFill>
                  <a:schemeClr val="dk1"/>
                </a:solidFill>
              </a:rPr>
              <a:t> Integration of Real-Time Laser Scanning for Adaptive Layer Control in Wire Arc Additive Manufacturing</a:t>
            </a:r>
            <a:endParaRPr sz="1800">
              <a:solidFill>
                <a:schemeClr val="dk1"/>
              </a:solidFill>
            </a:endParaRPr>
          </a:p>
          <a:p>
            <a:pPr indent="0" lvl="0" marL="0" rtl="0" algn="ctr">
              <a:spcBef>
                <a:spcPts val="0"/>
              </a:spcBef>
              <a:spcAft>
                <a:spcPts val="0"/>
              </a:spcAft>
              <a:buClr>
                <a:schemeClr val="dk1"/>
              </a:buClr>
              <a:buSzPts val="1100"/>
              <a:buFont typeface="Arial"/>
              <a:buNone/>
            </a:pPr>
            <a:r>
              <a:t/>
            </a:r>
            <a:endParaRPr i="1" sz="1900">
              <a:solidFill>
                <a:schemeClr val="dk1"/>
              </a:solidFill>
            </a:endParaRPr>
          </a:p>
        </p:txBody>
      </p:sp>
      <p:cxnSp>
        <p:nvCxnSpPr>
          <p:cNvPr id="90" name="Google Shape;90;p1"/>
          <p:cNvCxnSpPr/>
          <p:nvPr/>
        </p:nvCxnSpPr>
        <p:spPr>
          <a:xfrm flipH="1" rot="10800000">
            <a:off x="0" y="3423482"/>
            <a:ext cx="12192000" cy="72008"/>
          </a:xfrm>
          <a:prstGeom prst="straightConnector1">
            <a:avLst/>
          </a:prstGeom>
          <a:noFill/>
          <a:ln cap="flat" cmpd="sng" w="53975">
            <a:solidFill>
              <a:schemeClr val="accent6"/>
            </a:solidFill>
            <a:prstDash val="solid"/>
            <a:round/>
            <a:headEnd len="sm" w="sm" type="none"/>
            <a:tailEnd len="sm" w="sm" type="none"/>
          </a:ln>
        </p:spPr>
      </p:cxnSp>
      <p:sp>
        <p:nvSpPr>
          <p:cNvPr id="91" name="Google Shape;91;p1"/>
          <p:cNvSpPr/>
          <p:nvPr/>
        </p:nvSpPr>
        <p:spPr>
          <a:xfrm>
            <a:off x="1" y="6611778"/>
            <a:ext cx="12191999" cy="246222"/>
          </a:xfrm>
          <a:prstGeom prst="rect">
            <a:avLst/>
          </a:prstGeom>
          <a:solidFill>
            <a:srgbClr val="003366"/>
          </a:solidFill>
          <a:ln>
            <a:noFill/>
          </a:ln>
        </p:spPr>
        <p:txBody>
          <a:bodyPr anchorCtr="0" anchor="ctr" bIns="72850" lIns="145700" spcFirstLastPara="1" rIns="145700" wrap="square" tIns="72850">
            <a:noAutofit/>
          </a:bodyPr>
          <a:lstStyle/>
          <a:p>
            <a:pPr indent="0" lvl="0" marL="0" marR="0" rtl="0" algn="l">
              <a:lnSpc>
                <a:spcPct val="100000"/>
              </a:lnSpc>
              <a:spcBef>
                <a:spcPts val="0"/>
              </a:spcBef>
              <a:spcAft>
                <a:spcPts val="0"/>
              </a:spcAft>
              <a:buClr>
                <a:srgbClr val="000000"/>
              </a:buClr>
              <a:buSzPts val="1000"/>
              <a:buFont typeface="Arial"/>
              <a:buNone/>
            </a:pPr>
            <a:r>
              <a:t/>
            </a:r>
            <a:endParaRPr b="1" i="1" sz="10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br>
              <a:rPr b="1" i="1" lang="en-US" sz="1000" u="none" cap="none" strike="noStrike">
                <a:solidFill>
                  <a:schemeClr val="lt1"/>
                </a:solidFill>
                <a:latin typeface="Arial"/>
                <a:ea typeface="Arial"/>
                <a:cs typeface="Arial"/>
                <a:sym typeface="Arial"/>
              </a:rPr>
            </a:br>
            <a:r>
              <a:rPr b="1" i="1" lang="en-US" sz="1000" u="none" cap="none" strike="noStrike">
                <a:solidFill>
                  <a:schemeClr val="lt1"/>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92" name="Google Shape;92;p1"/>
          <p:cNvSpPr/>
          <p:nvPr/>
        </p:nvSpPr>
        <p:spPr>
          <a:xfrm>
            <a:off x="1" y="0"/>
            <a:ext cx="12191999" cy="240940"/>
          </a:xfrm>
          <a:prstGeom prst="rect">
            <a:avLst/>
          </a:prstGeom>
          <a:solidFill>
            <a:srgbClr val="003366"/>
          </a:solidFill>
          <a:ln>
            <a:noFill/>
          </a:ln>
        </p:spPr>
        <p:txBody>
          <a:bodyPr anchorCtr="0" anchor="ctr" bIns="72850" lIns="145700" spcFirstLastPara="1" rIns="145700" wrap="square" tIns="72850">
            <a:noAutofit/>
          </a:bodyPr>
          <a:lstStyle/>
          <a:p>
            <a:pPr indent="0" lvl="0" marL="0" marR="0" rtl="0" algn="l">
              <a:lnSpc>
                <a:spcPct val="100000"/>
              </a:lnSpc>
              <a:spcBef>
                <a:spcPts val="0"/>
              </a:spcBef>
              <a:spcAft>
                <a:spcPts val="0"/>
              </a:spcAft>
              <a:buClr>
                <a:srgbClr val="000000"/>
              </a:buClr>
              <a:buSzPts val="1000"/>
              <a:buFont typeface="Arial"/>
              <a:buNone/>
            </a:pPr>
            <a:r>
              <a:t/>
            </a:r>
            <a:endParaRPr b="1" i="1" sz="1000" u="none" cap="none" strike="noStrike">
              <a:solidFill>
                <a:schemeClr val="lt1"/>
              </a:solidFill>
              <a:latin typeface="Arial"/>
              <a:ea typeface="Arial"/>
              <a:cs typeface="Arial"/>
              <a:sym typeface="Arial"/>
            </a:endParaRPr>
          </a:p>
        </p:txBody>
      </p:sp>
      <p:sp>
        <p:nvSpPr>
          <p:cNvPr id="93" name="Google Shape;93;p1"/>
          <p:cNvSpPr txBox="1"/>
          <p:nvPr/>
        </p:nvSpPr>
        <p:spPr>
          <a:xfrm>
            <a:off x="1648733" y="316423"/>
            <a:ext cx="8784900" cy="400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lang="en-US" sz="2000">
                <a:solidFill>
                  <a:srgbClr val="C00000"/>
                </a:solidFill>
                <a:latin typeface="Times New Roman"/>
                <a:ea typeface="Times New Roman"/>
                <a:cs typeface="Times New Roman"/>
                <a:sym typeface="Times New Roman"/>
              </a:rPr>
              <a:t>ECSE 695 Presentation (Masters Project Track)</a:t>
            </a:r>
            <a:endParaRPr b="1" i="0" sz="1600" u="none" cap="none" strike="noStrike">
              <a:solidFill>
                <a:srgbClr val="C00000"/>
              </a:solidFill>
              <a:latin typeface="Times New Roman"/>
              <a:ea typeface="Times New Roman"/>
              <a:cs typeface="Times New Roman"/>
              <a:sym typeface="Times New Roman"/>
            </a:endParaRPr>
          </a:p>
        </p:txBody>
      </p:sp>
      <p:cxnSp>
        <p:nvCxnSpPr>
          <p:cNvPr id="94" name="Google Shape;94;p1"/>
          <p:cNvCxnSpPr/>
          <p:nvPr/>
        </p:nvCxnSpPr>
        <p:spPr>
          <a:xfrm flipH="1" rot="10800000">
            <a:off x="0" y="3212976"/>
            <a:ext cx="12192000" cy="72008"/>
          </a:xfrm>
          <a:prstGeom prst="straightConnector1">
            <a:avLst/>
          </a:prstGeom>
          <a:noFill/>
          <a:ln cap="flat" cmpd="sng" w="53975">
            <a:solidFill>
              <a:schemeClr val="accent6"/>
            </a:solidFill>
            <a:prstDash val="solid"/>
            <a:round/>
            <a:headEnd len="sm" w="sm" type="none"/>
            <a:tailEnd len="sm" w="sm" type="none"/>
          </a:ln>
        </p:spPr>
      </p:cxnSp>
      <p:pic>
        <p:nvPicPr>
          <p:cNvPr descr="A blue and white sign with a white star in the middle&#10;&#10;Description automatically generated" id="95" name="Google Shape;95;p1"/>
          <p:cNvPicPr preferRelativeResize="0"/>
          <p:nvPr/>
        </p:nvPicPr>
        <p:blipFill rotWithShape="1">
          <a:blip r:embed="rId3">
            <a:alphaModFix/>
          </a:blip>
          <a:srcRect b="0" l="0" r="0" t="0"/>
          <a:stretch/>
        </p:blipFill>
        <p:spPr>
          <a:xfrm>
            <a:off x="5550556" y="5295257"/>
            <a:ext cx="1072920" cy="12780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3"/>
          <p:cNvSpPr/>
          <p:nvPr/>
        </p:nvSpPr>
        <p:spPr>
          <a:xfrm>
            <a:off x="1329635" y="-1472"/>
            <a:ext cx="10862317" cy="451998"/>
          </a:xfrm>
          <a:prstGeom prst="rect">
            <a:avLst/>
          </a:prstGeom>
          <a:solidFill>
            <a:srgbClr val="002060"/>
          </a:solidFill>
          <a:ln>
            <a:noFill/>
          </a:ln>
        </p:spPr>
        <p:txBody>
          <a:bodyPr anchorCtr="0" anchor="ctr" bIns="21400" lIns="42825" spcFirstLastPara="1" rIns="42825" wrap="square" tIns="21400">
            <a:noAutofit/>
          </a:bodyPr>
          <a:lstStyle/>
          <a:p>
            <a:pPr indent="0" lvl="0" marL="0" marR="0" rtl="0" algn="l">
              <a:lnSpc>
                <a:spcPct val="100000"/>
              </a:lnSpc>
              <a:spcBef>
                <a:spcPts val="0"/>
              </a:spcBef>
              <a:spcAft>
                <a:spcPts val="0"/>
              </a:spcAft>
              <a:buClr>
                <a:srgbClr val="000000"/>
              </a:buClr>
              <a:buSzPts val="294"/>
              <a:buFont typeface="Arial"/>
              <a:buNone/>
            </a:pPr>
            <a:r>
              <a:t/>
            </a:r>
            <a:endParaRPr b="1" i="1" sz="294" u="none" cap="none" strike="noStrike">
              <a:solidFill>
                <a:srgbClr val="FFFFFF"/>
              </a:solidFill>
              <a:latin typeface="Calibri"/>
              <a:ea typeface="Calibri"/>
              <a:cs typeface="Calibri"/>
              <a:sym typeface="Calibri"/>
            </a:endParaRPr>
          </a:p>
        </p:txBody>
      </p:sp>
      <p:sp>
        <p:nvSpPr>
          <p:cNvPr id="102" name="Google Shape;102;p3"/>
          <p:cNvSpPr/>
          <p:nvPr/>
        </p:nvSpPr>
        <p:spPr>
          <a:xfrm>
            <a:off x="1329635" y="6597352"/>
            <a:ext cx="10862317" cy="260650"/>
          </a:xfrm>
          <a:prstGeom prst="rect">
            <a:avLst/>
          </a:prstGeom>
          <a:solidFill>
            <a:srgbClr val="002060"/>
          </a:solidFill>
          <a:ln>
            <a:noFill/>
          </a:ln>
        </p:spPr>
        <p:txBody>
          <a:bodyPr anchorCtr="0" anchor="ctr" bIns="21400" lIns="42825" spcFirstLastPara="1" rIns="42825" wrap="square" tIns="21400">
            <a:noAutofit/>
          </a:bodyPr>
          <a:lstStyle/>
          <a:p>
            <a:pPr indent="0" lvl="0" marL="0" marR="0" rtl="0" algn="l">
              <a:lnSpc>
                <a:spcPct val="100000"/>
              </a:lnSpc>
              <a:spcBef>
                <a:spcPts val="0"/>
              </a:spcBef>
              <a:spcAft>
                <a:spcPts val="0"/>
              </a:spcAft>
              <a:buClr>
                <a:srgbClr val="000000"/>
              </a:buClr>
              <a:buSzPts val="294"/>
              <a:buFont typeface="Arial"/>
              <a:buNone/>
            </a:pPr>
            <a:r>
              <a:t/>
            </a:r>
            <a:endParaRPr b="1" i="1" sz="294" u="none" cap="none" strike="noStrike">
              <a:solidFill>
                <a:srgbClr val="FFFFFF"/>
              </a:solidFill>
              <a:latin typeface="Calibri"/>
              <a:ea typeface="Calibri"/>
              <a:cs typeface="Calibri"/>
              <a:sym typeface="Calibri"/>
            </a:endParaRPr>
          </a:p>
        </p:txBody>
      </p:sp>
      <p:sp>
        <p:nvSpPr>
          <p:cNvPr id="103" name="Google Shape;103;p3"/>
          <p:cNvSpPr txBox="1"/>
          <p:nvPr>
            <p:ph idx="12" type="sldNum"/>
          </p:nvPr>
        </p:nvSpPr>
        <p:spPr>
          <a:xfrm>
            <a:off x="11386491" y="6556449"/>
            <a:ext cx="639658" cy="326795"/>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sz="1800">
                <a:solidFill>
                  <a:schemeClr val="lt1"/>
                </a:solidFill>
              </a:rPr>
              <a:t>‹#›</a:t>
            </a:fld>
            <a:endParaRPr sz="1931">
              <a:solidFill>
                <a:schemeClr val="lt1"/>
              </a:solidFill>
            </a:endParaRPr>
          </a:p>
        </p:txBody>
      </p:sp>
      <p:sp>
        <p:nvSpPr>
          <p:cNvPr id="104" name="Google Shape;104;p3"/>
          <p:cNvSpPr/>
          <p:nvPr/>
        </p:nvSpPr>
        <p:spPr>
          <a:xfrm>
            <a:off x="4231354" y="24424"/>
            <a:ext cx="34197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lang="en-US" sz="2000">
                <a:solidFill>
                  <a:schemeClr val="lt1"/>
                </a:solidFill>
                <a:latin typeface="Times New Roman"/>
                <a:ea typeface="Times New Roman"/>
                <a:cs typeface="Times New Roman"/>
                <a:sym typeface="Times New Roman"/>
              </a:rPr>
              <a:t>Outline</a:t>
            </a:r>
            <a:endParaRPr b="0" i="0" sz="1400" u="none" cap="none" strike="noStrike">
              <a:solidFill>
                <a:srgbClr val="000000"/>
              </a:solidFill>
              <a:latin typeface="Arial"/>
              <a:ea typeface="Arial"/>
              <a:cs typeface="Arial"/>
              <a:sym typeface="Arial"/>
            </a:endParaRPr>
          </a:p>
        </p:txBody>
      </p:sp>
      <p:sp>
        <p:nvSpPr>
          <p:cNvPr id="105" name="Google Shape;105;p3"/>
          <p:cNvSpPr/>
          <p:nvPr/>
        </p:nvSpPr>
        <p:spPr>
          <a:xfrm>
            <a:off x="0" y="-1472"/>
            <a:ext cx="1329635" cy="451998"/>
          </a:xfrm>
          <a:prstGeom prst="rect">
            <a:avLst/>
          </a:prstGeom>
          <a:solidFill>
            <a:srgbClr val="C000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00"/>
              <a:buFont typeface="Arial"/>
              <a:buNone/>
            </a:pPr>
            <a:r>
              <a:rPr b="1" lang="en-US">
                <a:solidFill>
                  <a:schemeClr val="dk1"/>
                </a:solidFill>
              </a:rPr>
              <a:t>ECSE 695 </a:t>
            </a:r>
            <a:endParaRPr b="1" i="0" sz="1400" u="none" cap="none" strike="noStrike">
              <a:solidFill>
                <a:schemeClr val="dk1"/>
              </a:solidFill>
              <a:latin typeface="Arial"/>
              <a:ea typeface="Arial"/>
              <a:cs typeface="Arial"/>
              <a:sym typeface="Arial"/>
            </a:endParaRPr>
          </a:p>
        </p:txBody>
      </p:sp>
      <p:sp>
        <p:nvSpPr>
          <p:cNvPr id="106" name="Google Shape;106;p3"/>
          <p:cNvSpPr txBox="1"/>
          <p:nvPr/>
        </p:nvSpPr>
        <p:spPr>
          <a:xfrm>
            <a:off x="259431" y="748241"/>
            <a:ext cx="7506000" cy="430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2200" u="none" cap="none" strike="noStrike">
              <a:solidFill>
                <a:srgbClr val="000000"/>
              </a:solidFill>
              <a:latin typeface="Arial"/>
              <a:ea typeface="Arial"/>
              <a:cs typeface="Arial"/>
              <a:sym typeface="Arial"/>
            </a:endParaRPr>
          </a:p>
        </p:txBody>
      </p:sp>
      <p:pic>
        <p:nvPicPr>
          <p:cNvPr descr="A blue letter with white background&#10;&#10;Description automatically generated" id="107" name="Google Shape;107;p3"/>
          <p:cNvPicPr preferRelativeResize="0"/>
          <p:nvPr/>
        </p:nvPicPr>
        <p:blipFill rotWithShape="1">
          <a:blip r:embed="rId3">
            <a:alphaModFix/>
          </a:blip>
          <a:srcRect b="0" l="0" r="0" t="0"/>
          <a:stretch/>
        </p:blipFill>
        <p:spPr>
          <a:xfrm>
            <a:off x="0" y="6597352"/>
            <a:ext cx="1329635" cy="260648"/>
          </a:xfrm>
          <a:prstGeom prst="rect">
            <a:avLst/>
          </a:prstGeom>
          <a:noFill/>
          <a:ln>
            <a:noFill/>
          </a:ln>
        </p:spPr>
      </p:pic>
      <p:sp>
        <p:nvSpPr>
          <p:cNvPr id="108" name="Google Shape;108;p3"/>
          <p:cNvSpPr txBox="1"/>
          <p:nvPr/>
        </p:nvSpPr>
        <p:spPr>
          <a:xfrm>
            <a:off x="8022596" y="6222504"/>
            <a:ext cx="4079700" cy="307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t/>
            </a:r>
            <a:endParaRPr b="0" i="0" sz="1400" u="none" cap="none" strike="noStrike">
              <a:solidFill>
                <a:srgbClr val="000000"/>
              </a:solidFill>
              <a:latin typeface="Arial"/>
              <a:ea typeface="Arial"/>
              <a:cs typeface="Arial"/>
              <a:sym typeface="Arial"/>
            </a:endParaRPr>
          </a:p>
        </p:txBody>
      </p:sp>
      <p:sp>
        <p:nvSpPr>
          <p:cNvPr id="109" name="Google Shape;109;p3"/>
          <p:cNvSpPr txBox="1"/>
          <p:nvPr/>
        </p:nvSpPr>
        <p:spPr>
          <a:xfrm>
            <a:off x="8414267" y="990089"/>
            <a:ext cx="35037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C00000"/>
              </a:solidFill>
              <a:latin typeface="Arial"/>
              <a:ea typeface="Arial"/>
              <a:cs typeface="Arial"/>
              <a:sym typeface="Arial"/>
            </a:endParaRPr>
          </a:p>
        </p:txBody>
      </p:sp>
      <p:sp>
        <p:nvSpPr>
          <p:cNvPr id="110" name="Google Shape;110;p3"/>
          <p:cNvSpPr txBox="1"/>
          <p:nvPr/>
        </p:nvSpPr>
        <p:spPr>
          <a:xfrm>
            <a:off x="553800" y="1179050"/>
            <a:ext cx="9950100" cy="3983400"/>
          </a:xfrm>
          <a:prstGeom prst="rect">
            <a:avLst/>
          </a:prstGeom>
          <a:noFill/>
          <a:ln>
            <a:noFill/>
          </a:ln>
        </p:spPr>
        <p:txBody>
          <a:bodyPr anchorCtr="0" anchor="t" bIns="91425" lIns="91425" spcFirstLastPara="1" rIns="91425" wrap="square" tIns="91425">
            <a:spAutoFit/>
          </a:bodyPr>
          <a:lstStyle/>
          <a:p>
            <a:pPr indent="-228600" lvl="0" marL="457200" rtl="0" algn="l">
              <a:spcBef>
                <a:spcPts val="0"/>
              </a:spcBef>
              <a:spcAft>
                <a:spcPts val="0"/>
              </a:spcAft>
              <a:buClr>
                <a:schemeClr val="dk1"/>
              </a:buClr>
              <a:buSzPts val="1100"/>
              <a:buFont typeface="Arial"/>
              <a:buNone/>
            </a:pPr>
            <a:r>
              <a:rPr b="1" lang="en-US" sz="1800">
                <a:solidFill>
                  <a:schemeClr val="dk1"/>
                </a:solidFill>
                <a:latin typeface="Times New Roman"/>
                <a:ea typeface="Times New Roman"/>
                <a:cs typeface="Times New Roman"/>
                <a:sym typeface="Times New Roman"/>
              </a:rPr>
              <a:t>Background &amp; Motivation</a:t>
            </a:r>
            <a:endParaRPr b="1" sz="1800">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Project Objectives</a:t>
            </a:r>
            <a:endParaRPr sz="1800">
              <a:solidFill>
                <a:schemeClr val="dk1"/>
              </a:solidFill>
              <a:latin typeface="Times New Roman"/>
              <a:ea typeface="Times New Roman"/>
              <a:cs typeface="Times New Roman"/>
              <a:sym typeface="Times New Roman"/>
            </a:endParaRPr>
          </a:p>
          <a:p>
            <a:pPr indent="-228600" lvl="0" marL="457200" rtl="0" algn="l">
              <a:spcBef>
                <a:spcPts val="0"/>
              </a:spcBef>
              <a:spcAft>
                <a:spcPts val="0"/>
              </a:spcAft>
              <a:buClr>
                <a:schemeClr val="dk1"/>
              </a:buClr>
              <a:buSzPts val="1100"/>
              <a:buFont typeface="Arial"/>
              <a:buNone/>
            </a:pPr>
            <a:r>
              <a:t/>
            </a:r>
            <a:endParaRPr sz="1800">
              <a:solidFill>
                <a:schemeClr val="dk1"/>
              </a:solidFill>
              <a:latin typeface="Times New Roman"/>
              <a:ea typeface="Times New Roman"/>
              <a:cs typeface="Times New Roman"/>
              <a:sym typeface="Times New Roman"/>
            </a:endParaRPr>
          </a:p>
          <a:p>
            <a:pPr indent="-228600" lvl="0" marL="457200" rtl="0" algn="l">
              <a:spcBef>
                <a:spcPts val="0"/>
              </a:spcBef>
              <a:spcAft>
                <a:spcPts val="0"/>
              </a:spcAft>
              <a:buClr>
                <a:schemeClr val="dk1"/>
              </a:buClr>
              <a:buSzPts val="1100"/>
              <a:buFont typeface="Arial"/>
              <a:buNone/>
            </a:pPr>
            <a:r>
              <a:rPr b="1" lang="en-US" sz="1800">
                <a:solidFill>
                  <a:schemeClr val="dk1"/>
                </a:solidFill>
                <a:latin typeface="Times New Roman"/>
                <a:ea typeface="Times New Roman"/>
                <a:cs typeface="Times New Roman"/>
                <a:sym typeface="Times New Roman"/>
              </a:rPr>
              <a:t>Literature Review</a:t>
            </a:r>
            <a:endParaRPr b="1" sz="1800">
              <a:solidFill>
                <a:schemeClr val="dk1"/>
              </a:solidFill>
              <a:latin typeface="Times New Roman"/>
              <a:ea typeface="Times New Roman"/>
              <a:cs typeface="Times New Roman"/>
              <a:sym typeface="Times New Roman"/>
            </a:endParaRPr>
          </a:p>
          <a:p>
            <a:pPr indent="-298450" lvl="0" marL="457200" rtl="0" algn="l">
              <a:lnSpc>
                <a:spcPct val="115000"/>
              </a:lnSpc>
              <a:spcBef>
                <a:spcPts val="1200"/>
              </a:spcBef>
              <a:spcAft>
                <a:spcPts val="0"/>
              </a:spcAft>
              <a:buClr>
                <a:schemeClr val="dk1"/>
              </a:buClr>
              <a:buSzPts val="1100"/>
              <a:buChar char="●"/>
            </a:pPr>
            <a:r>
              <a:rPr lang="en-US" sz="1800">
                <a:solidFill>
                  <a:schemeClr val="dk1"/>
                </a:solidFill>
                <a:latin typeface="Times New Roman"/>
                <a:ea typeface="Times New Roman"/>
                <a:cs typeface="Times New Roman"/>
                <a:sym typeface="Times New Roman"/>
              </a:rPr>
              <a:t>Laser Triangulation</a:t>
            </a:r>
            <a:endParaRPr sz="1800">
              <a:solidFill>
                <a:schemeClr val="dk1"/>
              </a:solidFill>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dk1"/>
              </a:buClr>
              <a:buSzPts val="1100"/>
              <a:buChar char="●"/>
            </a:pPr>
            <a:r>
              <a:rPr lang="en-US" sz="1800">
                <a:solidFill>
                  <a:schemeClr val="dk1"/>
                </a:solidFill>
                <a:latin typeface="Times New Roman"/>
                <a:ea typeface="Times New Roman"/>
                <a:cs typeface="Times New Roman"/>
                <a:sym typeface="Times New Roman"/>
              </a:rPr>
              <a:t>Existing Laser Scanners</a:t>
            </a:r>
            <a:endParaRPr sz="1800">
              <a:solidFill>
                <a:schemeClr val="dk1"/>
              </a:solidFill>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dk1"/>
              </a:buClr>
              <a:buSzPts val="1100"/>
              <a:buChar char="●"/>
            </a:pPr>
            <a:r>
              <a:rPr lang="en-US" sz="1800">
                <a:solidFill>
                  <a:schemeClr val="dk1"/>
                </a:solidFill>
                <a:latin typeface="Times New Roman"/>
                <a:ea typeface="Times New Roman"/>
                <a:cs typeface="Times New Roman"/>
                <a:sym typeface="Times New Roman"/>
              </a:rPr>
              <a:t>WAAM Applications</a:t>
            </a:r>
            <a:endParaRPr sz="18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b="1" lang="en-US" sz="1800">
                <a:solidFill>
                  <a:schemeClr val="dk1"/>
                </a:solidFill>
                <a:latin typeface="Times New Roman"/>
                <a:ea typeface="Times New Roman"/>
                <a:cs typeface="Times New Roman"/>
                <a:sym typeface="Times New Roman"/>
              </a:rPr>
              <a:t>System Description</a:t>
            </a:r>
            <a:endParaRPr b="1" sz="1800">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Implementation</a:t>
            </a:r>
            <a:endParaRPr sz="1800">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Software Architecture</a:t>
            </a:r>
            <a:endParaRPr sz="1800">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Results &amp; Future Directions</a:t>
            </a:r>
            <a:endParaRPr sz="1800">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Conclusion</a:t>
            </a:r>
            <a:endParaRPr sz="3200">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g34650027a9b_0_0"/>
          <p:cNvSpPr/>
          <p:nvPr/>
        </p:nvSpPr>
        <p:spPr>
          <a:xfrm>
            <a:off x="1329635" y="-1472"/>
            <a:ext cx="10862400" cy="452100"/>
          </a:xfrm>
          <a:prstGeom prst="rect">
            <a:avLst/>
          </a:prstGeom>
          <a:solidFill>
            <a:srgbClr val="002060"/>
          </a:solidFill>
          <a:ln>
            <a:noFill/>
          </a:ln>
        </p:spPr>
        <p:txBody>
          <a:bodyPr anchorCtr="0" anchor="ctr" bIns="21400" lIns="42825" spcFirstLastPara="1" rIns="42825" wrap="square" tIns="21400">
            <a:noAutofit/>
          </a:bodyPr>
          <a:lstStyle/>
          <a:p>
            <a:pPr indent="0" lvl="0" marL="0" rtl="0" algn="l">
              <a:spcBef>
                <a:spcPts val="0"/>
              </a:spcBef>
              <a:spcAft>
                <a:spcPts val="0"/>
              </a:spcAft>
              <a:buClr>
                <a:srgbClr val="000000"/>
              </a:buClr>
              <a:buSzPts val="294"/>
              <a:buFont typeface="Arial"/>
              <a:buNone/>
            </a:pPr>
            <a:r>
              <a:rPr b="1" lang="en-US" sz="1700">
                <a:solidFill>
                  <a:schemeClr val="lt1"/>
                </a:solidFill>
                <a:latin typeface="Times New Roman"/>
                <a:ea typeface="Times New Roman"/>
                <a:cs typeface="Times New Roman"/>
                <a:sym typeface="Times New Roman"/>
              </a:rPr>
              <a:t> My contributions</a:t>
            </a:r>
            <a:endParaRPr/>
          </a:p>
        </p:txBody>
      </p:sp>
      <p:sp>
        <p:nvSpPr>
          <p:cNvPr id="117" name="Google Shape;117;g34650027a9b_0_0"/>
          <p:cNvSpPr/>
          <p:nvPr/>
        </p:nvSpPr>
        <p:spPr>
          <a:xfrm>
            <a:off x="1329635" y="6597352"/>
            <a:ext cx="10862400" cy="260700"/>
          </a:xfrm>
          <a:prstGeom prst="rect">
            <a:avLst/>
          </a:prstGeom>
          <a:solidFill>
            <a:srgbClr val="002060"/>
          </a:solidFill>
          <a:ln>
            <a:noFill/>
          </a:ln>
        </p:spPr>
        <p:txBody>
          <a:bodyPr anchorCtr="0" anchor="ctr" bIns="21400" lIns="42825" spcFirstLastPara="1" rIns="42825" wrap="square" tIns="21400">
            <a:noAutofit/>
          </a:bodyPr>
          <a:lstStyle/>
          <a:p>
            <a:pPr indent="0" lvl="0" marL="0" marR="0" rtl="0" algn="l">
              <a:lnSpc>
                <a:spcPct val="100000"/>
              </a:lnSpc>
              <a:spcBef>
                <a:spcPts val="0"/>
              </a:spcBef>
              <a:spcAft>
                <a:spcPts val="0"/>
              </a:spcAft>
              <a:buClr>
                <a:srgbClr val="000000"/>
              </a:buClr>
              <a:buSzPts val="294"/>
              <a:buFont typeface="Arial"/>
              <a:buNone/>
            </a:pPr>
            <a:r>
              <a:t/>
            </a:r>
            <a:endParaRPr b="1" i="1" sz="294" u="none" cap="none" strike="noStrike">
              <a:solidFill>
                <a:srgbClr val="FFFFFF"/>
              </a:solidFill>
              <a:latin typeface="Calibri"/>
              <a:ea typeface="Calibri"/>
              <a:cs typeface="Calibri"/>
              <a:sym typeface="Calibri"/>
            </a:endParaRPr>
          </a:p>
        </p:txBody>
      </p:sp>
      <p:sp>
        <p:nvSpPr>
          <p:cNvPr id="118" name="Google Shape;118;g34650027a9b_0_0"/>
          <p:cNvSpPr txBox="1"/>
          <p:nvPr>
            <p:ph idx="12" type="sldNum"/>
          </p:nvPr>
        </p:nvSpPr>
        <p:spPr>
          <a:xfrm>
            <a:off x="11386491" y="6556449"/>
            <a:ext cx="639600" cy="3267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sz="1800">
                <a:solidFill>
                  <a:schemeClr val="lt1"/>
                </a:solidFill>
              </a:rPr>
              <a:t>‹#›</a:t>
            </a:fld>
            <a:endParaRPr sz="1931">
              <a:solidFill>
                <a:schemeClr val="lt1"/>
              </a:solidFill>
            </a:endParaRPr>
          </a:p>
        </p:txBody>
      </p:sp>
      <p:sp>
        <p:nvSpPr>
          <p:cNvPr id="119" name="Google Shape;119;g34650027a9b_0_0"/>
          <p:cNvSpPr/>
          <p:nvPr/>
        </p:nvSpPr>
        <p:spPr>
          <a:xfrm>
            <a:off x="3615675" y="-1475"/>
            <a:ext cx="4154700" cy="535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1" i="0" sz="1500" u="none" cap="none" strike="noStrike">
              <a:solidFill>
                <a:srgbClr val="000000"/>
              </a:solidFill>
              <a:latin typeface="Times New Roman"/>
              <a:ea typeface="Times New Roman"/>
              <a:cs typeface="Times New Roman"/>
              <a:sym typeface="Times New Roman"/>
            </a:endParaRPr>
          </a:p>
        </p:txBody>
      </p:sp>
      <p:sp>
        <p:nvSpPr>
          <p:cNvPr id="120" name="Google Shape;120;g34650027a9b_0_0"/>
          <p:cNvSpPr/>
          <p:nvPr/>
        </p:nvSpPr>
        <p:spPr>
          <a:xfrm>
            <a:off x="0" y="-1472"/>
            <a:ext cx="1329600" cy="452100"/>
          </a:xfrm>
          <a:prstGeom prst="rect">
            <a:avLst/>
          </a:prstGeom>
          <a:solidFill>
            <a:srgbClr val="C000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00"/>
              <a:buFont typeface="Arial"/>
              <a:buNone/>
            </a:pPr>
            <a:r>
              <a:rPr b="1" lang="en-US">
                <a:solidFill>
                  <a:schemeClr val="dk1"/>
                </a:solidFill>
              </a:rPr>
              <a:t>ECSE 695</a:t>
            </a:r>
            <a:endParaRPr b="1" i="0" sz="1400" u="none" cap="none" strike="noStrike">
              <a:solidFill>
                <a:schemeClr val="dk1"/>
              </a:solidFill>
              <a:latin typeface="Arial"/>
              <a:ea typeface="Arial"/>
              <a:cs typeface="Arial"/>
              <a:sym typeface="Arial"/>
            </a:endParaRPr>
          </a:p>
        </p:txBody>
      </p:sp>
      <p:sp>
        <p:nvSpPr>
          <p:cNvPr id="121" name="Google Shape;121;g34650027a9b_0_0"/>
          <p:cNvSpPr txBox="1"/>
          <p:nvPr/>
        </p:nvSpPr>
        <p:spPr>
          <a:xfrm>
            <a:off x="0" y="855128"/>
            <a:ext cx="7506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p:txBody>
      </p:sp>
      <p:pic>
        <p:nvPicPr>
          <p:cNvPr descr="A blue letter with white background&#10;&#10;Description automatically generated" id="122" name="Google Shape;122;g34650027a9b_0_0"/>
          <p:cNvPicPr preferRelativeResize="0"/>
          <p:nvPr/>
        </p:nvPicPr>
        <p:blipFill rotWithShape="1">
          <a:blip r:embed="rId3">
            <a:alphaModFix/>
          </a:blip>
          <a:srcRect b="0" l="0" r="0" t="0"/>
          <a:stretch/>
        </p:blipFill>
        <p:spPr>
          <a:xfrm>
            <a:off x="0" y="6597352"/>
            <a:ext cx="1329635" cy="260648"/>
          </a:xfrm>
          <a:prstGeom prst="rect">
            <a:avLst/>
          </a:prstGeom>
          <a:noFill/>
          <a:ln>
            <a:noFill/>
          </a:ln>
        </p:spPr>
      </p:pic>
      <p:sp>
        <p:nvSpPr>
          <p:cNvPr id="123" name="Google Shape;123;g34650027a9b_0_0"/>
          <p:cNvSpPr txBox="1"/>
          <p:nvPr/>
        </p:nvSpPr>
        <p:spPr>
          <a:xfrm>
            <a:off x="8022596" y="6222504"/>
            <a:ext cx="4079700" cy="307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t/>
            </a:r>
            <a:endParaRPr b="0" i="0" sz="1400" u="none" cap="none" strike="noStrike">
              <a:solidFill>
                <a:srgbClr val="000000"/>
              </a:solidFill>
              <a:latin typeface="Arial"/>
              <a:ea typeface="Arial"/>
              <a:cs typeface="Arial"/>
              <a:sym typeface="Arial"/>
            </a:endParaRPr>
          </a:p>
        </p:txBody>
      </p:sp>
      <p:sp>
        <p:nvSpPr>
          <p:cNvPr id="124" name="Google Shape;124;g34650027a9b_0_0"/>
          <p:cNvSpPr txBox="1"/>
          <p:nvPr/>
        </p:nvSpPr>
        <p:spPr>
          <a:xfrm>
            <a:off x="7882801" y="533746"/>
            <a:ext cx="37719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t/>
            </a:r>
            <a:endParaRPr b="1"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C00000"/>
              </a:solidFill>
              <a:latin typeface="Arial"/>
              <a:ea typeface="Arial"/>
              <a:cs typeface="Arial"/>
              <a:sym typeface="Arial"/>
            </a:endParaRPr>
          </a:p>
        </p:txBody>
      </p:sp>
      <p:sp>
        <p:nvSpPr>
          <p:cNvPr id="125" name="Google Shape;125;g34650027a9b_0_0"/>
          <p:cNvSpPr txBox="1"/>
          <p:nvPr/>
        </p:nvSpPr>
        <p:spPr>
          <a:xfrm>
            <a:off x="79000" y="450625"/>
            <a:ext cx="9950100" cy="1201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t/>
            </a:r>
            <a:endParaRPr b="1" sz="1100">
              <a:solidFill>
                <a:schemeClr val="dk1"/>
              </a:solidFill>
            </a:endParaRPr>
          </a:p>
          <a:p>
            <a:pPr indent="0" lvl="0" marL="0" rtl="0" algn="l">
              <a:lnSpc>
                <a:spcPct val="115000"/>
              </a:lnSpc>
              <a:spcBef>
                <a:spcPts val="1200"/>
              </a:spcBef>
              <a:spcAft>
                <a:spcPts val="0"/>
              </a:spcAft>
              <a:buNone/>
            </a:pPr>
            <a:r>
              <a:t/>
            </a:r>
            <a:endParaRPr b="1">
              <a:solidFill>
                <a:schemeClr val="dk1"/>
              </a:solidFill>
              <a:latin typeface="Times New Roman"/>
              <a:ea typeface="Times New Roman"/>
              <a:cs typeface="Times New Roman"/>
              <a:sym typeface="Times New Roman"/>
            </a:endParaRPr>
          </a:p>
          <a:p>
            <a:pPr indent="0" lvl="0" marL="0" rtl="0" algn="l">
              <a:lnSpc>
                <a:spcPct val="115000"/>
              </a:lnSpc>
              <a:spcBef>
                <a:spcPts val="1600"/>
              </a:spcBef>
              <a:spcAft>
                <a:spcPts val="1600"/>
              </a:spcAft>
              <a:buNone/>
            </a:pPr>
            <a:r>
              <a:t/>
            </a:r>
            <a:endParaRPr>
              <a:solidFill>
                <a:schemeClr val="dk1"/>
              </a:solidFill>
              <a:latin typeface="Times New Roman"/>
              <a:ea typeface="Times New Roman"/>
              <a:cs typeface="Times New Roman"/>
              <a:sym typeface="Times New Roman"/>
            </a:endParaRPr>
          </a:p>
        </p:txBody>
      </p:sp>
      <p:sp>
        <p:nvSpPr>
          <p:cNvPr id="126" name="Google Shape;126;g34650027a9b_0_0"/>
          <p:cNvSpPr txBox="1"/>
          <p:nvPr/>
        </p:nvSpPr>
        <p:spPr>
          <a:xfrm>
            <a:off x="8134650" y="5405375"/>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127" name="Google Shape;127;g34650027a9b_0_0"/>
          <p:cNvSpPr txBox="1"/>
          <p:nvPr/>
        </p:nvSpPr>
        <p:spPr>
          <a:xfrm>
            <a:off x="0" y="450625"/>
            <a:ext cx="3000000" cy="369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1800"/>
              </a:spcAft>
              <a:buNone/>
            </a:pPr>
            <a:r>
              <a:t/>
            </a:r>
            <a:endParaRPr sz="1200">
              <a:solidFill>
                <a:schemeClr val="dk1"/>
              </a:solidFill>
              <a:latin typeface="Times New Roman"/>
              <a:ea typeface="Times New Roman"/>
              <a:cs typeface="Times New Roman"/>
              <a:sym typeface="Times New Roman"/>
            </a:endParaRPr>
          </a:p>
        </p:txBody>
      </p:sp>
      <p:sp>
        <p:nvSpPr>
          <p:cNvPr id="128" name="Google Shape;128;g34650027a9b_0_0"/>
          <p:cNvSpPr txBox="1"/>
          <p:nvPr/>
        </p:nvSpPr>
        <p:spPr>
          <a:xfrm>
            <a:off x="34300" y="581975"/>
            <a:ext cx="10039500" cy="1000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700"/>
              </a:spcBef>
              <a:spcAft>
                <a:spcPts val="0"/>
              </a:spcAft>
              <a:buNone/>
            </a:pPr>
            <a:r>
              <a:t/>
            </a:r>
            <a:endParaRPr sz="1900">
              <a:solidFill>
                <a:schemeClr val="dk1"/>
              </a:solidFill>
              <a:latin typeface="Times New Roman"/>
              <a:ea typeface="Times New Roman"/>
              <a:cs typeface="Times New Roman"/>
              <a:sym typeface="Times New Roman"/>
            </a:endParaRPr>
          </a:p>
          <a:p>
            <a:pPr indent="0" lvl="0" marL="0" rtl="0" algn="l">
              <a:lnSpc>
                <a:spcPct val="115000"/>
              </a:lnSpc>
              <a:spcBef>
                <a:spcPts val="1700"/>
              </a:spcBef>
              <a:spcAft>
                <a:spcPts val="1700"/>
              </a:spcAft>
              <a:buNone/>
            </a:pPr>
            <a:r>
              <a:t/>
            </a:r>
            <a:endParaRPr b="1" sz="1700">
              <a:solidFill>
                <a:schemeClr val="dk1"/>
              </a:solidFill>
              <a:latin typeface="Times New Roman"/>
              <a:ea typeface="Times New Roman"/>
              <a:cs typeface="Times New Roman"/>
              <a:sym typeface="Times New Roman"/>
            </a:endParaRPr>
          </a:p>
        </p:txBody>
      </p:sp>
      <p:sp>
        <p:nvSpPr>
          <p:cNvPr id="129" name="Google Shape;129;g34650027a9b_0_0"/>
          <p:cNvSpPr txBox="1"/>
          <p:nvPr/>
        </p:nvSpPr>
        <p:spPr>
          <a:xfrm>
            <a:off x="231450" y="687350"/>
            <a:ext cx="5062200" cy="8339700"/>
          </a:xfrm>
          <a:prstGeom prst="rect">
            <a:avLst/>
          </a:prstGeom>
          <a:noFill/>
          <a:ln>
            <a:noFill/>
          </a:ln>
        </p:spPr>
        <p:txBody>
          <a:bodyPr anchorCtr="0" anchor="t" bIns="91425" lIns="91425" spcFirstLastPara="1" rIns="91425" wrap="square" tIns="91425">
            <a:spAutoFit/>
          </a:bodyPr>
          <a:lstStyle/>
          <a:p>
            <a:pPr indent="-317500" lvl="0" marL="457200" rtl="0" algn="l">
              <a:spcBef>
                <a:spcPts val="120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Software Architecture: Designed and refined the modular software architecture that enables the integration of laser scanning, G-code processing, and adaptive control. This architecture provides the framework for current and future development.</a:t>
            </a:r>
            <a:endParaRPr>
              <a:solidFill>
                <a:schemeClr val="dk1"/>
              </a:solidFill>
              <a:latin typeface="Times New Roman"/>
              <a:ea typeface="Times New Roman"/>
              <a:cs typeface="Times New Roman"/>
              <a:sym typeface="Times New Roman"/>
            </a:endParaRPr>
          </a:p>
          <a:p>
            <a:pPr indent="-317500" lvl="0" marL="457200" rtl="0" algn="l">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Preprocessing and Data Handling: Developed the PreProcessor class and other modules for handling G-code files, including the layer-by-layer parsing system that enables targeted modifications.</a:t>
            </a:r>
            <a:endParaRPr>
              <a:solidFill>
                <a:schemeClr val="dk1"/>
              </a:solidFill>
              <a:latin typeface="Times New Roman"/>
              <a:ea typeface="Times New Roman"/>
              <a:cs typeface="Times New Roman"/>
              <a:sym typeface="Times New Roman"/>
            </a:endParaRPr>
          </a:p>
          <a:p>
            <a:pPr indent="-317500" lvl="0" marL="457200" rtl="0" algn="l">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Main Control Logic: Implemented the Main class that orchestrates the entire process flow, coordinating between preprocessing, scanning, and G-code execution.</a:t>
            </a:r>
            <a:endParaRPr>
              <a:solidFill>
                <a:schemeClr val="dk1"/>
              </a:solidFill>
              <a:latin typeface="Times New Roman"/>
              <a:ea typeface="Times New Roman"/>
              <a:cs typeface="Times New Roman"/>
              <a:sym typeface="Times New Roman"/>
            </a:endParaRPr>
          </a:p>
          <a:p>
            <a:pPr indent="-317500" lvl="0" marL="457200" rtl="0" algn="l">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Laser Data Streaming: Created the system for streaming and processing data from the Baumer laser scanner, including methods for handling data buffering and filtering.</a:t>
            </a:r>
            <a:endParaRPr>
              <a:solidFill>
                <a:schemeClr val="dk1"/>
              </a:solidFill>
              <a:latin typeface="Times New Roman"/>
              <a:ea typeface="Times New Roman"/>
              <a:cs typeface="Times New Roman"/>
              <a:sym typeface="Times New Roman"/>
            </a:endParaRPr>
          </a:p>
          <a:p>
            <a:pPr indent="-317500" lvl="0" marL="457200" rtl="0" algn="l">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PostProcessor Algorithm Design: Conceptualized and designed the PostProcessor algorithm for future researchers to implement, which handles the adaptive control based on measured deviations.</a:t>
            </a:r>
            <a:endParaRPr>
              <a:solidFill>
                <a:schemeClr val="dk1"/>
              </a:solidFill>
              <a:latin typeface="Times New Roman"/>
              <a:ea typeface="Times New Roman"/>
              <a:cs typeface="Times New Roman"/>
              <a:sym typeface="Times New Roman"/>
            </a:endParaRPr>
          </a:p>
          <a:p>
            <a:pPr indent="-317500" lvl="0" marL="457200" rtl="0" algn="l">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Literature review and project design</a:t>
            </a:r>
            <a:endParaRPr>
              <a:solidFill>
                <a:schemeClr val="dk1"/>
              </a:solidFill>
              <a:latin typeface="Times New Roman"/>
              <a:ea typeface="Times New Roman"/>
              <a:cs typeface="Times New Roman"/>
              <a:sym typeface="Times New Roman"/>
            </a:endParaRPr>
          </a:p>
          <a:p>
            <a:pPr indent="-317500" lvl="0" marL="457200" rtl="0" algn="l">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I also worked on the duet board connection for sending G code commands</a:t>
            </a:r>
            <a:endParaRPr>
              <a:solidFill>
                <a:schemeClr val="dk1"/>
              </a:solidFill>
              <a:latin typeface="Times New Roman"/>
              <a:ea typeface="Times New Roman"/>
              <a:cs typeface="Times New Roman"/>
              <a:sym typeface="Times New Roman"/>
            </a:endParaRPr>
          </a:p>
          <a:p>
            <a:pPr indent="-317500" lvl="0" marL="457200" rtl="0" algn="l">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The mechanical team did the mounting of the laser, but I was present to assist with whatever was needed </a:t>
            </a:r>
            <a:endParaRPr>
              <a:solidFill>
                <a:schemeClr val="dk1"/>
              </a:solidFill>
              <a:latin typeface="Times New Roman"/>
              <a:ea typeface="Times New Roman"/>
              <a:cs typeface="Times New Roman"/>
              <a:sym typeface="Times New Roman"/>
            </a:endParaRPr>
          </a:p>
          <a:p>
            <a:pPr indent="0" lvl="0" marL="457200" rtl="0" algn="l">
              <a:lnSpc>
                <a:spcPct val="115000"/>
              </a:lnSpc>
              <a:spcBef>
                <a:spcPts val="1200"/>
              </a:spcBef>
              <a:spcAft>
                <a:spcPts val="0"/>
              </a:spcAft>
              <a:buNone/>
            </a:pPr>
            <a:r>
              <a:t/>
            </a:r>
            <a:endParaRPr b="1">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t/>
            </a:r>
            <a:endParaRPr b="1" sz="18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b="1" sz="23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b="1" sz="16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b="1" sz="1800"/>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g34650027a9b_0_32"/>
          <p:cNvSpPr/>
          <p:nvPr/>
        </p:nvSpPr>
        <p:spPr>
          <a:xfrm>
            <a:off x="1329635" y="-1472"/>
            <a:ext cx="10862400" cy="452100"/>
          </a:xfrm>
          <a:prstGeom prst="rect">
            <a:avLst/>
          </a:prstGeom>
          <a:solidFill>
            <a:srgbClr val="002060"/>
          </a:solidFill>
          <a:ln>
            <a:noFill/>
          </a:ln>
        </p:spPr>
        <p:txBody>
          <a:bodyPr anchorCtr="0" anchor="ctr" bIns="21400" lIns="42825" spcFirstLastPara="1" rIns="42825" wrap="square" tIns="21400">
            <a:noAutofit/>
          </a:bodyPr>
          <a:lstStyle/>
          <a:p>
            <a:pPr indent="0" lvl="0" marL="0" rtl="0" algn="l">
              <a:spcBef>
                <a:spcPts val="0"/>
              </a:spcBef>
              <a:spcAft>
                <a:spcPts val="0"/>
              </a:spcAft>
              <a:buClr>
                <a:srgbClr val="000000"/>
              </a:buClr>
              <a:buSzPts val="294"/>
              <a:buFont typeface="Arial"/>
              <a:buNone/>
            </a:pPr>
            <a:r>
              <a:rPr b="1" lang="en-US" sz="1700">
                <a:solidFill>
                  <a:schemeClr val="lt1"/>
                </a:solidFill>
                <a:latin typeface="Times New Roman"/>
                <a:ea typeface="Times New Roman"/>
                <a:cs typeface="Times New Roman"/>
                <a:sym typeface="Times New Roman"/>
              </a:rPr>
              <a:t> My contributions</a:t>
            </a:r>
            <a:endParaRPr/>
          </a:p>
        </p:txBody>
      </p:sp>
      <p:sp>
        <p:nvSpPr>
          <p:cNvPr id="136" name="Google Shape;136;g34650027a9b_0_32"/>
          <p:cNvSpPr/>
          <p:nvPr/>
        </p:nvSpPr>
        <p:spPr>
          <a:xfrm>
            <a:off x="1329635" y="6597352"/>
            <a:ext cx="10862400" cy="260700"/>
          </a:xfrm>
          <a:prstGeom prst="rect">
            <a:avLst/>
          </a:prstGeom>
          <a:solidFill>
            <a:srgbClr val="002060"/>
          </a:solidFill>
          <a:ln>
            <a:noFill/>
          </a:ln>
        </p:spPr>
        <p:txBody>
          <a:bodyPr anchorCtr="0" anchor="ctr" bIns="21400" lIns="42825" spcFirstLastPara="1" rIns="42825" wrap="square" tIns="21400">
            <a:noAutofit/>
          </a:bodyPr>
          <a:lstStyle/>
          <a:p>
            <a:pPr indent="0" lvl="0" marL="0" marR="0" rtl="0" algn="l">
              <a:lnSpc>
                <a:spcPct val="100000"/>
              </a:lnSpc>
              <a:spcBef>
                <a:spcPts val="0"/>
              </a:spcBef>
              <a:spcAft>
                <a:spcPts val="0"/>
              </a:spcAft>
              <a:buClr>
                <a:srgbClr val="000000"/>
              </a:buClr>
              <a:buSzPts val="294"/>
              <a:buFont typeface="Arial"/>
              <a:buNone/>
            </a:pPr>
            <a:r>
              <a:t/>
            </a:r>
            <a:endParaRPr b="1" i="1" sz="294" u="none" cap="none" strike="noStrike">
              <a:solidFill>
                <a:srgbClr val="FFFFFF"/>
              </a:solidFill>
              <a:latin typeface="Calibri"/>
              <a:ea typeface="Calibri"/>
              <a:cs typeface="Calibri"/>
              <a:sym typeface="Calibri"/>
            </a:endParaRPr>
          </a:p>
        </p:txBody>
      </p:sp>
      <p:sp>
        <p:nvSpPr>
          <p:cNvPr id="137" name="Google Shape;137;g34650027a9b_0_32"/>
          <p:cNvSpPr txBox="1"/>
          <p:nvPr>
            <p:ph idx="12" type="sldNum"/>
          </p:nvPr>
        </p:nvSpPr>
        <p:spPr>
          <a:xfrm>
            <a:off x="11386491" y="6556449"/>
            <a:ext cx="639600" cy="3267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sz="1800">
                <a:solidFill>
                  <a:schemeClr val="lt1"/>
                </a:solidFill>
              </a:rPr>
              <a:t>‹#›</a:t>
            </a:fld>
            <a:endParaRPr sz="1931">
              <a:solidFill>
                <a:schemeClr val="lt1"/>
              </a:solidFill>
            </a:endParaRPr>
          </a:p>
        </p:txBody>
      </p:sp>
      <p:sp>
        <p:nvSpPr>
          <p:cNvPr id="138" name="Google Shape;138;g34650027a9b_0_32"/>
          <p:cNvSpPr/>
          <p:nvPr/>
        </p:nvSpPr>
        <p:spPr>
          <a:xfrm>
            <a:off x="3615675" y="-1475"/>
            <a:ext cx="4154700" cy="535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1" i="0" sz="1500" u="none" cap="none" strike="noStrike">
              <a:solidFill>
                <a:srgbClr val="000000"/>
              </a:solidFill>
              <a:latin typeface="Times New Roman"/>
              <a:ea typeface="Times New Roman"/>
              <a:cs typeface="Times New Roman"/>
              <a:sym typeface="Times New Roman"/>
            </a:endParaRPr>
          </a:p>
        </p:txBody>
      </p:sp>
      <p:sp>
        <p:nvSpPr>
          <p:cNvPr id="139" name="Google Shape;139;g34650027a9b_0_32"/>
          <p:cNvSpPr/>
          <p:nvPr/>
        </p:nvSpPr>
        <p:spPr>
          <a:xfrm>
            <a:off x="0" y="-1472"/>
            <a:ext cx="1329600" cy="452100"/>
          </a:xfrm>
          <a:prstGeom prst="rect">
            <a:avLst/>
          </a:prstGeom>
          <a:solidFill>
            <a:srgbClr val="C000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00"/>
              <a:buFont typeface="Arial"/>
              <a:buNone/>
            </a:pPr>
            <a:r>
              <a:rPr b="1" lang="en-US">
                <a:solidFill>
                  <a:schemeClr val="dk1"/>
                </a:solidFill>
              </a:rPr>
              <a:t>ECSE 695</a:t>
            </a:r>
            <a:endParaRPr b="1" i="0" sz="1400" u="none" cap="none" strike="noStrike">
              <a:solidFill>
                <a:schemeClr val="dk1"/>
              </a:solidFill>
              <a:latin typeface="Arial"/>
              <a:ea typeface="Arial"/>
              <a:cs typeface="Arial"/>
              <a:sym typeface="Arial"/>
            </a:endParaRPr>
          </a:p>
        </p:txBody>
      </p:sp>
      <p:sp>
        <p:nvSpPr>
          <p:cNvPr id="140" name="Google Shape;140;g34650027a9b_0_32"/>
          <p:cNvSpPr txBox="1"/>
          <p:nvPr/>
        </p:nvSpPr>
        <p:spPr>
          <a:xfrm>
            <a:off x="0" y="855128"/>
            <a:ext cx="7506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p:txBody>
      </p:sp>
      <p:pic>
        <p:nvPicPr>
          <p:cNvPr descr="A blue letter with white background&#10;&#10;Description automatically generated" id="141" name="Google Shape;141;g34650027a9b_0_32"/>
          <p:cNvPicPr preferRelativeResize="0"/>
          <p:nvPr/>
        </p:nvPicPr>
        <p:blipFill rotWithShape="1">
          <a:blip r:embed="rId3">
            <a:alphaModFix/>
          </a:blip>
          <a:srcRect b="0" l="0" r="0" t="0"/>
          <a:stretch/>
        </p:blipFill>
        <p:spPr>
          <a:xfrm>
            <a:off x="0" y="6597352"/>
            <a:ext cx="1329635" cy="260648"/>
          </a:xfrm>
          <a:prstGeom prst="rect">
            <a:avLst/>
          </a:prstGeom>
          <a:noFill/>
          <a:ln>
            <a:noFill/>
          </a:ln>
        </p:spPr>
      </p:pic>
      <p:sp>
        <p:nvSpPr>
          <p:cNvPr id="142" name="Google Shape;142;g34650027a9b_0_32"/>
          <p:cNvSpPr txBox="1"/>
          <p:nvPr/>
        </p:nvSpPr>
        <p:spPr>
          <a:xfrm>
            <a:off x="8022596" y="6222504"/>
            <a:ext cx="4079700" cy="307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t/>
            </a:r>
            <a:endParaRPr b="0" i="0" sz="1400" u="none" cap="none" strike="noStrike">
              <a:solidFill>
                <a:srgbClr val="000000"/>
              </a:solidFill>
              <a:latin typeface="Arial"/>
              <a:ea typeface="Arial"/>
              <a:cs typeface="Arial"/>
              <a:sym typeface="Arial"/>
            </a:endParaRPr>
          </a:p>
        </p:txBody>
      </p:sp>
      <p:sp>
        <p:nvSpPr>
          <p:cNvPr id="143" name="Google Shape;143;g34650027a9b_0_32"/>
          <p:cNvSpPr txBox="1"/>
          <p:nvPr/>
        </p:nvSpPr>
        <p:spPr>
          <a:xfrm>
            <a:off x="7882801" y="533746"/>
            <a:ext cx="37719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t/>
            </a:r>
            <a:endParaRPr b="1"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C00000"/>
              </a:solidFill>
              <a:latin typeface="Arial"/>
              <a:ea typeface="Arial"/>
              <a:cs typeface="Arial"/>
              <a:sym typeface="Arial"/>
            </a:endParaRPr>
          </a:p>
        </p:txBody>
      </p:sp>
      <p:sp>
        <p:nvSpPr>
          <p:cNvPr id="144" name="Google Shape;144;g34650027a9b_0_32"/>
          <p:cNvSpPr txBox="1"/>
          <p:nvPr/>
        </p:nvSpPr>
        <p:spPr>
          <a:xfrm>
            <a:off x="79000" y="450625"/>
            <a:ext cx="9950100" cy="1201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t/>
            </a:r>
            <a:endParaRPr b="1" sz="1100">
              <a:solidFill>
                <a:schemeClr val="dk1"/>
              </a:solidFill>
            </a:endParaRPr>
          </a:p>
          <a:p>
            <a:pPr indent="0" lvl="0" marL="0" rtl="0" algn="l">
              <a:lnSpc>
                <a:spcPct val="115000"/>
              </a:lnSpc>
              <a:spcBef>
                <a:spcPts val="1200"/>
              </a:spcBef>
              <a:spcAft>
                <a:spcPts val="0"/>
              </a:spcAft>
              <a:buNone/>
            </a:pPr>
            <a:r>
              <a:t/>
            </a:r>
            <a:endParaRPr b="1">
              <a:solidFill>
                <a:schemeClr val="dk1"/>
              </a:solidFill>
              <a:latin typeface="Times New Roman"/>
              <a:ea typeface="Times New Roman"/>
              <a:cs typeface="Times New Roman"/>
              <a:sym typeface="Times New Roman"/>
            </a:endParaRPr>
          </a:p>
          <a:p>
            <a:pPr indent="0" lvl="0" marL="0" rtl="0" algn="l">
              <a:lnSpc>
                <a:spcPct val="115000"/>
              </a:lnSpc>
              <a:spcBef>
                <a:spcPts val="1600"/>
              </a:spcBef>
              <a:spcAft>
                <a:spcPts val="1600"/>
              </a:spcAft>
              <a:buNone/>
            </a:pPr>
            <a:r>
              <a:t/>
            </a:r>
            <a:endParaRPr>
              <a:solidFill>
                <a:schemeClr val="dk1"/>
              </a:solidFill>
              <a:latin typeface="Times New Roman"/>
              <a:ea typeface="Times New Roman"/>
              <a:cs typeface="Times New Roman"/>
              <a:sym typeface="Times New Roman"/>
            </a:endParaRPr>
          </a:p>
        </p:txBody>
      </p:sp>
      <p:sp>
        <p:nvSpPr>
          <p:cNvPr id="145" name="Google Shape;145;g34650027a9b_0_32"/>
          <p:cNvSpPr txBox="1"/>
          <p:nvPr/>
        </p:nvSpPr>
        <p:spPr>
          <a:xfrm>
            <a:off x="8134650" y="5405375"/>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146" name="Google Shape;146;g34650027a9b_0_32"/>
          <p:cNvSpPr txBox="1"/>
          <p:nvPr/>
        </p:nvSpPr>
        <p:spPr>
          <a:xfrm>
            <a:off x="0" y="450625"/>
            <a:ext cx="3000000" cy="369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1800"/>
              </a:spcAft>
              <a:buNone/>
            </a:pPr>
            <a:r>
              <a:t/>
            </a:r>
            <a:endParaRPr sz="1200">
              <a:solidFill>
                <a:schemeClr val="dk1"/>
              </a:solidFill>
              <a:latin typeface="Times New Roman"/>
              <a:ea typeface="Times New Roman"/>
              <a:cs typeface="Times New Roman"/>
              <a:sym typeface="Times New Roman"/>
            </a:endParaRPr>
          </a:p>
        </p:txBody>
      </p:sp>
      <p:sp>
        <p:nvSpPr>
          <p:cNvPr id="147" name="Google Shape;147;g34650027a9b_0_32"/>
          <p:cNvSpPr txBox="1"/>
          <p:nvPr/>
        </p:nvSpPr>
        <p:spPr>
          <a:xfrm>
            <a:off x="34300" y="581975"/>
            <a:ext cx="10039500" cy="1000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700"/>
              </a:spcBef>
              <a:spcAft>
                <a:spcPts val="0"/>
              </a:spcAft>
              <a:buNone/>
            </a:pPr>
            <a:r>
              <a:t/>
            </a:r>
            <a:endParaRPr sz="1900">
              <a:solidFill>
                <a:schemeClr val="dk1"/>
              </a:solidFill>
              <a:latin typeface="Times New Roman"/>
              <a:ea typeface="Times New Roman"/>
              <a:cs typeface="Times New Roman"/>
              <a:sym typeface="Times New Roman"/>
            </a:endParaRPr>
          </a:p>
          <a:p>
            <a:pPr indent="0" lvl="0" marL="0" rtl="0" algn="l">
              <a:lnSpc>
                <a:spcPct val="115000"/>
              </a:lnSpc>
              <a:spcBef>
                <a:spcPts val="1700"/>
              </a:spcBef>
              <a:spcAft>
                <a:spcPts val="1700"/>
              </a:spcAft>
              <a:buNone/>
            </a:pPr>
            <a:r>
              <a:t/>
            </a:r>
            <a:endParaRPr b="1" sz="1700">
              <a:solidFill>
                <a:schemeClr val="dk1"/>
              </a:solidFill>
              <a:latin typeface="Times New Roman"/>
              <a:ea typeface="Times New Roman"/>
              <a:cs typeface="Times New Roman"/>
              <a:sym typeface="Times New Roman"/>
            </a:endParaRPr>
          </a:p>
        </p:txBody>
      </p:sp>
      <p:sp>
        <p:nvSpPr>
          <p:cNvPr id="148" name="Google Shape;148;g34650027a9b_0_32"/>
          <p:cNvSpPr txBox="1"/>
          <p:nvPr/>
        </p:nvSpPr>
        <p:spPr>
          <a:xfrm>
            <a:off x="231450" y="687350"/>
            <a:ext cx="5062200" cy="7877700"/>
          </a:xfrm>
          <a:prstGeom prst="rect">
            <a:avLst/>
          </a:prstGeom>
          <a:noFill/>
          <a:ln>
            <a:noFill/>
          </a:ln>
        </p:spPr>
        <p:txBody>
          <a:bodyPr anchorCtr="0" anchor="t" bIns="91425" lIns="91425" spcFirstLastPara="1" rIns="91425" wrap="square" tIns="91425">
            <a:spAutoFit/>
          </a:bodyPr>
          <a:lstStyle/>
          <a:p>
            <a:pPr indent="-342900" lvl="0" marL="457200" rtl="0" algn="l">
              <a:spcBef>
                <a:spcPts val="120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The mechanical team set up the gantry for the arc 1 machine and I made some documentation for my project based on this and also referred to Vishnu’s documentation </a:t>
            </a:r>
            <a:endParaRPr sz="1800">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Sometimes we had to refine the software architecture as we got more ideas and I am thankful to my team and Vishnu for all their support and guidance</a:t>
            </a:r>
            <a:endParaRPr sz="1800">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Kept in constant </a:t>
            </a:r>
            <a:r>
              <a:rPr lang="en-US" sz="1800">
                <a:solidFill>
                  <a:schemeClr val="dk1"/>
                </a:solidFill>
                <a:latin typeface="Times New Roman"/>
                <a:ea typeface="Times New Roman"/>
                <a:cs typeface="Times New Roman"/>
                <a:sym typeface="Times New Roman"/>
              </a:rPr>
              <a:t>contact</a:t>
            </a:r>
            <a:r>
              <a:rPr lang="en-US" sz="1800">
                <a:solidFill>
                  <a:schemeClr val="dk1"/>
                </a:solidFill>
                <a:latin typeface="Times New Roman"/>
                <a:ea typeface="Times New Roman"/>
                <a:cs typeface="Times New Roman"/>
                <a:sym typeface="Times New Roman"/>
              </a:rPr>
              <a:t> with Baumer to understand how we can use their API for this project </a:t>
            </a:r>
            <a:endParaRPr sz="1800">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I also had to learn the hardware concepts behind the duet board to understand how to integrate it with my project</a:t>
            </a:r>
            <a:endParaRPr sz="1800">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I made </a:t>
            </a:r>
            <a:r>
              <a:rPr lang="en-US" sz="1800">
                <a:solidFill>
                  <a:schemeClr val="dk1"/>
                </a:solidFill>
                <a:latin typeface="Times New Roman"/>
                <a:ea typeface="Times New Roman"/>
                <a:cs typeface="Times New Roman"/>
                <a:sym typeface="Times New Roman"/>
              </a:rPr>
              <a:t>documentation</a:t>
            </a:r>
            <a:r>
              <a:rPr lang="en-US" sz="1800">
                <a:solidFill>
                  <a:schemeClr val="dk1"/>
                </a:solidFill>
                <a:latin typeface="Times New Roman"/>
                <a:ea typeface="Times New Roman"/>
                <a:cs typeface="Times New Roman"/>
                <a:sym typeface="Times New Roman"/>
              </a:rPr>
              <a:t> based on this from the website that listed the constraints and functionalities </a:t>
            </a:r>
            <a:endParaRPr sz="1800">
              <a:solidFill>
                <a:schemeClr val="dk1"/>
              </a:solidFill>
              <a:latin typeface="Times New Roman"/>
              <a:ea typeface="Times New Roman"/>
              <a:cs typeface="Times New Roman"/>
              <a:sym typeface="Times New Roman"/>
            </a:endParaRPr>
          </a:p>
          <a:p>
            <a:pPr indent="0" lvl="0" marL="457200" rtl="0" algn="l">
              <a:lnSpc>
                <a:spcPct val="115000"/>
              </a:lnSpc>
              <a:spcBef>
                <a:spcPts val="1200"/>
              </a:spcBef>
              <a:spcAft>
                <a:spcPts val="0"/>
              </a:spcAft>
              <a:buNone/>
            </a:pPr>
            <a:r>
              <a:t/>
            </a:r>
            <a:endParaRPr b="1">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t/>
            </a:r>
            <a:endParaRPr b="1" sz="18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b="1" sz="23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b="1" sz="16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b="1" sz="1800"/>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g317e1a825e5_1_46"/>
          <p:cNvSpPr/>
          <p:nvPr/>
        </p:nvSpPr>
        <p:spPr>
          <a:xfrm>
            <a:off x="1329635" y="-1472"/>
            <a:ext cx="10862400" cy="452100"/>
          </a:xfrm>
          <a:prstGeom prst="rect">
            <a:avLst/>
          </a:prstGeom>
          <a:solidFill>
            <a:srgbClr val="002060"/>
          </a:solidFill>
          <a:ln>
            <a:noFill/>
          </a:ln>
        </p:spPr>
        <p:txBody>
          <a:bodyPr anchorCtr="0" anchor="ctr" bIns="21400" lIns="42825" spcFirstLastPara="1" rIns="42825" wrap="square" tIns="21400">
            <a:noAutofit/>
          </a:bodyPr>
          <a:lstStyle/>
          <a:p>
            <a:pPr indent="0" lvl="0" marL="0" marR="0" rtl="0" algn="l">
              <a:lnSpc>
                <a:spcPct val="100000"/>
              </a:lnSpc>
              <a:spcBef>
                <a:spcPts val="0"/>
              </a:spcBef>
              <a:spcAft>
                <a:spcPts val="0"/>
              </a:spcAft>
              <a:buClr>
                <a:srgbClr val="000000"/>
              </a:buClr>
              <a:buSzPts val="294"/>
              <a:buFont typeface="Arial"/>
              <a:buNone/>
            </a:pPr>
            <a:r>
              <a:t/>
            </a:r>
            <a:endParaRPr b="1" i="1" sz="294" u="none" cap="none" strike="noStrike">
              <a:solidFill>
                <a:srgbClr val="FFFFFF"/>
              </a:solidFill>
              <a:latin typeface="Calibri"/>
              <a:ea typeface="Calibri"/>
              <a:cs typeface="Calibri"/>
              <a:sym typeface="Calibri"/>
            </a:endParaRPr>
          </a:p>
        </p:txBody>
      </p:sp>
      <p:sp>
        <p:nvSpPr>
          <p:cNvPr id="155" name="Google Shape;155;g317e1a825e5_1_46"/>
          <p:cNvSpPr/>
          <p:nvPr/>
        </p:nvSpPr>
        <p:spPr>
          <a:xfrm>
            <a:off x="1329635" y="6597352"/>
            <a:ext cx="10862400" cy="260700"/>
          </a:xfrm>
          <a:prstGeom prst="rect">
            <a:avLst/>
          </a:prstGeom>
          <a:solidFill>
            <a:srgbClr val="002060"/>
          </a:solidFill>
          <a:ln>
            <a:noFill/>
          </a:ln>
        </p:spPr>
        <p:txBody>
          <a:bodyPr anchorCtr="0" anchor="ctr" bIns="21400" lIns="42825" spcFirstLastPara="1" rIns="42825" wrap="square" tIns="21400">
            <a:noAutofit/>
          </a:bodyPr>
          <a:lstStyle/>
          <a:p>
            <a:pPr indent="0" lvl="0" marL="0" marR="0" rtl="0" algn="l">
              <a:lnSpc>
                <a:spcPct val="100000"/>
              </a:lnSpc>
              <a:spcBef>
                <a:spcPts val="0"/>
              </a:spcBef>
              <a:spcAft>
                <a:spcPts val="0"/>
              </a:spcAft>
              <a:buClr>
                <a:srgbClr val="000000"/>
              </a:buClr>
              <a:buSzPts val="294"/>
              <a:buFont typeface="Arial"/>
              <a:buNone/>
            </a:pPr>
            <a:r>
              <a:t/>
            </a:r>
            <a:endParaRPr b="1" i="1" sz="294" u="none" cap="none" strike="noStrike">
              <a:solidFill>
                <a:srgbClr val="FFFFFF"/>
              </a:solidFill>
              <a:latin typeface="Calibri"/>
              <a:ea typeface="Calibri"/>
              <a:cs typeface="Calibri"/>
              <a:sym typeface="Calibri"/>
            </a:endParaRPr>
          </a:p>
        </p:txBody>
      </p:sp>
      <p:sp>
        <p:nvSpPr>
          <p:cNvPr id="156" name="Google Shape;156;g317e1a825e5_1_46"/>
          <p:cNvSpPr txBox="1"/>
          <p:nvPr>
            <p:ph idx="12" type="sldNum"/>
          </p:nvPr>
        </p:nvSpPr>
        <p:spPr>
          <a:xfrm>
            <a:off x="11386491" y="6556449"/>
            <a:ext cx="639600" cy="3267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sz="1800">
                <a:solidFill>
                  <a:schemeClr val="lt1"/>
                </a:solidFill>
              </a:rPr>
              <a:t>‹#›</a:t>
            </a:fld>
            <a:endParaRPr sz="1931">
              <a:solidFill>
                <a:schemeClr val="lt1"/>
              </a:solidFill>
            </a:endParaRPr>
          </a:p>
        </p:txBody>
      </p:sp>
      <p:sp>
        <p:nvSpPr>
          <p:cNvPr id="157" name="Google Shape;157;g317e1a825e5_1_46"/>
          <p:cNvSpPr/>
          <p:nvPr/>
        </p:nvSpPr>
        <p:spPr>
          <a:xfrm>
            <a:off x="4248629" y="44624"/>
            <a:ext cx="3419700" cy="400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1" lang="en-US" sz="2000">
                <a:solidFill>
                  <a:schemeClr val="lt1"/>
                </a:solidFill>
                <a:latin typeface="Times New Roman"/>
                <a:ea typeface="Times New Roman"/>
                <a:cs typeface="Times New Roman"/>
                <a:sym typeface="Times New Roman"/>
              </a:rPr>
              <a:t>Background and Motivation</a:t>
            </a:r>
            <a:endParaRPr b="0" i="0" sz="1400" u="none" cap="none" strike="noStrike">
              <a:solidFill>
                <a:srgbClr val="000000"/>
              </a:solidFill>
              <a:latin typeface="Arial"/>
              <a:ea typeface="Arial"/>
              <a:cs typeface="Arial"/>
              <a:sym typeface="Arial"/>
            </a:endParaRPr>
          </a:p>
        </p:txBody>
      </p:sp>
      <p:sp>
        <p:nvSpPr>
          <p:cNvPr id="158" name="Google Shape;158;g317e1a825e5_1_46"/>
          <p:cNvSpPr/>
          <p:nvPr/>
        </p:nvSpPr>
        <p:spPr>
          <a:xfrm>
            <a:off x="0" y="-1472"/>
            <a:ext cx="1329600" cy="452100"/>
          </a:xfrm>
          <a:prstGeom prst="rect">
            <a:avLst/>
          </a:prstGeom>
          <a:solidFill>
            <a:srgbClr val="C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00"/>
              <a:buFont typeface="Arial"/>
              <a:buNone/>
            </a:pPr>
            <a:r>
              <a:rPr b="1" i="0" lang="en-US" sz="1400" u="none" cap="none" strike="noStrike">
                <a:solidFill>
                  <a:srgbClr val="000000"/>
                </a:solidFill>
                <a:latin typeface="Arial"/>
                <a:ea typeface="Arial"/>
                <a:cs typeface="Arial"/>
                <a:sym typeface="Arial"/>
              </a:rPr>
              <a:t>ECSE </a:t>
            </a:r>
            <a:r>
              <a:rPr b="1" lang="en-US"/>
              <a:t> 695 </a:t>
            </a:r>
            <a:endParaRPr b="1" i="0" sz="1400" u="none" cap="none" strike="noStrike">
              <a:solidFill>
                <a:srgbClr val="000000"/>
              </a:solidFill>
              <a:latin typeface="Arial"/>
              <a:ea typeface="Arial"/>
              <a:cs typeface="Arial"/>
              <a:sym typeface="Arial"/>
            </a:endParaRPr>
          </a:p>
        </p:txBody>
      </p:sp>
      <p:pic>
        <p:nvPicPr>
          <p:cNvPr descr="A blue letter with white background&#10;&#10;Description automatically generated" id="159" name="Google Shape;159;g317e1a825e5_1_46"/>
          <p:cNvPicPr preferRelativeResize="0"/>
          <p:nvPr/>
        </p:nvPicPr>
        <p:blipFill rotWithShape="1">
          <a:blip r:embed="rId3">
            <a:alphaModFix/>
          </a:blip>
          <a:srcRect b="0" l="0" r="0" t="0"/>
          <a:stretch/>
        </p:blipFill>
        <p:spPr>
          <a:xfrm>
            <a:off x="0" y="6597352"/>
            <a:ext cx="1329635" cy="260648"/>
          </a:xfrm>
          <a:prstGeom prst="rect">
            <a:avLst/>
          </a:prstGeom>
          <a:noFill/>
          <a:ln>
            <a:noFill/>
          </a:ln>
        </p:spPr>
      </p:pic>
      <p:sp>
        <p:nvSpPr>
          <p:cNvPr id="160" name="Google Shape;160;g317e1a825e5_1_46"/>
          <p:cNvSpPr txBox="1"/>
          <p:nvPr/>
        </p:nvSpPr>
        <p:spPr>
          <a:xfrm>
            <a:off x="216950" y="619938"/>
            <a:ext cx="5639700" cy="5618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2200"/>
              </a:spcBef>
              <a:spcAft>
                <a:spcPts val="0"/>
              </a:spcAft>
              <a:buClr>
                <a:schemeClr val="dk1"/>
              </a:buClr>
              <a:buSzPts val="1100"/>
              <a:buFont typeface="Arial"/>
              <a:buNone/>
            </a:pPr>
            <a:r>
              <a:rPr b="1" lang="en-US">
                <a:solidFill>
                  <a:schemeClr val="dk1"/>
                </a:solidFill>
                <a:latin typeface="Times New Roman"/>
                <a:ea typeface="Times New Roman"/>
                <a:cs typeface="Times New Roman"/>
                <a:sym typeface="Times New Roman"/>
              </a:rPr>
              <a:t>WAAM Benefits:</a:t>
            </a:r>
            <a:endParaRPr b="1">
              <a:solidFill>
                <a:schemeClr val="dk1"/>
              </a:solidFill>
              <a:latin typeface="Times New Roman"/>
              <a:ea typeface="Times New Roman"/>
              <a:cs typeface="Times New Roman"/>
              <a:sym typeface="Times New Roman"/>
            </a:endParaRPr>
          </a:p>
          <a:p>
            <a:pPr indent="-317500" lvl="0" marL="457200" rtl="0" algn="l">
              <a:lnSpc>
                <a:spcPct val="115000"/>
              </a:lnSpc>
              <a:spcBef>
                <a:spcPts val="220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Efficient fabrication of medium-to-large metallic components</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High deposition rates (3-8 kg/hour)</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Excellent material efficiency (&gt;90%)</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Lower equipment costs than powder-based systems</a:t>
            </a:r>
            <a:endParaRPr>
              <a:solidFill>
                <a:schemeClr val="dk1"/>
              </a:solidFill>
              <a:latin typeface="Times New Roman"/>
              <a:ea typeface="Times New Roman"/>
              <a:cs typeface="Times New Roman"/>
              <a:sym typeface="Times New Roman"/>
            </a:endParaRPr>
          </a:p>
          <a:p>
            <a:pPr indent="0" lvl="0" marL="0" rtl="0" algn="l">
              <a:lnSpc>
                <a:spcPct val="115000"/>
              </a:lnSpc>
              <a:spcBef>
                <a:spcPts val="2200"/>
              </a:spcBef>
              <a:spcAft>
                <a:spcPts val="0"/>
              </a:spcAft>
              <a:buClr>
                <a:schemeClr val="dk1"/>
              </a:buClr>
              <a:buSzPts val="1100"/>
              <a:buFont typeface="Arial"/>
              <a:buNone/>
            </a:pPr>
            <a:r>
              <a:rPr b="1" lang="en-US">
                <a:solidFill>
                  <a:schemeClr val="dk1"/>
                </a:solidFill>
                <a:latin typeface="Times New Roman"/>
                <a:ea typeface="Times New Roman"/>
                <a:cs typeface="Times New Roman"/>
                <a:sym typeface="Times New Roman"/>
              </a:rPr>
              <a:t>Key Challenges:</a:t>
            </a:r>
            <a:endParaRPr b="1">
              <a:solidFill>
                <a:schemeClr val="dk1"/>
              </a:solidFill>
              <a:latin typeface="Times New Roman"/>
              <a:ea typeface="Times New Roman"/>
              <a:cs typeface="Times New Roman"/>
              <a:sym typeface="Times New Roman"/>
            </a:endParaRPr>
          </a:p>
          <a:p>
            <a:pPr indent="-317500" lvl="0" marL="457200" rtl="0" algn="l">
              <a:lnSpc>
                <a:spcPct val="115000"/>
              </a:lnSpc>
              <a:spcBef>
                <a:spcPts val="220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Thermal cycling causing substrate and layer deformation</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Variations in wire feed rate and material transfer</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Arc instabilities affecting energy input and melt pool dynamics</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Material property variations affecting solidification</a:t>
            </a:r>
            <a:endParaRPr>
              <a:solidFill>
                <a:schemeClr val="dk1"/>
              </a:solidFill>
              <a:latin typeface="Times New Roman"/>
              <a:ea typeface="Times New Roman"/>
              <a:cs typeface="Times New Roman"/>
              <a:sym typeface="Times New Roman"/>
            </a:endParaRPr>
          </a:p>
          <a:p>
            <a:pPr indent="0" lvl="0" marL="0" rtl="0" algn="l">
              <a:lnSpc>
                <a:spcPct val="115000"/>
              </a:lnSpc>
              <a:spcBef>
                <a:spcPts val="2200"/>
              </a:spcBef>
              <a:spcAft>
                <a:spcPts val="0"/>
              </a:spcAft>
              <a:buClr>
                <a:schemeClr val="dk1"/>
              </a:buClr>
              <a:buSzPts val="1100"/>
              <a:buFont typeface="Arial"/>
              <a:buNone/>
            </a:pPr>
            <a:r>
              <a:rPr b="1" lang="en-US">
                <a:solidFill>
                  <a:schemeClr val="dk1"/>
                </a:solidFill>
                <a:latin typeface="Times New Roman"/>
                <a:ea typeface="Times New Roman"/>
                <a:cs typeface="Times New Roman"/>
                <a:sym typeface="Times New Roman"/>
              </a:rPr>
              <a:t>Conventional Approach Limitations:</a:t>
            </a:r>
            <a:endParaRPr b="1">
              <a:solidFill>
                <a:schemeClr val="dk1"/>
              </a:solidFill>
              <a:latin typeface="Times New Roman"/>
              <a:ea typeface="Times New Roman"/>
              <a:cs typeface="Times New Roman"/>
              <a:sym typeface="Times New Roman"/>
            </a:endParaRPr>
          </a:p>
          <a:p>
            <a:pPr indent="-317500" lvl="0" marL="457200" rtl="0" algn="l">
              <a:lnSpc>
                <a:spcPct val="115000"/>
              </a:lnSpc>
              <a:spcBef>
                <a:spcPts val="220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Pre-programmed fixed Z-height increments</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Assumption of perfect uniformity in layer deposition</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Cumulative errors leading to dimensional inaccuracies</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Potential process failures in multi-layer components </a:t>
            </a:r>
            <a:endParaRPr>
              <a:solidFill>
                <a:schemeClr val="dk1"/>
              </a:solidFill>
              <a:latin typeface="Times New Roman"/>
              <a:ea typeface="Times New Roman"/>
              <a:cs typeface="Times New Roman"/>
              <a:sym typeface="Times New Roman"/>
            </a:endParaRPr>
          </a:p>
        </p:txBody>
      </p:sp>
      <p:sp>
        <p:nvSpPr>
          <p:cNvPr id="161" name="Google Shape;161;g317e1a825e5_1_46"/>
          <p:cNvSpPr txBox="1"/>
          <p:nvPr/>
        </p:nvSpPr>
        <p:spPr>
          <a:xfrm>
            <a:off x="6229725" y="634075"/>
            <a:ext cx="5415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t/>
            </a:r>
            <a:endParaRPr b="1" i="0" sz="1400" u="none" cap="none" strike="noStrike">
              <a:solidFill>
                <a:srgbClr val="000000"/>
              </a:solidFill>
              <a:latin typeface="Arial"/>
              <a:ea typeface="Arial"/>
              <a:cs typeface="Arial"/>
              <a:sym typeface="Arial"/>
            </a:endParaRPr>
          </a:p>
        </p:txBody>
      </p:sp>
      <p:pic>
        <p:nvPicPr>
          <p:cNvPr id="162" name="Google Shape;162;g317e1a825e5_1_46"/>
          <p:cNvPicPr preferRelativeResize="0"/>
          <p:nvPr/>
        </p:nvPicPr>
        <p:blipFill>
          <a:blip r:embed="rId4">
            <a:alphaModFix/>
          </a:blip>
          <a:stretch>
            <a:fillRect/>
          </a:stretch>
        </p:blipFill>
        <p:spPr>
          <a:xfrm>
            <a:off x="4944027" y="2333111"/>
            <a:ext cx="6847401" cy="19599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g332909b66dd_0_8"/>
          <p:cNvSpPr/>
          <p:nvPr/>
        </p:nvSpPr>
        <p:spPr>
          <a:xfrm>
            <a:off x="1329635" y="-1472"/>
            <a:ext cx="10862400" cy="452100"/>
          </a:xfrm>
          <a:prstGeom prst="rect">
            <a:avLst/>
          </a:prstGeom>
          <a:solidFill>
            <a:srgbClr val="002060"/>
          </a:solidFill>
          <a:ln>
            <a:noFill/>
          </a:ln>
        </p:spPr>
        <p:txBody>
          <a:bodyPr anchorCtr="0" anchor="ctr" bIns="21400" lIns="42825" spcFirstLastPara="1" rIns="42825" wrap="square" tIns="21400">
            <a:noAutofit/>
          </a:bodyPr>
          <a:lstStyle/>
          <a:p>
            <a:pPr indent="0" lvl="0" marL="0" marR="0" rtl="0" algn="l">
              <a:lnSpc>
                <a:spcPct val="100000"/>
              </a:lnSpc>
              <a:spcBef>
                <a:spcPts val="0"/>
              </a:spcBef>
              <a:spcAft>
                <a:spcPts val="0"/>
              </a:spcAft>
              <a:buClr>
                <a:srgbClr val="000000"/>
              </a:buClr>
              <a:buSzPts val="294"/>
              <a:buFont typeface="Arial"/>
              <a:buNone/>
            </a:pPr>
            <a:r>
              <a:t/>
            </a:r>
            <a:endParaRPr b="1" i="1" sz="294" u="none" cap="none" strike="noStrike">
              <a:solidFill>
                <a:srgbClr val="FFFFFF"/>
              </a:solidFill>
              <a:latin typeface="Calibri"/>
              <a:ea typeface="Calibri"/>
              <a:cs typeface="Calibri"/>
              <a:sym typeface="Calibri"/>
            </a:endParaRPr>
          </a:p>
        </p:txBody>
      </p:sp>
      <p:sp>
        <p:nvSpPr>
          <p:cNvPr id="169" name="Google Shape;169;g332909b66dd_0_8"/>
          <p:cNvSpPr/>
          <p:nvPr/>
        </p:nvSpPr>
        <p:spPr>
          <a:xfrm>
            <a:off x="1329635" y="6597352"/>
            <a:ext cx="10862400" cy="260700"/>
          </a:xfrm>
          <a:prstGeom prst="rect">
            <a:avLst/>
          </a:prstGeom>
          <a:solidFill>
            <a:srgbClr val="002060"/>
          </a:solidFill>
          <a:ln>
            <a:noFill/>
          </a:ln>
        </p:spPr>
        <p:txBody>
          <a:bodyPr anchorCtr="0" anchor="ctr" bIns="21400" lIns="42825" spcFirstLastPara="1" rIns="42825" wrap="square" tIns="21400">
            <a:noAutofit/>
          </a:bodyPr>
          <a:lstStyle/>
          <a:p>
            <a:pPr indent="0" lvl="0" marL="0" marR="0" rtl="0" algn="l">
              <a:lnSpc>
                <a:spcPct val="100000"/>
              </a:lnSpc>
              <a:spcBef>
                <a:spcPts val="0"/>
              </a:spcBef>
              <a:spcAft>
                <a:spcPts val="0"/>
              </a:spcAft>
              <a:buClr>
                <a:srgbClr val="000000"/>
              </a:buClr>
              <a:buSzPts val="294"/>
              <a:buFont typeface="Arial"/>
              <a:buNone/>
            </a:pPr>
            <a:r>
              <a:t/>
            </a:r>
            <a:endParaRPr b="1" i="1" sz="294" u="none" cap="none" strike="noStrike">
              <a:solidFill>
                <a:srgbClr val="FFFFFF"/>
              </a:solidFill>
              <a:latin typeface="Calibri"/>
              <a:ea typeface="Calibri"/>
              <a:cs typeface="Calibri"/>
              <a:sym typeface="Calibri"/>
            </a:endParaRPr>
          </a:p>
        </p:txBody>
      </p:sp>
      <p:sp>
        <p:nvSpPr>
          <p:cNvPr id="170" name="Google Shape;170;g332909b66dd_0_8"/>
          <p:cNvSpPr txBox="1"/>
          <p:nvPr>
            <p:ph idx="12" type="sldNum"/>
          </p:nvPr>
        </p:nvSpPr>
        <p:spPr>
          <a:xfrm>
            <a:off x="11386491" y="6556449"/>
            <a:ext cx="639600" cy="3267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sz="1800">
                <a:solidFill>
                  <a:schemeClr val="lt1"/>
                </a:solidFill>
              </a:rPr>
              <a:t>‹#›</a:t>
            </a:fld>
            <a:endParaRPr sz="1931">
              <a:solidFill>
                <a:schemeClr val="lt1"/>
              </a:solidFill>
            </a:endParaRPr>
          </a:p>
        </p:txBody>
      </p:sp>
      <p:sp>
        <p:nvSpPr>
          <p:cNvPr id="171" name="Google Shape;171;g332909b66dd_0_8"/>
          <p:cNvSpPr/>
          <p:nvPr/>
        </p:nvSpPr>
        <p:spPr>
          <a:xfrm>
            <a:off x="3615679" y="-1476"/>
            <a:ext cx="3419700" cy="400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1" lang="en-US" sz="1800">
                <a:solidFill>
                  <a:schemeClr val="lt1"/>
                </a:solidFill>
                <a:latin typeface="Times New Roman"/>
                <a:ea typeface="Times New Roman"/>
                <a:cs typeface="Times New Roman"/>
                <a:sym typeface="Times New Roman"/>
              </a:rPr>
              <a:t>Project Objectives</a:t>
            </a:r>
            <a:endParaRPr b="0" i="0" sz="1800" u="none" cap="none" strike="noStrike">
              <a:solidFill>
                <a:srgbClr val="000000"/>
              </a:solidFill>
              <a:latin typeface="Arial"/>
              <a:ea typeface="Arial"/>
              <a:cs typeface="Arial"/>
              <a:sym typeface="Arial"/>
            </a:endParaRPr>
          </a:p>
        </p:txBody>
      </p:sp>
      <p:sp>
        <p:nvSpPr>
          <p:cNvPr id="172" name="Google Shape;172;g332909b66dd_0_8"/>
          <p:cNvSpPr/>
          <p:nvPr/>
        </p:nvSpPr>
        <p:spPr>
          <a:xfrm>
            <a:off x="0" y="-1472"/>
            <a:ext cx="1329600" cy="452100"/>
          </a:xfrm>
          <a:prstGeom prst="rect">
            <a:avLst/>
          </a:prstGeom>
          <a:solidFill>
            <a:srgbClr val="C000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00"/>
              <a:buFont typeface="Arial"/>
              <a:buNone/>
            </a:pPr>
            <a:r>
              <a:rPr b="1" lang="en-US">
                <a:solidFill>
                  <a:schemeClr val="dk1"/>
                </a:solidFill>
              </a:rPr>
              <a:t>ECSE 695</a:t>
            </a:r>
            <a:endParaRPr b="1" i="0" sz="1400" u="none" cap="none" strike="noStrike">
              <a:solidFill>
                <a:schemeClr val="dk1"/>
              </a:solidFill>
              <a:latin typeface="Arial"/>
              <a:ea typeface="Arial"/>
              <a:cs typeface="Arial"/>
              <a:sym typeface="Arial"/>
            </a:endParaRPr>
          </a:p>
        </p:txBody>
      </p:sp>
      <p:sp>
        <p:nvSpPr>
          <p:cNvPr id="173" name="Google Shape;173;g332909b66dd_0_8"/>
          <p:cNvSpPr txBox="1"/>
          <p:nvPr/>
        </p:nvSpPr>
        <p:spPr>
          <a:xfrm>
            <a:off x="0" y="855128"/>
            <a:ext cx="7506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p:txBody>
      </p:sp>
      <p:pic>
        <p:nvPicPr>
          <p:cNvPr descr="A blue letter with white background&#10;&#10;Description automatically generated" id="174" name="Google Shape;174;g332909b66dd_0_8"/>
          <p:cNvPicPr preferRelativeResize="0"/>
          <p:nvPr/>
        </p:nvPicPr>
        <p:blipFill rotWithShape="1">
          <a:blip r:embed="rId3">
            <a:alphaModFix/>
          </a:blip>
          <a:srcRect b="0" l="0" r="0" t="0"/>
          <a:stretch/>
        </p:blipFill>
        <p:spPr>
          <a:xfrm>
            <a:off x="0" y="6597352"/>
            <a:ext cx="1329635" cy="260648"/>
          </a:xfrm>
          <a:prstGeom prst="rect">
            <a:avLst/>
          </a:prstGeom>
          <a:noFill/>
          <a:ln>
            <a:noFill/>
          </a:ln>
        </p:spPr>
      </p:pic>
      <p:sp>
        <p:nvSpPr>
          <p:cNvPr id="175" name="Google Shape;175;g332909b66dd_0_8"/>
          <p:cNvSpPr txBox="1"/>
          <p:nvPr/>
        </p:nvSpPr>
        <p:spPr>
          <a:xfrm>
            <a:off x="8022596" y="6222504"/>
            <a:ext cx="4079700" cy="307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t/>
            </a:r>
            <a:endParaRPr b="0" i="0" sz="1400" u="none" cap="none" strike="noStrike">
              <a:solidFill>
                <a:srgbClr val="000000"/>
              </a:solidFill>
              <a:latin typeface="Arial"/>
              <a:ea typeface="Arial"/>
              <a:cs typeface="Arial"/>
              <a:sym typeface="Arial"/>
            </a:endParaRPr>
          </a:p>
        </p:txBody>
      </p:sp>
      <p:sp>
        <p:nvSpPr>
          <p:cNvPr id="176" name="Google Shape;176;g332909b66dd_0_8"/>
          <p:cNvSpPr txBox="1"/>
          <p:nvPr/>
        </p:nvSpPr>
        <p:spPr>
          <a:xfrm>
            <a:off x="7882801" y="533746"/>
            <a:ext cx="37719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t/>
            </a:r>
            <a:endParaRPr b="1"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C00000"/>
              </a:solidFill>
              <a:latin typeface="Arial"/>
              <a:ea typeface="Arial"/>
              <a:cs typeface="Arial"/>
              <a:sym typeface="Arial"/>
            </a:endParaRPr>
          </a:p>
        </p:txBody>
      </p:sp>
      <p:sp>
        <p:nvSpPr>
          <p:cNvPr id="177" name="Google Shape;177;g332909b66dd_0_8"/>
          <p:cNvSpPr txBox="1"/>
          <p:nvPr/>
        </p:nvSpPr>
        <p:spPr>
          <a:xfrm>
            <a:off x="100650" y="2225075"/>
            <a:ext cx="99501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t/>
            </a:r>
            <a:endParaRPr b="0" i="0" sz="3200" u="none" cap="none" strike="noStrike">
              <a:solidFill>
                <a:schemeClr val="dk1"/>
              </a:solidFill>
              <a:latin typeface="Arial"/>
              <a:ea typeface="Arial"/>
              <a:cs typeface="Arial"/>
              <a:sym typeface="Arial"/>
            </a:endParaRPr>
          </a:p>
        </p:txBody>
      </p:sp>
      <p:sp>
        <p:nvSpPr>
          <p:cNvPr id="178" name="Google Shape;178;g332909b66dd_0_8"/>
          <p:cNvSpPr txBox="1"/>
          <p:nvPr/>
        </p:nvSpPr>
        <p:spPr>
          <a:xfrm>
            <a:off x="8134650" y="5405375"/>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179" name="Google Shape;179;g332909b66dd_0_8"/>
          <p:cNvSpPr txBox="1"/>
          <p:nvPr/>
        </p:nvSpPr>
        <p:spPr>
          <a:xfrm>
            <a:off x="0" y="450625"/>
            <a:ext cx="3000000" cy="5735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0"/>
              </a:spcAft>
              <a:buNone/>
            </a:pPr>
            <a:r>
              <a:rPr b="1" lang="en-US" sz="1200">
                <a:solidFill>
                  <a:schemeClr val="dk1"/>
                </a:solidFill>
                <a:latin typeface="Times New Roman"/>
                <a:ea typeface="Times New Roman"/>
                <a:cs typeface="Times New Roman"/>
                <a:sym typeface="Times New Roman"/>
              </a:rPr>
              <a:t>Primary Goal:</a:t>
            </a:r>
            <a:r>
              <a:rPr lang="en-US" sz="1200">
                <a:solidFill>
                  <a:schemeClr val="dk1"/>
                </a:solidFill>
                <a:latin typeface="Times New Roman"/>
                <a:ea typeface="Times New Roman"/>
                <a:cs typeface="Times New Roman"/>
                <a:sym typeface="Times New Roman"/>
              </a:rPr>
              <a:t> Develop a semi-closed-loop control system for WAAM</a:t>
            </a:r>
            <a:endParaRPr sz="1200">
              <a:solidFill>
                <a:schemeClr val="dk1"/>
              </a:solidFill>
              <a:latin typeface="Times New Roman"/>
              <a:ea typeface="Times New Roman"/>
              <a:cs typeface="Times New Roman"/>
              <a:sym typeface="Times New Roman"/>
            </a:endParaRPr>
          </a:p>
          <a:p>
            <a:pPr indent="0" lvl="0" marL="0" rtl="0" algn="l">
              <a:lnSpc>
                <a:spcPct val="115000"/>
              </a:lnSpc>
              <a:spcBef>
                <a:spcPts val="1800"/>
              </a:spcBef>
              <a:spcAft>
                <a:spcPts val="0"/>
              </a:spcAft>
              <a:buNone/>
            </a:pPr>
            <a:r>
              <a:rPr b="1" lang="en-US" sz="1200">
                <a:solidFill>
                  <a:schemeClr val="dk1"/>
                </a:solidFill>
                <a:latin typeface="Times New Roman"/>
                <a:ea typeface="Times New Roman"/>
                <a:cs typeface="Times New Roman"/>
                <a:sym typeface="Times New Roman"/>
              </a:rPr>
              <a:t>Specific Objectives:</a:t>
            </a:r>
            <a:endParaRPr b="1" sz="1200">
              <a:solidFill>
                <a:schemeClr val="dk1"/>
              </a:solidFill>
              <a:latin typeface="Times New Roman"/>
              <a:ea typeface="Times New Roman"/>
              <a:cs typeface="Times New Roman"/>
              <a:sym typeface="Times New Roman"/>
            </a:endParaRPr>
          </a:p>
          <a:p>
            <a:pPr indent="-304800" lvl="0" marL="457200" rtl="0" algn="l">
              <a:lnSpc>
                <a:spcPct val="115000"/>
              </a:lnSpc>
              <a:spcBef>
                <a:spcPts val="1800"/>
              </a:spcBef>
              <a:spcAft>
                <a:spcPts val="0"/>
              </a:spcAft>
              <a:buClr>
                <a:schemeClr val="dk1"/>
              </a:buClr>
              <a:buSzPts val="1200"/>
              <a:buFont typeface="Times New Roman"/>
              <a:buAutoNum type="arabicPeriod"/>
            </a:pPr>
            <a:r>
              <a:rPr lang="en-US" sz="1200">
                <a:solidFill>
                  <a:schemeClr val="dk1"/>
                </a:solidFill>
                <a:latin typeface="Times New Roman"/>
                <a:ea typeface="Times New Roman"/>
                <a:cs typeface="Times New Roman"/>
                <a:sym typeface="Times New Roman"/>
              </a:rPr>
              <a:t>Integrate real-time laser scanning to measure actual layer geometry post-deposition</a:t>
            </a:r>
            <a:endParaRPr sz="1200">
              <a:solidFill>
                <a:schemeClr val="dk1"/>
              </a:solidFill>
              <a:latin typeface="Times New Roman"/>
              <a:ea typeface="Times New Roman"/>
              <a:cs typeface="Times New Roman"/>
              <a:sym typeface="Times New Roman"/>
            </a:endParaRPr>
          </a:p>
          <a:p>
            <a:pPr indent="-304800" lvl="0" marL="457200" rtl="0" algn="l">
              <a:lnSpc>
                <a:spcPct val="115000"/>
              </a:lnSpc>
              <a:spcBef>
                <a:spcPts val="0"/>
              </a:spcBef>
              <a:spcAft>
                <a:spcPts val="0"/>
              </a:spcAft>
              <a:buClr>
                <a:schemeClr val="dk1"/>
              </a:buClr>
              <a:buSzPts val="1200"/>
              <a:buFont typeface="Times New Roman"/>
              <a:buAutoNum type="arabicPeriod"/>
            </a:pPr>
            <a:r>
              <a:rPr lang="en-US" sz="1200">
                <a:solidFill>
                  <a:schemeClr val="dk1"/>
                </a:solidFill>
                <a:latin typeface="Times New Roman"/>
                <a:ea typeface="Times New Roman"/>
                <a:cs typeface="Times New Roman"/>
                <a:sym typeface="Times New Roman"/>
              </a:rPr>
              <a:t>Develop algorithms to process scan data and identify deviations from target specifications</a:t>
            </a:r>
            <a:endParaRPr sz="1200">
              <a:solidFill>
                <a:schemeClr val="dk1"/>
              </a:solidFill>
              <a:latin typeface="Times New Roman"/>
              <a:ea typeface="Times New Roman"/>
              <a:cs typeface="Times New Roman"/>
              <a:sym typeface="Times New Roman"/>
            </a:endParaRPr>
          </a:p>
          <a:p>
            <a:pPr indent="-304800" lvl="0" marL="457200" rtl="0" algn="l">
              <a:lnSpc>
                <a:spcPct val="115000"/>
              </a:lnSpc>
              <a:spcBef>
                <a:spcPts val="0"/>
              </a:spcBef>
              <a:spcAft>
                <a:spcPts val="0"/>
              </a:spcAft>
              <a:buClr>
                <a:schemeClr val="dk1"/>
              </a:buClr>
              <a:buSzPts val="1200"/>
              <a:buFont typeface="Times New Roman"/>
              <a:buAutoNum type="arabicPeriod"/>
            </a:pPr>
            <a:r>
              <a:rPr lang="en-US" sz="1200">
                <a:solidFill>
                  <a:schemeClr val="dk1"/>
                </a:solidFill>
                <a:latin typeface="Times New Roman"/>
                <a:ea typeface="Times New Roman"/>
                <a:cs typeface="Times New Roman"/>
                <a:sym typeface="Times New Roman"/>
              </a:rPr>
              <a:t>Implement adaptive G-code modification to compensate for measured deviations</a:t>
            </a:r>
            <a:endParaRPr sz="1200">
              <a:solidFill>
                <a:schemeClr val="dk1"/>
              </a:solidFill>
              <a:latin typeface="Times New Roman"/>
              <a:ea typeface="Times New Roman"/>
              <a:cs typeface="Times New Roman"/>
              <a:sym typeface="Times New Roman"/>
            </a:endParaRPr>
          </a:p>
          <a:p>
            <a:pPr indent="-304800" lvl="0" marL="457200" rtl="0" algn="l">
              <a:lnSpc>
                <a:spcPct val="115000"/>
              </a:lnSpc>
              <a:spcBef>
                <a:spcPts val="0"/>
              </a:spcBef>
              <a:spcAft>
                <a:spcPts val="0"/>
              </a:spcAft>
              <a:buClr>
                <a:schemeClr val="dk1"/>
              </a:buClr>
              <a:buSzPts val="1200"/>
              <a:buFont typeface="Times New Roman"/>
              <a:buAutoNum type="arabicPeriod"/>
            </a:pPr>
            <a:r>
              <a:rPr lang="en-US" sz="1200">
                <a:solidFill>
                  <a:schemeClr val="dk1"/>
                </a:solidFill>
                <a:latin typeface="Times New Roman"/>
                <a:ea typeface="Times New Roman"/>
                <a:cs typeface="Times New Roman"/>
                <a:sym typeface="Times New Roman"/>
              </a:rPr>
              <a:t>Create a modular software architecture for seamless component integration</a:t>
            </a:r>
            <a:endParaRPr sz="1200">
              <a:solidFill>
                <a:schemeClr val="dk1"/>
              </a:solidFill>
              <a:latin typeface="Times New Roman"/>
              <a:ea typeface="Times New Roman"/>
              <a:cs typeface="Times New Roman"/>
              <a:sym typeface="Times New Roman"/>
            </a:endParaRPr>
          </a:p>
          <a:p>
            <a:pPr indent="-304800" lvl="0" marL="457200" rtl="0" algn="l">
              <a:lnSpc>
                <a:spcPct val="115000"/>
              </a:lnSpc>
              <a:spcBef>
                <a:spcPts val="0"/>
              </a:spcBef>
              <a:spcAft>
                <a:spcPts val="0"/>
              </a:spcAft>
              <a:buClr>
                <a:schemeClr val="dk1"/>
              </a:buClr>
              <a:buSzPts val="1200"/>
              <a:buFont typeface="Times New Roman"/>
              <a:buAutoNum type="arabicPeriod"/>
            </a:pPr>
            <a:r>
              <a:rPr lang="en-US" sz="1200">
                <a:solidFill>
                  <a:schemeClr val="dk1"/>
                </a:solidFill>
                <a:latin typeface="Times New Roman"/>
                <a:ea typeface="Times New Roman"/>
                <a:cs typeface="Times New Roman"/>
                <a:sym typeface="Times New Roman"/>
              </a:rPr>
              <a:t>Validate the effectiveness of the adaptive control strategy through experimental testing</a:t>
            </a:r>
            <a:endParaRPr sz="1200">
              <a:solidFill>
                <a:schemeClr val="dk1"/>
              </a:solidFill>
              <a:latin typeface="Times New Roman"/>
              <a:ea typeface="Times New Roman"/>
              <a:cs typeface="Times New Roman"/>
              <a:sym typeface="Times New Roman"/>
            </a:endParaRPr>
          </a:p>
          <a:p>
            <a:pPr indent="0" lvl="0" marL="0" rtl="0" algn="l">
              <a:lnSpc>
                <a:spcPct val="115000"/>
              </a:lnSpc>
              <a:spcBef>
                <a:spcPts val="1800"/>
              </a:spcBef>
              <a:spcAft>
                <a:spcPts val="1800"/>
              </a:spcAft>
              <a:buNone/>
            </a:pPr>
            <a:r>
              <a:rPr b="1" lang="en-US" sz="1200">
                <a:solidFill>
                  <a:schemeClr val="dk1"/>
                </a:solidFill>
                <a:latin typeface="Times New Roman"/>
                <a:ea typeface="Times New Roman"/>
                <a:cs typeface="Times New Roman"/>
                <a:sym typeface="Times New Roman"/>
              </a:rPr>
              <a:t>Working Hypothesis:</a:t>
            </a:r>
            <a:r>
              <a:rPr lang="en-US" sz="1200">
                <a:solidFill>
                  <a:schemeClr val="dk1"/>
                </a:solidFill>
                <a:latin typeface="Times New Roman"/>
                <a:ea typeface="Times New Roman"/>
                <a:cs typeface="Times New Roman"/>
                <a:sym typeface="Times New Roman"/>
              </a:rPr>
              <a:t> Measuring and compensating for layer-by-layer height deviations using real-time data will prevent error accumulation and improve dimensional accuracy</a:t>
            </a:r>
            <a:endParaRPr sz="1200">
              <a:solidFill>
                <a:schemeClr val="dk1"/>
              </a:solidFill>
              <a:latin typeface="Times New Roman"/>
              <a:ea typeface="Times New Roman"/>
              <a:cs typeface="Times New Roman"/>
              <a:sym typeface="Times New Roman"/>
            </a:endParaRPr>
          </a:p>
        </p:txBody>
      </p:sp>
      <p:pic>
        <p:nvPicPr>
          <p:cNvPr id="180" name="Google Shape;180;g332909b66dd_0_8"/>
          <p:cNvPicPr preferRelativeResize="0"/>
          <p:nvPr/>
        </p:nvPicPr>
        <p:blipFill>
          <a:blip r:embed="rId4">
            <a:alphaModFix/>
          </a:blip>
          <a:stretch>
            <a:fillRect/>
          </a:stretch>
        </p:blipFill>
        <p:spPr>
          <a:xfrm>
            <a:off x="3441675" y="2018050"/>
            <a:ext cx="8458200" cy="20574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g33e25cecd32_1_4"/>
          <p:cNvSpPr/>
          <p:nvPr/>
        </p:nvSpPr>
        <p:spPr>
          <a:xfrm>
            <a:off x="1329635" y="-1472"/>
            <a:ext cx="10862400" cy="452100"/>
          </a:xfrm>
          <a:prstGeom prst="rect">
            <a:avLst/>
          </a:prstGeom>
          <a:solidFill>
            <a:srgbClr val="002060"/>
          </a:solidFill>
          <a:ln>
            <a:noFill/>
          </a:ln>
        </p:spPr>
        <p:txBody>
          <a:bodyPr anchorCtr="0" anchor="ctr" bIns="21400" lIns="42825" spcFirstLastPara="1" rIns="42825" wrap="square" tIns="21400">
            <a:noAutofit/>
          </a:bodyPr>
          <a:lstStyle/>
          <a:p>
            <a:pPr indent="0" lvl="0" marL="0" marR="0" rtl="0" algn="l">
              <a:lnSpc>
                <a:spcPct val="100000"/>
              </a:lnSpc>
              <a:spcBef>
                <a:spcPts val="0"/>
              </a:spcBef>
              <a:spcAft>
                <a:spcPts val="0"/>
              </a:spcAft>
              <a:buClr>
                <a:srgbClr val="000000"/>
              </a:buClr>
              <a:buSzPts val="294"/>
              <a:buFont typeface="Arial"/>
              <a:buNone/>
            </a:pPr>
            <a:r>
              <a:t/>
            </a:r>
            <a:endParaRPr b="1" i="1" sz="294" u="none" cap="none" strike="noStrike">
              <a:solidFill>
                <a:srgbClr val="FFFFFF"/>
              </a:solidFill>
              <a:latin typeface="Calibri"/>
              <a:ea typeface="Calibri"/>
              <a:cs typeface="Calibri"/>
              <a:sym typeface="Calibri"/>
            </a:endParaRPr>
          </a:p>
        </p:txBody>
      </p:sp>
      <p:sp>
        <p:nvSpPr>
          <p:cNvPr id="187" name="Google Shape;187;g33e25cecd32_1_4"/>
          <p:cNvSpPr/>
          <p:nvPr/>
        </p:nvSpPr>
        <p:spPr>
          <a:xfrm>
            <a:off x="1329635" y="6597352"/>
            <a:ext cx="10862400" cy="260700"/>
          </a:xfrm>
          <a:prstGeom prst="rect">
            <a:avLst/>
          </a:prstGeom>
          <a:solidFill>
            <a:srgbClr val="002060"/>
          </a:solidFill>
          <a:ln>
            <a:noFill/>
          </a:ln>
        </p:spPr>
        <p:txBody>
          <a:bodyPr anchorCtr="0" anchor="ctr" bIns="21400" lIns="42825" spcFirstLastPara="1" rIns="42825" wrap="square" tIns="21400">
            <a:noAutofit/>
          </a:bodyPr>
          <a:lstStyle/>
          <a:p>
            <a:pPr indent="0" lvl="0" marL="0" marR="0" rtl="0" algn="l">
              <a:lnSpc>
                <a:spcPct val="100000"/>
              </a:lnSpc>
              <a:spcBef>
                <a:spcPts val="0"/>
              </a:spcBef>
              <a:spcAft>
                <a:spcPts val="0"/>
              </a:spcAft>
              <a:buClr>
                <a:srgbClr val="000000"/>
              </a:buClr>
              <a:buSzPts val="294"/>
              <a:buFont typeface="Arial"/>
              <a:buNone/>
            </a:pPr>
            <a:r>
              <a:t/>
            </a:r>
            <a:endParaRPr b="1" i="1" sz="294" u="none" cap="none" strike="noStrike">
              <a:solidFill>
                <a:srgbClr val="FFFFFF"/>
              </a:solidFill>
              <a:latin typeface="Calibri"/>
              <a:ea typeface="Calibri"/>
              <a:cs typeface="Calibri"/>
              <a:sym typeface="Calibri"/>
            </a:endParaRPr>
          </a:p>
        </p:txBody>
      </p:sp>
      <p:sp>
        <p:nvSpPr>
          <p:cNvPr id="188" name="Google Shape;188;g33e25cecd32_1_4"/>
          <p:cNvSpPr txBox="1"/>
          <p:nvPr>
            <p:ph idx="12" type="sldNum"/>
          </p:nvPr>
        </p:nvSpPr>
        <p:spPr>
          <a:xfrm>
            <a:off x="11386491" y="6556449"/>
            <a:ext cx="639600" cy="3267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sz="1800">
                <a:solidFill>
                  <a:schemeClr val="lt1"/>
                </a:solidFill>
              </a:rPr>
              <a:t>‹#›</a:t>
            </a:fld>
            <a:endParaRPr sz="1931">
              <a:solidFill>
                <a:schemeClr val="lt1"/>
              </a:solidFill>
            </a:endParaRPr>
          </a:p>
        </p:txBody>
      </p:sp>
      <p:sp>
        <p:nvSpPr>
          <p:cNvPr id="189" name="Google Shape;189;g33e25cecd32_1_4"/>
          <p:cNvSpPr/>
          <p:nvPr/>
        </p:nvSpPr>
        <p:spPr>
          <a:xfrm>
            <a:off x="3615679" y="-1476"/>
            <a:ext cx="3419700" cy="400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1" lang="en-US" sz="1800">
                <a:solidFill>
                  <a:schemeClr val="lt1"/>
                </a:solidFill>
                <a:latin typeface="Times New Roman"/>
                <a:ea typeface="Times New Roman"/>
                <a:cs typeface="Times New Roman"/>
                <a:sym typeface="Times New Roman"/>
              </a:rPr>
              <a:t> </a:t>
            </a:r>
            <a:r>
              <a:rPr b="1" lang="en-US" sz="1600">
                <a:solidFill>
                  <a:schemeClr val="lt1"/>
                </a:solidFill>
                <a:latin typeface="Times New Roman"/>
                <a:ea typeface="Times New Roman"/>
                <a:cs typeface="Times New Roman"/>
                <a:sym typeface="Times New Roman"/>
              </a:rPr>
              <a:t>Laser Triangulation - Fundamentals</a:t>
            </a:r>
            <a:endParaRPr b="0" i="0" sz="1600" u="none" cap="none" strike="noStrike">
              <a:solidFill>
                <a:srgbClr val="000000"/>
              </a:solidFill>
              <a:latin typeface="Arial"/>
              <a:ea typeface="Arial"/>
              <a:cs typeface="Arial"/>
              <a:sym typeface="Arial"/>
            </a:endParaRPr>
          </a:p>
        </p:txBody>
      </p:sp>
      <p:sp>
        <p:nvSpPr>
          <p:cNvPr id="190" name="Google Shape;190;g33e25cecd32_1_4"/>
          <p:cNvSpPr/>
          <p:nvPr/>
        </p:nvSpPr>
        <p:spPr>
          <a:xfrm>
            <a:off x="0" y="-1472"/>
            <a:ext cx="1329600" cy="452100"/>
          </a:xfrm>
          <a:prstGeom prst="rect">
            <a:avLst/>
          </a:prstGeom>
          <a:solidFill>
            <a:srgbClr val="C000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00"/>
              <a:buFont typeface="Arial"/>
              <a:buNone/>
            </a:pPr>
            <a:r>
              <a:rPr b="1" lang="en-US">
                <a:solidFill>
                  <a:schemeClr val="dk1"/>
                </a:solidFill>
              </a:rPr>
              <a:t>ECSE 695</a:t>
            </a:r>
            <a:endParaRPr b="1" i="0" sz="1400" u="none" cap="none" strike="noStrike">
              <a:solidFill>
                <a:schemeClr val="dk1"/>
              </a:solidFill>
              <a:latin typeface="Arial"/>
              <a:ea typeface="Arial"/>
              <a:cs typeface="Arial"/>
              <a:sym typeface="Arial"/>
            </a:endParaRPr>
          </a:p>
        </p:txBody>
      </p:sp>
      <p:sp>
        <p:nvSpPr>
          <p:cNvPr id="191" name="Google Shape;191;g33e25cecd32_1_4"/>
          <p:cNvSpPr txBox="1"/>
          <p:nvPr/>
        </p:nvSpPr>
        <p:spPr>
          <a:xfrm>
            <a:off x="0" y="855128"/>
            <a:ext cx="7506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p:txBody>
      </p:sp>
      <p:pic>
        <p:nvPicPr>
          <p:cNvPr descr="A blue letter with white background&#10;&#10;Description automatically generated" id="192" name="Google Shape;192;g33e25cecd32_1_4"/>
          <p:cNvPicPr preferRelativeResize="0"/>
          <p:nvPr/>
        </p:nvPicPr>
        <p:blipFill rotWithShape="1">
          <a:blip r:embed="rId3">
            <a:alphaModFix/>
          </a:blip>
          <a:srcRect b="0" l="0" r="0" t="0"/>
          <a:stretch/>
        </p:blipFill>
        <p:spPr>
          <a:xfrm>
            <a:off x="0" y="6597352"/>
            <a:ext cx="1329635" cy="260648"/>
          </a:xfrm>
          <a:prstGeom prst="rect">
            <a:avLst/>
          </a:prstGeom>
          <a:noFill/>
          <a:ln>
            <a:noFill/>
          </a:ln>
        </p:spPr>
      </p:pic>
      <p:sp>
        <p:nvSpPr>
          <p:cNvPr id="193" name="Google Shape;193;g33e25cecd32_1_4"/>
          <p:cNvSpPr txBox="1"/>
          <p:nvPr/>
        </p:nvSpPr>
        <p:spPr>
          <a:xfrm>
            <a:off x="8022596" y="6222504"/>
            <a:ext cx="4079700" cy="307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t/>
            </a:r>
            <a:endParaRPr b="0" i="0" sz="1400" u="none" cap="none" strike="noStrike">
              <a:solidFill>
                <a:srgbClr val="000000"/>
              </a:solidFill>
              <a:latin typeface="Arial"/>
              <a:ea typeface="Arial"/>
              <a:cs typeface="Arial"/>
              <a:sym typeface="Arial"/>
            </a:endParaRPr>
          </a:p>
        </p:txBody>
      </p:sp>
      <p:sp>
        <p:nvSpPr>
          <p:cNvPr id="194" name="Google Shape;194;g33e25cecd32_1_4"/>
          <p:cNvSpPr txBox="1"/>
          <p:nvPr/>
        </p:nvSpPr>
        <p:spPr>
          <a:xfrm>
            <a:off x="7882801" y="533746"/>
            <a:ext cx="37719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t/>
            </a:r>
            <a:endParaRPr b="1"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C00000"/>
              </a:solidFill>
              <a:latin typeface="Arial"/>
              <a:ea typeface="Arial"/>
              <a:cs typeface="Arial"/>
              <a:sym typeface="Arial"/>
            </a:endParaRPr>
          </a:p>
        </p:txBody>
      </p:sp>
      <p:sp>
        <p:nvSpPr>
          <p:cNvPr id="195" name="Google Shape;195;g33e25cecd32_1_4"/>
          <p:cNvSpPr txBox="1"/>
          <p:nvPr/>
        </p:nvSpPr>
        <p:spPr>
          <a:xfrm>
            <a:off x="100650" y="2225075"/>
            <a:ext cx="99501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t/>
            </a:r>
            <a:endParaRPr b="0" i="0" sz="3200" u="none" cap="none" strike="noStrike">
              <a:solidFill>
                <a:schemeClr val="dk1"/>
              </a:solidFill>
              <a:latin typeface="Arial"/>
              <a:ea typeface="Arial"/>
              <a:cs typeface="Arial"/>
              <a:sym typeface="Arial"/>
            </a:endParaRPr>
          </a:p>
        </p:txBody>
      </p:sp>
      <p:sp>
        <p:nvSpPr>
          <p:cNvPr id="196" name="Google Shape;196;g33e25cecd32_1_4"/>
          <p:cNvSpPr txBox="1"/>
          <p:nvPr/>
        </p:nvSpPr>
        <p:spPr>
          <a:xfrm>
            <a:off x="8134650" y="5405375"/>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197" name="Google Shape;197;g33e25cecd32_1_4"/>
          <p:cNvSpPr txBox="1"/>
          <p:nvPr/>
        </p:nvSpPr>
        <p:spPr>
          <a:xfrm>
            <a:off x="0" y="450625"/>
            <a:ext cx="3000000" cy="369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1800"/>
              </a:spcAft>
              <a:buNone/>
            </a:pPr>
            <a:r>
              <a:t/>
            </a:r>
            <a:endParaRPr sz="1200">
              <a:solidFill>
                <a:schemeClr val="dk1"/>
              </a:solidFill>
              <a:latin typeface="Times New Roman"/>
              <a:ea typeface="Times New Roman"/>
              <a:cs typeface="Times New Roman"/>
              <a:sym typeface="Times New Roman"/>
            </a:endParaRPr>
          </a:p>
        </p:txBody>
      </p:sp>
      <p:sp>
        <p:nvSpPr>
          <p:cNvPr id="198" name="Google Shape;198;g33e25cecd32_1_4"/>
          <p:cNvSpPr txBox="1"/>
          <p:nvPr/>
        </p:nvSpPr>
        <p:spPr>
          <a:xfrm>
            <a:off x="0" y="0"/>
            <a:ext cx="5235000" cy="5159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lang="en-US" sz="1200">
                <a:solidFill>
                  <a:schemeClr val="dk1"/>
                </a:solidFill>
                <a:latin typeface="Times New Roman"/>
                <a:ea typeface="Times New Roman"/>
                <a:cs typeface="Times New Roman"/>
                <a:sym typeface="Times New Roman"/>
              </a:rPr>
              <a:t>B</a:t>
            </a:r>
            <a:endParaRPr sz="1200">
              <a:solidFill>
                <a:schemeClr val="dk1"/>
              </a:solidFill>
              <a:latin typeface="Times New Roman"/>
              <a:ea typeface="Times New Roman"/>
              <a:cs typeface="Times New Roman"/>
              <a:sym typeface="Times New Roman"/>
            </a:endParaRPr>
          </a:p>
          <a:p>
            <a:pPr indent="0" lvl="0" marL="0" rtl="0" algn="l">
              <a:lnSpc>
                <a:spcPct val="115000"/>
              </a:lnSpc>
              <a:spcBef>
                <a:spcPts val="1400"/>
              </a:spcBef>
              <a:spcAft>
                <a:spcPts val="0"/>
              </a:spcAft>
              <a:buNone/>
            </a:pPr>
            <a:r>
              <a:rPr b="1" lang="en-US">
                <a:solidFill>
                  <a:schemeClr val="dk1"/>
                </a:solidFill>
                <a:latin typeface="Times New Roman"/>
                <a:ea typeface="Times New Roman"/>
                <a:cs typeface="Times New Roman"/>
                <a:sym typeface="Times New Roman"/>
              </a:rPr>
              <a:t>Basic Principle:</a:t>
            </a:r>
            <a:endParaRPr b="1">
              <a:solidFill>
                <a:schemeClr val="dk1"/>
              </a:solidFill>
              <a:latin typeface="Times New Roman"/>
              <a:ea typeface="Times New Roman"/>
              <a:cs typeface="Times New Roman"/>
              <a:sym typeface="Times New Roman"/>
            </a:endParaRPr>
          </a:p>
          <a:p>
            <a:pPr indent="-317500" lvl="0" marL="457200" rtl="0" algn="l">
              <a:lnSpc>
                <a:spcPct val="115000"/>
              </a:lnSpc>
              <a:spcBef>
                <a:spcPts val="140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Projects laser beam/line onto a surface</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Captures reflection with camera or photodiode array</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The offset or angle of reflected line reveals object's height</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Mathematical transformation converts pixel position to physical distance</a:t>
            </a:r>
            <a:endParaRPr>
              <a:solidFill>
                <a:schemeClr val="dk1"/>
              </a:solidFill>
              <a:latin typeface="Times New Roman"/>
              <a:ea typeface="Times New Roman"/>
              <a:cs typeface="Times New Roman"/>
              <a:sym typeface="Times New Roman"/>
            </a:endParaRPr>
          </a:p>
          <a:p>
            <a:pPr indent="0" lvl="0" marL="0" rtl="0" algn="l">
              <a:lnSpc>
                <a:spcPct val="115000"/>
              </a:lnSpc>
              <a:spcBef>
                <a:spcPts val="1400"/>
              </a:spcBef>
              <a:spcAft>
                <a:spcPts val="0"/>
              </a:spcAft>
              <a:buNone/>
            </a:pPr>
            <a:r>
              <a:rPr b="1" lang="en-US">
                <a:solidFill>
                  <a:schemeClr val="dk1"/>
                </a:solidFill>
                <a:latin typeface="Times New Roman"/>
                <a:ea typeface="Times New Roman"/>
                <a:cs typeface="Times New Roman"/>
                <a:sym typeface="Times New Roman"/>
              </a:rPr>
              <a:t>Key Advantages:</a:t>
            </a:r>
            <a:endParaRPr b="1">
              <a:solidFill>
                <a:schemeClr val="dk1"/>
              </a:solidFill>
              <a:latin typeface="Times New Roman"/>
              <a:ea typeface="Times New Roman"/>
              <a:cs typeface="Times New Roman"/>
              <a:sym typeface="Times New Roman"/>
            </a:endParaRPr>
          </a:p>
          <a:p>
            <a:pPr indent="-317500" lvl="0" marL="457200" rtl="0" algn="l">
              <a:lnSpc>
                <a:spcPct val="115000"/>
              </a:lnSpc>
              <a:spcBef>
                <a:spcPts val="140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Non-Contact Measurement: Ideal for hot, fragile, or fast-moving objects</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High Accuracy: Sub-millimeter or even sub-10 μm resolution</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Versatility: Adapts to many geometries and reflectivities</a:t>
            </a:r>
            <a:endParaRPr>
              <a:solidFill>
                <a:schemeClr val="dk1"/>
              </a:solidFill>
              <a:latin typeface="Times New Roman"/>
              <a:ea typeface="Times New Roman"/>
              <a:cs typeface="Times New Roman"/>
              <a:sym typeface="Times New Roman"/>
            </a:endParaRPr>
          </a:p>
          <a:p>
            <a:pPr indent="0" lvl="0" marL="0" rtl="0" algn="l">
              <a:lnSpc>
                <a:spcPct val="115000"/>
              </a:lnSpc>
              <a:spcBef>
                <a:spcPts val="1400"/>
              </a:spcBef>
              <a:spcAft>
                <a:spcPts val="0"/>
              </a:spcAft>
              <a:buNone/>
            </a:pPr>
            <a:r>
              <a:rPr b="1" lang="en-US">
                <a:solidFill>
                  <a:schemeClr val="dk1"/>
                </a:solidFill>
                <a:latin typeface="Times New Roman"/>
                <a:ea typeface="Times New Roman"/>
                <a:cs typeface="Times New Roman"/>
                <a:sym typeface="Times New Roman"/>
              </a:rPr>
              <a:t>Industrial Significance:</a:t>
            </a:r>
            <a:endParaRPr b="1">
              <a:solidFill>
                <a:schemeClr val="dk1"/>
              </a:solidFill>
              <a:latin typeface="Times New Roman"/>
              <a:ea typeface="Times New Roman"/>
              <a:cs typeface="Times New Roman"/>
              <a:sym typeface="Times New Roman"/>
            </a:endParaRPr>
          </a:p>
          <a:p>
            <a:pPr indent="-317500" lvl="0" marL="457200" rtl="0" algn="l">
              <a:lnSpc>
                <a:spcPct val="115000"/>
              </a:lnSpc>
              <a:spcBef>
                <a:spcPts val="140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Foundation for quality control in manufacturing</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Enables real-time process monitoring and control</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Critical for advanced manufacturing feedback systems</a:t>
            </a:r>
            <a:endParaRPr>
              <a:solidFill>
                <a:schemeClr val="dk1"/>
              </a:solidFill>
              <a:latin typeface="Times New Roman"/>
              <a:ea typeface="Times New Roman"/>
              <a:cs typeface="Times New Roman"/>
              <a:sym typeface="Times New Roman"/>
            </a:endParaRPr>
          </a:p>
        </p:txBody>
      </p:sp>
      <p:pic>
        <p:nvPicPr>
          <p:cNvPr id="199" name="Google Shape;199;g33e25cecd32_1_4"/>
          <p:cNvPicPr preferRelativeResize="0"/>
          <p:nvPr/>
        </p:nvPicPr>
        <p:blipFill>
          <a:blip r:embed="rId4">
            <a:alphaModFix/>
          </a:blip>
          <a:stretch>
            <a:fillRect/>
          </a:stretch>
        </p:blipFill>
        <p:spPr>
          <a:xfrm>
            <a:off x="7267625" y="1118750"/>
            <a:ext cx="3280925" cy="318639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g33e25cecd32_1_24"/>
          <p:cNvSpPr/>
          <p:nvPr/>
        </p:nvSpPr>
        <p:spPr>
          <a:xfrm>
            <a:off x="1329635" y="-1472"/>
            <a:ext cx="10862400" cy="452100"/>
          </a:xfrm>
          <a:prstGeom prst="rect">
            <a:avLst/>
          </a:prstGeom>
          <a:solidFill>
            <a:srgbClr val="002060"/>
          </a:solidFill>
          <a:ln>
            <a:noFill/>
          </a:ln>
        </p:spPr>
        <p:txBody>
          <a:bodyPr anchorCtr="0" anchor="ctr" bIns="21400" lIns="42825" spcFirstLastPara="1" rIns="42825" wrap="square" tIns="21400">
            <a:noAutofit/>
          </a:bodyPr>
          <a:lstStyle/>
          <a:p>
            <a:pPr indent="0" lvl="0" marL="0" marR="0" rtl="0" algn="l">
              <a:lnSpc>
                <a:spcPct val="100000"/>
              </a:lnSpc>
              <a:spcBef>
                <a:spcPts val="0"/>
              </a:spcBef>
              <a:spcAft>
                <a:spcPts val="0"/>
              </a:spcAft>
              <a:buClr>
                <a:srgbClr val="000000"/>
              </a:buClr>
              <a:buSzPts val="294"/>
              <a:buFont typeface="Arial"/>
              <a:buNone/>
            </a:pPr>
            <a:r>
              <a:t/>
            </a:r>
            <a:endParaRPr b="1" i="1" sz="294" u="none" cap="none" strike="noStrike">
              <a:solidFill>
                <a:srgbClr val="FFFFFF"/>
              </a:solidFill>
              <a:latin typeface="Calibri"/>
              <a:ea typeface="Calibri"/>
              <a:cs typeface="Calibri"/>
              <a:sym typeface="Calibri"/>
            </a:endParaRPr>
          </a:p>
        </p:txBody>
      </p:sp>
      <p:sp>
        <p:nvSpPr>
          <p:cNvPr id="206" name="Google Shape;206;g33e25cecd32_1_24"/>
          <p:cNvSpPr/>
          <p:nvPr/>
        </p:nvSpPr>
        <p:spPr>
          <a:xfrm>
            <a:off x="1329635" y="6597352"/>
            <a:ext cx="10862400" cy="260700"/>
          </a:xfrm>
          <a:prstGeom prst="rect">
            <a:avLst/>
          </a:prstGeom>
          <a:solidFill>
            <a:srgbClr val="002060"/>
          </a:solidFill>
          <a:ln>
            <a:noFill/>
          </a:ln>
        </p:spPr>
        <p:txBody>
          <a:bodyPr anchorCtr="0" anchor="ctr" bIns="21400" lIns="42825" spcFirstLastPara="1" rIns="42825" wrap="square" tIns="21400">
            <a:noAutofit/>
          </a:bodyPr>
          <a:lstStyle/>
          <a:p>
            <a:pPr indent="0" lvl="0" marL="0" marR="0" rtl="0" algn="l">
              <a:lnSpc>
                <a:spcPct val="100000"/>
              </a:lnSpc>
              <a:spcBef>
                <a:spcPts val="0"/>
              </a:spcBef>
              <a:spcAft>
                <a:spcPts val="0"/>
              </a:spcAft>
              <a:buClr>
                <a:srgbClr val="000000"/>
              </a:buClr>
              <a:buSzPts val="294"/>
              <a:buFont typeface="Arial"/>
              <a:buNone/>
            </a:pPr>
            <a:r>
              <a:t/>
            </a:r>
            <a:endParaRPr b="1" i="1" sz="294" u="none" cap="none" strike="noStrike">
              <a:solidFill>
                <a:srgbClr val="FFFFFF"/>
              </a:solidFill>
              <a:latin typeface="Calibri"/>
              <a:ea typeface="Calibri"/>
              <a:cs typeface="Calibri"/>
              <a:sym typeface="Calibri"/>
            </a:endParaRPr>
          </a:p>
        </p:txBody>
      </p:sp>
      <p:sp>
        <p:nvSpPr>
          <p:cNvPr id="207" name="Google Shape;207;g33e25cecd32_1_24"/>
          <p:cNvSpPr txBox="1"/>
          <p:nvPr>
            <p:ph idx="12" type="sldNum"/>
          </p:nvPr>
        </p:nvSpPr>
        <p:spPr>
          <a:xfrm>
            <a:off x="11386491" y="6556449"/>
            <a:ext cx="639600" cy="3267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sz="1800">
                <a:solidFill>
                  <a:schemeClr val="lt1"/>
                </a:solidFill>
              </a:rPr>
              <a:t>‹#›</a:t>
            </a:fld>
            <a:endParaRPr sz="1931">
              <a:solidFill>
                <a:schemeClr val="lt1"/>
              </a:solidFill>
            </a:endParaRPr>
          </a:p>
        </p:txBody>
      </p:sp>
      <p:sp>
        <p:nvSpPr>
          <p:cNvPr id="208" name="Google Shape;208;g33e25cecd32_1_24"/>
          <p:cNvSpPr/>
          <p:nvPr/>
        </p:nvSpPr>
        <p:spPr>
          <a:xfrm>
            <a:off x="3615679" y="-1476"/>
            <a:ext cx="3419700" cy="400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1" lang="en-US" sz="1800">
                <a:solidFill>
                  <a:schemeClr val="lt1"/>
                </a:solidFill>
                <a:latin typeface="Times New Roman"/>
                <a:ea typeface="Times New Roman"/>
                <a:cs typeface="Times New Roman"/>
                <a:sym typeface="Times New Roman"/>
              </a:rPr>
              <a:t>Existing Laser Scanners</a:t>
            </a:r>
            <a:endParaRPr b="0" i="0" sz="1600" u="none" cap="none" strike="noStrike">
              <a:solidFill>
                <a:srgbClr val="000000"/>
              </a:solidFill>
              <a:latin typeface="Arial"/>
              <a:ea typeface="Arial"/>
              <a:cs typeface="Arial"/>
              <a:sym typeface="Arial"/>
            </a:endParaRPr>
          </a:p>
        </p:txBody>
      </p:sp>
      <p:sp>
        <p:nvSpPr>
          <p:cNvPr id="209" name="Google Shape;209;g33e25cecd32_1_24"/>
          <p:cNvSpPr/>
          <p:nvPr/>
        </p:nvSpPr>
        <p:spPr>
          <a:xfrm>
            <a:off x="0" y="-1472"/>
            <a:ext cx="1329600" cy="452100"/>
          </a:xfrm>
          <a:prstGeom prst="rect">
            <a:avLst/>
          </a:prstGeom>
          <a:solidFill>
            <a:srgbClr val="C000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00"/>
              <a:buFont typeface="Arial"/>
              <a:buNone/>
            </a:pPr>
            <a:r>
              <a:rPr b="1" lang="en-US">
                <a:solidFill>
                  <a:schemeClr val="dk1"/>
                </a:solidFill>
              </a:rPr>
              <a:t>ECSE 695</a:t>
            </a:r>
            <a:endParaRPr b="1" i="0" sz="1400" u="none" cap="none" strike="noStrike">
              <a:solidFill>
                <a:schemeClr val="dk1"/>
              </a:solidFill>
              <a:latin typeface="Arial"/>
              <a:ea typeface="Arial"/>
              <a:cs typeface="Arial"/>
              <a:sym typeface="Arial"/>
            </a:endParaRPr>
          </a:p>
        </p:txBody>
      </p:sp>
      <p:sp>
        <p:nvSpPr>
          <p:cNvPr id="210" name="Google Shape;210;g33e25cecd32_1_24"/>
          <p:cNvSpPr txBox="1"/>
          <p:nvPr/>
        </p:nvSpPr>
        <p:spPr>
          <a:xfrm>
            <a:off x="0" y="855128"/>
            <a:ext cx="7506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p:txBody>
      </p:sp>
      <p:pic>
        <p:nvPicPr>
          <p:cNvPr descr="A blue letter with white background&#10;&#10;Description automatically generated" id="211" name="Google Shape;211;g33e25cecd32_1_24"/>
          <p:cNvPicPr preferRelativeResize="0"/>
          <p:nvPr/>
        </p:nvPicPr>
        <p:blipFill rotWithShape="1">
          <a:blip r:embed="rId3">
            <a:alphaModFix/>
          </a:blip>
          <a:srcRect b="0" l="0" r="0" t="0"/>
          <a:stretch/>
        </p:blipFill>
        <p:spPr>
          <a:xfrm>
            <a:off x="0" y="6597352"/>
            <a:ext cx="1329635" cy="260648"/>
          </a:xfrm>
          <a:prstGeom prst="rect">
            <a:avLst/>
          </a:prstGeom>
          <a:noFill/>
          <a:ln>
            <a:noFill/>
          </a:ln>
        </p:spPr>
      </p:pic>
      <p:sp>
        <p:nvSpPr>
          <p:cNvPr id="212" name="Google Shape;212;g33e25cecd32_1_24"/>
          <p:cNvSpPr txBox="1"/>
          <p:nvPr/>
        </p:nvSpPr>
        <p:spPr>
          <a:xfrm>
            <a:off x="8022596" y="6222504"/>
            <a:ext cx="4079700" cy="307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t/>
            </a:r>
            <a:endParaRPr b="0" i="0" sz="1400" u="none" cap="none" strike="noStrike">
              <a:solidFill>
                <a:srgbClr val="000000"/>
              </a:solidFill>
              <a:latin typeface="Arial"/>
              <a:ea typeface="Arial"/>
              <a:cs typeface="Arial"/>
              <a:sym typeface="Arial"/>
            </a:endParaRPr>
          </a:p>
        </p:txBody>
      </p:sp>
      <p:sp>
        <p:nvSpPr>
          <p:cNvPr id="213" name="Google Shape;213;g33e25cecd32_1_24"/>
          <p:cNvSpPr txBox="1"/>
          <p:nvPr/>
        </p:nvSpPr>
        <p:spPr>
          <a:xfrm>
            <a:off x="7882801" y="533746"/>
            <a:ext cx="37719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t/>
            </a:r>
            <a:endParaRPr b="1"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C00000"/>
              </a:solidFill>
              <a:latin typeface="Arial"/>
              <a:ea typeface="Arial"/>
              <a:cs typeface="Arial"/>
              <a:sym typeface="Arial"/>
            </a:endParaRPr>
          </a:p>
        </p:txBody>
      </p:sp>
      <p:sp>
        <p:nvSpPr>
          <p:cNvPr id="214" name="Google Shape;214;g33e25cecd32_1_24"/>
          <p:cNvSpPr txBox="1"/>
          <p:nvPr/>
        </p:nvSpPr>
        <p:spPr>
          <a:xfrm>
            <a:off x="100650" y="2225075"/>
            <a:ext cx="99501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t/>
            </a:r>
            <a:endParaRPr b="0" i="0" sz="3200" u="none" cap="none" strike="noStrike">
              <a:solidFill>
                <a:schemeClr val="dk1"/>
              </a:solidFill>
              <a:latin typeface="Arial"/>
              <a:ea typeface="Arial"/>
              <a:cs typeface="Arial"/>
              <a:sym typeface="Arial"/>
            </a:endParaRPr>
          </a:p>
        </p:txBody>
      </p:sp>
      <p:sp>
        <p:nvSpPr>
          <p:cNvPr id="215" name="Google Shape;215;g33e25cecd32_1_24"/>
          <p:cNvSpPr txBox="1"/>
          <p:nvPr/>
        </p:nvSpPr>
        <p:spPr>
          <a:xfrm>
            <a:off x="8134650" y="5405375"/>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216" name="Google Shape;216;g33e25cecd32_1_24"/>
          <p:cNvSpPr txBox="1"/>
          <p:nvPr/>
        </p:nvSpPr>
        <p:spPr>
          <a:xfrm>
            <a:off x="0" y="450625"/>
            <a:ext cx="3000000" cy="369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1800"/>
              </a:spcAft>
              <a:buNone/>
            </a:pPr>
            <a:r>
              <a:t/>
            </a:r>
            <a:endParaRPr sz="1200">
              <a:solidFill>
                <a:schemeClr val="dk1"/>
              </a:solidFill>
              <a:latin typeface="Times New Roman"/>
              <a:ea typeface="Times New Roman"/>
              <a:cs typeface="Times New Roman"/>
              <a:sym typeface="Times New Roman"/>
            </a:endParaRPr>
          </a:p>
        </p:txBody>
      </p:sp>
      <p:sp>
        <p:nvSpPr>
          <p:cNvPr id="217" name="Google Shape;217;g33e25cecd32_1_24"/>
          <p:cNvSpPr txBox="1"/>
          <p:nvPr/>
        </p:nvSpPr>
        <p:spPr>
          <a:xfrm>
            <a:off x="0" y="0"/>
            <a:ext cx="5733300" cy="5279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lang="en-US" sz="1200">
                <a:solidFill>
                  <a:schemeClr val="dk1"/>
                </a:solidFill>
                <a:latin typeface="Times New Roman"/>
                <a:ea typeface="Times New Roman"/>
                <a:cs typeface="Times New Roman"/>
                <a:sym typeface="Times New Roman"/>
              </a:rPr>
              <a:t>B</a:t>
            </a:r>
            <a:endParaRPr sz="1200">
              <a:solidFill>
                <a:schemeClr val="dk1"/>
              </a:solidFill>
              <a:latin typeface="Times New Roman"/>
              <a:ea typeface="Times New Roman"/>
              <a:cs typeface="Times New Roman"/>
              <a:sym typeface="Times New Roman"/>
            </a:endParaRPr>
          </a:p>
          <a:p>
            <a:pPr indent="0" lvl="0" marL="0" rtl="0" algn="l">
              <a:lnSpc>
                <a:spcPct val="115000"/>
              </a:lnSpc>
              <a:spcBef>
                <a:spcPts val="1400"/>
              </a:spcBef>
              <a:spcAft>
                <a:spcPts val="0"/>
              </a:spcAft>
              <a:buNone/>
            </a:pPr>
            <a:r>
              <a:rPr b="1" lang="en-US">
                <a:solidFill>
                  <a:schemeClr val="dk1"/>
                </a:solidFill>
                <a:latin typeface="Times New Roman"/>
                <a:ea typeface="Times New Roman"/>
                <a:cs typeface="Times New Roman"/>
                <a:sym typeface="Times New Roman"/>
              </a:rPr>
              <a:t>Baumer OX200 Series:</a:t>
            </a:r>
            <a:endParaRPr b="1">
              <a:solidFill>
                <a:schemeClr val="dk1"/>
              </a:solidFill>
              <a:latin typeface="Times New Roman"/>
              <a:ea typeface="Times New Roman"/>
              <a:cs typeface="Times New Roman"/>
              <a:sym typeface="Times New Roman"/>
            </a:endParaRPr>
          </a:p>
          <a:p>
            <a:pPr indent="-317500" lvl="0" marL="457200" rtl="0" algn="l">
              <a:lnSpc>
                <a:spcPct val="115000"/>
              </a:lnSpc>
              <a:spcBef>
                <a:spcPts val="120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Smart profile sensors with integrated image processing</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Multiple industrial interfaces (Profinet, Modbus TCP, IO-Link, OPC UA, UDP)</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Flex Mount feature (±30° compensation for non-ideal alignment)</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Single-shot or continuous operating modes</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SDK/Web interface for parameter configuration</a:t>
            </a:r>
            <a:endParaRPr>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b="1" lang="en-US">
                <a:solidFill>
                  <a:schemeClr val="dk1"/>
                </a:solidFill>
                <a:latin typeface="Times New Roman"/>
                <a:ea typeface="Times New Roman"/>
                <a:cs typeface="Times New Roman"/>
                <a:sym typeface="Times New Roman"/>
              </a:rPr>
              <a:t>SICK Profiler 2:</a:t>
            </a:r>
            <a:endParaRPr b="1">
              <a:solidFill>
                <a:schemeClr val="dk1"/>
              </a:solidFill>
              <a:latin typeface="Times New Roman"/>
              <a:ea typeface="Times New Roman"/>
              <a:cs typeface="Times New Roman"/>
              <a:sym typeface="Times New Roman"/>
            </a:endParaRPr>
          </a:p>
          <a:p>
            <a:pPr indent="-317500" lvl="0" marL="457200" rtl="0" algn="l">
              <a:lnSpc>
                <a:spcPct val="115000"/>
              </a:lnSpc>
              <a:spcBef>
                <a:spcPts val="120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High-precision profile measurement with band-shaped laser</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Multiple measurement functions for each area (height, width, gap)</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Four camera modes for varied production environments</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CMOS receiver for triangulation and projection transforms</a:t>
            </a:r>
            <a:endParaRPr>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b="1" lang="en-US">
                <a:solidFill>
                  <a:schemeClr val="dk1"/>
                </a:solidFill>
                <a:latin typeface="Times New Roman"/>
                <a:ea typeface="Times New Roman"/>
                <a:cs typeface="Times New Roman"/>
                <a:sym typeface="Times New Roman"/>
              </a:rPr>
              <a:t>Keyence LJ-X Series:</a:t>
            </a:r>
            <a:endParaRPr b="1">
              <a:solidFill>
                <a:schemeClr val="dk1"/>
              </a:solidFill>
              <a:latin typeface="Times New Roman"/>
              <a:ea typeface="Times New Roman"/>
              <a:cs typeface="Times New Roman"/>
              <a:sym typeface="Times New Roman"/>
            </a:endParaRPr>
          </a:p>
          <a:p>
            <a:pPr indent="-317500" lvl="0" marL="457200" rtl="0" algn="l">
              <a:lnSpc>
                <a:spcPct val="115000"/>
              </a:lnSpc>
              <a:spcBef>
                <a:spcPts val="120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High-speed scanning (up to 16,000 profiles per second)</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Advanced noise removal for glossy or uneven surfaces</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User-friendly interface for quick parameter adjustments</a:t>
            </a:r>
            <a:endParaRPr sz="1200">
              <a:solidFill>
                <a:schemeClr val="dk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g33e25cecd32_1_42"/>
          <p:cNvSpPr/>
          <p:nvPr/>
        </p:nvSpPr>
        <p:spPr>
          <a:xfrm>
            <a:off x="1329635" y="-1472"/>
            <a:ext cx="10862400" cy="452100"/>
          </a:xfrm>
          <a:prstGeom prst="rect">
            <a:avLst/>
          </a:prstGeom>
          <a:solidFill>
            <a:srgbClr val="002060"/>
          </a:solidFill>
          <a:ln>
            <a:noFill/>
          </a:ln>
        </p:spPr>
        <p:txBody>
          <a:bodyPr anchorCtr="0" anchor="ctr" bIns="21400" lIns="42825" spcFirstLastPara="1" rIns="42825" wrap="square" tIns="21400">
            <a:noAutofit/>
          </a:bodyPr>
          <a:lstStyle/>
          <a:p>
            <a:pPr indent="0" lvl="0" marL="0" marR="0" rtl="0" algn="l">
              <a:lnSpc>
                <a:spcPct val="100000"/>
              </a:lnSpc>
              <a:spcBef>
                <a:spcPts val="0"/>
              </a:spcBef>
              <a:spcAft>
                <a:spcPts val="0"/>
              </a:spcAft>
              <a:buClr>
                <a:srgbClr val="000000"/>
              </a:buClr>
              <a:buSzPts val="294"/>
              <a:buFont typeface="Arial"/>
              <a:buNone/>
            </a:pPr>
            <a:r>
              <a:t/>
            </a:r>
            <a:endParaRPr b="1" i="1" sz="294" u="none" cap="none" strike="noStrike">
              <a:solidFill>
                <a:srgbClr val="FFFFFF"/>
              </a:solidFill>
              <a:latin typeface="Calibri"/>
              <a:ea typeface="Calibri"/>
              <a:cs typeface="Calibri"/>
              <a:sym typeface="Calibri"/>
            </a:endParaRPr>
          </a:p>
        </p:txBody>
      </p:sp>
      <p:sp>
        <p:nvSpPr>
          <p:cNvPr id="224" name="Google Shape;224;g33e25cecd32_1_42"/>
          <p:cNvSpPr/>
          <p:nvPr/>
        </p:nvSpPr>
        <p:spPr>
          <a:xfrm>
            <a:off x="1329635" y="6597352"/>
            <a:ext cx="10862400" cy="260700"/>
          </a:xfrm>
          <a:prstGeom prst="rect">
            <a:avLst/>
          </a:prstGeom>
          <a:solidFill>
            <a:srgbClr val="002060"/>
          </a:solidFill>
          <a:ln>
            <a:noFill/>
          </a:ln>
        </p:spPr>
        <p:txBody>
          <a:bodyPr anchorCtr="0" anchor="ctr" bIns="21400" lIns="42825" spcFirstLastPara="1" rIns="42825" wrap="square" tIns="21400">
            <a:noAutofit/>
          </a:bodyPr>
          <a:lstStyle/>
          <a:p>
            <a:pPr indent="0" lvl="0" marL="0" marR="0" rtl="0" algn="l">
              <a:lnSpc>
                <a:spcPct val="100000"/>
              </a:lnSpc>
              <a:spcBef>
                <a:spcPts val="0"/>
              </a:spcBef>
              <a:spcAft>
                <a:spcPts val="0"/>
              </a:spcAft>
              <a:buClr>
                <a:srgbClr val="000000"/>
              </a:buClr>
              <a:buSzPts val="294"/>
              <a:buFont typeface="Arial"/>
              <a:buNone/>
            </a:pPr>
            <a:r>
              <a:t/>
            </a:r>
            <a:endParaRPr b="1" i="1" sz="294" u="none" cap="none" strike="noStrike">
              <a:solidFill>
                <a:srgbClr val="FFFFFF"/>
              </a:solidFill>
              <a:latin typeface="Calibri"/>
              <a:ea typeface="Calibri"/>
              <a:cs typeface="Calibri"/>
              <a:sym typeface="Calibri"/>
            </a:endParaRPr>
          </a:p>
        </p:txBody>
      </p:sp>
      <p:sp>
        <p:nvSpPr>
          <p:cNvPr id="225" name="Google Shape;225;g33e25cecd32_1_42"/>
          <p:cNvSpPr txBox="1"/>
          <p:nvPr>
            <p:ph idx="12" type="sldNum"/>
          </p:nvPr>
        </p:nvSpPr>
        <p:spPr>
          <a:xfrm>
            <a:off x="11386491" y="6556449"/>
            <a:ext cx="639600" cy="3267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sz="1800">
                <a:solidFill>
                  <a:schemeClr val="lt1"/>
                </a:solidFill>
              </a:rPr>
              <a:t>‹#›</a:t>
            </a:fld>
            <a:endParaRPr sz="1931">
              <a:solidFill>
                <a:schemeClr val="lt1"/>
              </a:solidFill>
            </a:endParaRPr>
          </a:p>
        </p:txBody>
      </p:sp>
      <p:sp>
        <p:nvSpPr>
          <p:cNvPr id="226" name="Google Shape;226;g33e25cecd32_1_42"/>
          <p:cNvSpPr/>
          <p:nvPr/>
        </p:nvSpPr>
        <p:spPr>
          <a:xfrm>
            <a:off x="3615679" y="-1476"/>
            <a:ext cx="3419700" cy="400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1" lang="en-US" sz="1800">
                <a:solidFill>
                  <a:schemeClr val="lt1"/>
                </a:solidFill>
                <a:latin typeface="Times New Roman"/>
                <a:ea typeface="Times New Roman"/>
                <a:cs typeface="Times New Roman"/>
                <a:sym typeface="Times New Roman"/>
              </a:rPr>
              <a:t>WAAM-Specific Applications</a:t>
            </a:r>
            <a:endParaRPr b="0" i="0" sz="1600" u="none" cap="none" strike="noStrike">
              <a:solidFill>
                <a:srgbClr val="000000"/>
              </a:solidFill>
              <a:latin typeface="Arial"/>
              <a:ea typeface="Arial"/>
              <a:cs typeface="Arial"/>
              <a:sym typeface="Arial"/>
            </a:endParaRPr>
          </a:p>
        </p:txBody>
      </p:sp>
      <p:sp>
        <p:nvSpPr>
          <p:cNvPr id="227" name="Google Shape;227;g33e25cecd32_1_42"/>
          <p:cNvSpPr/>
          <p:nvPr/>
        </p:nvSpPr>
        <p:spPr>
          <a:xfrm>
            <a:off x="0" y="-1472"/>
            <a:ext cx="1329600" cy="452100"/>
          </a:xfrm>
          <a:prstGeom prst="rect">
            <a:avLst/>
          </a:prstGeom>
          <a:solidFill>
            <a:srgbClr val="C000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00"/>
              <a:buFont typeface="Arial"/>
              <a:buNone/>
            </a:pPr>
            <a:r>
              <a:rPr b="1" lang="en-US">
                <a:solidFill>
                  <a:schemeClr val="dk1"/>
                </a:solidFill>
              </a:rPr>
              <a:t>ECSE 695</a:t>
            </a:r>
            <a:endParaRPr b="1" i="0" sz="1400" u="none" cap="none" strike="noStrike">
              <a:solidFill>
                <a:schemeClr val="dk1"/>
              </a:solidFill>
              <a:latin typeface="Arial"/>
              <a:ea typeface="Arial"/>
              <a:cs typeface="Arial"/>
              <a:sym typeface="Arial"/>
            </a:endParaRPr>
          </a:p>
        </p:txBody>
      </p:sp>
      <p:sp>
        <p:nvSpPr>
          <p:cNvPr id="228" name="Google Shape;228;g33e25cecd32_1_42"/>
          <p:cNvSpPr txBox="1"/>
          <p:nvPr/>
        </p:nvSpPr>
        <p:spPr>
          <a:xfrm>
            <a:off x="0" y="855128"/>
            <a:ext cx="7506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p:txBody>
      </p:sp>
      <p:pic>
        <p:nvPicPr>
          <p:cNvPr descr="A blue letter with white background&#10;&#10;Description automatically generated" id="229" name="Google Shape;229;g33e25cecd32_1_42"/>
          <p:cNvPicPr preferRelativeResize="0"/>
          <p:nvPr/>
        </p:nvPicPr>
        <p:blipFill rotWithShape="1">
          <a:blip r:embed="rId3">
            <a:alphaModFix/>
          </a:blip>
          <a:srcRect b="0" l="0" r="0" t="0"/>
          <a:stretch/>
        </p:blipFill>
        <p:spPr>
          <a:xfrm>
            <a:off x="0" y="6597352"/>
            <a:ext cx="1329635" cy="260648"/>
          </a:xfrm>
          <a:prstGeom prst="rect">
            <a:avLst/>
          </a:prstGeom>
          <a:noFill/>
          <a:ln>
            <a:noFill/>
          </a:ln>
        </p:spPr>
      </p:pic>
      <p:sp>
        <p:nvSpPr>
          <p:cNvPr id="230" name="Google Shape;230;g33e25cecd32_1_42"/>
          <p:cNvSpPr txBox="1"/>
          <p:nvPr/>
        </p:nvSpPr>
        <p:spPr>
          <a:xfrm>
            <a:off x="8022596" y="6222504"/>
            <a:ext cx="4079700" cy="307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t/>
            </a:r>
            <a:endParaRPr b="0" i="0" sz="1400" u="none" cap="none" strike="noStrike">
              <a:solidFill>
                <a:srgbClr val="000000"/>
              </a:solidFill>
              <a:latin typeface="Arial"/>
              <a:ea typeface="Arial"/>
              <a:cs typeface="Arial"/>
              <a:sym typeface="Arial"/>
            </a:endParaRPr>
          </a:p>
        </p:txBody>
      </p:sp>
      <p:sp>
        <p:nvSpPr>
          <p:cNvPr id="231" name="Google Shape;231;g33e25cecd32_1_42"/>
          <p:cNvSpPr txBox="1"/>
          <p:nvPr/>
        </p:nvSpPr>
        <p:spPr>
          <a:xfrm>
            <a:off x="7882801" y="533746"/>
            <a:ext cx="37719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t/>
            </a:r>
            <a:endParaRPr b="1"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C00000"/>
              </a:solidFill>
              <a:latin typeface="Arial"/>
              <a:ea typeface="Arial"/>
              <a:cs typeface="Arial"/>
              <a:sym typeface="Arial"/>
            </a:endParaRPr>
          </a:p>
        </p:txBody>
      </p:sp>
      <p:sp>
        <p:nvSpPr>
          <p:cNvPr id="232" name="Google Shape;232;g33e25cecd32_1_42"/>
          <p:cNvSpPr txBox="1"/>
          <p:nvPr/>
        </p:nvSpPr>
        <p:spPr>
          <a:xfrm>
            <a:off x="100650" y="2225075"/>
            <a:ext cx="99501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t/>
            </a:r>
            <a:endParaRPr b="0" i="0" sz="3200" u="none" cap="none" strike="noStrike">
              <a:solidFill>
                <a:schemeClr val="dk1"/>
              </a:solidFill>
              <a:latin typeface="Arial"/>
              <a:ea typeface="Arial"/>
              <a:cs typeface="Arial"/>
              <a:sym typeface="Arial"/>
            </a:endParaRPr>
          </a:p>
        </p:txBody>
      </p:sp>
      <p:sp>
        <p:nvSpPr>
          <p:cNvPr id="233" name="Google Shape;233;g33e25cecd32_1_42"/>
          <p:cNvSpPr txBox="1"/>
          <p:nvPr/>
        </p:nvSpPr>
        <p:spPr>
          <a:xfrm>
            <a:off x="8134650" y="5405375"/>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234" name="Google Shape;234;g33e25cecd32_1_42"/>
          <p:cNvSpPr txBox="1"/>
          <p:nvPr/>
        </p:nvSpPr>
        <p:spPr>
          <a:xfrm>
            <a:off x="0" y="450625"/>
            <a:ext cx="3000000" cy="369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1800"/>
              </a:spcAft>
              <a:buNone/>
            </a:pPr>
            <a:r>
              <a:t/>
            </a:r>
            <a:endParaRPr sz="1200">
              <a:solidFill>
                <a:schemeClr val="dk1"/>
              </a:solidFill>
              <a:latin typeface="Times New Roman"/>
              <a:ea typeface="Times New Roman"/>
              <a:cs typeface="Times New Roman"/>
              <a:sym typeface="Times New Roman"/>
            </a:endParaRPr>
          </a:p>
        </p:txBody>
      </p:sp>
      <p:sp>
        <p:nvSpPr>
          <p:cNvPr id="235" name="Google Shape;235;g33e25cecd32_1_42"/>
          <p:cNvSpPr txBox="1"/>
          <p:nvPr/>
        </p:nvSpPr>
        <p:spPr>
          <a:xfrm>
            <a:off x="100650" y="533750"/>
            <a:ext cx="4855800" cy="5374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US" sz="1300">
                <a:solidFill>
                  <a:schemeClr val="dk1"/>
                </a:solidFill>
                <a:latin typeface="Times New Roman"/>
                <a:ea typeface="Times New Roman"/>
                <a:cs typeface="Times New Roman"/>
                <a:sym typeface="Times New Roman"/>
              </a:rPr>
              <a:t>Adaptive Z-Offset Control:</a:t>
            </a:r>
            <a:endParaRPr b="1" sz="1300">
              <a:solidFill>
                <a:schemeClr val="dk1"/>
              </a:solidFill>
              <a:latin typeface="Times New Roman"/>
              <a:ea typeface="Times New Roman"/>
              <a:cs typeface="Times New Roman"/>
              <a:sym typeface="Times New Roman"/>
            </a:endParaRPr>
          </a:p>
          <a:p>
            <a:pPr indent="-311150" lvl="0" marL="457200" rtl="0" algn="l">
              <a:lnSpc>
                <a:spcPct val="115000"/>
              </a:lnSpc>
              <a:spcBef>
                <a:spcPts val="1200"/>
              </a:spcBef>
              <a:spcAft>
                <a:spcPts val="0"/>
              </a:spcAft>
              <a:buClr>
                <a:schemeClr val="dk1"/>
              </a:buClr>
              <a:buSzPts val="1300"/>
              <a:buFont typeface="Times New Roman"/>
              <a:buChar char="●"/>
            </a:pPr>
            <a:r>
              <a:rPr lang="en-US" sz="1300">
                <a:solidFill>
                  <a:schemeClr val="dk1"/>
                </a:solidFill>
                <a:latin typeface="Times New Roman"/>
                <a:ea typeface="Times New Roman"/>
                <a:cs typeface="Times New Roman"/>
                <a:sym typeface="Times New Roman"/>
              </a:rPr>
              <a:t>Measures bead height after deposition</a:t>
            </a:r>
            <a:endParaRPr sz="1300">
              <a:solidFill>
                <a:schemeClr val="dk1"/>
              </a:solidFill>
              <a:latin typeface="Times New Roman"/>
              <a:ea typeface="Times New Roman"/>
              <a:cs typeface="Times New Roman"/>
              <a:sym typeface="Times New Roman"/>
            </a:endParaRPr>
          </a:p>
          <a:p>
            <a:pPr indent="-311150" lvl="0" marL="457200" rtl="0" algn="l">
              <a:lnSpc>
                <a:spcPct val="115000"/>
              </a:lnSpc>
              <a:spcBef>
                <a:spcPts val="0"/>
              </a:spcBef>
              <a:spcAft>
                <a:spcPts val="0"/>
              </a:spcAft>
              <a:buClr>
                <a:schemeClr val="dk1"/>
              </a:buClr>
              <a:buSzPts val="1300"/>
              <a:buFont typeface="Times New Roman"/>
              <a:buChar char="●"/>
            </a:pPr>
            <a:r>
              <a:rPr lang="en-US" sz="1300">
                <a:solidFill>
                  <a:schemeClr val="dk1"/>
                </a:solidFill>
                <a:latin typeface="Times New Roman"/>
                <a:ea typeface="Times New Roman"/>
                <a:cs typeface="Times New Roman"/>
                <a:sym typeface="Times New Roman"/>
              </a:rPr>
              <a:t>Adjusts next pass Z-coordinate if measured bead is taller/shorter than expected</a:t>
            </a:r>
            <a:endParaRPr sz="1300">
              <a:solidFill>
                <a:schemeClr val="dk1"/>
              </a:solidFill>
              <a:latin typeface="Times New Roman"/>
              <a:ea typeface="Times New Roman"/>
              <a:cs typeface="Times New Roman"/>
              <a:sym typeface="Times New Roman"/>
            </a:endParaRPr>
          </a:p>
          <a:p>
            <a:pPr indent="-311150" lvl="0" marL="457200" rtl="0" algn="l">
              <a:lnSpc>
                <a:spcPct val="115000"/>
              </a:lnSpc>
              <a:spcBef>
                <a:spcPts val="0"/>
              </a:spcBef>
              <a:spcAft>
                <a:spcPts val="0"/>
              </a:spcAft>
              <a:buClr>
                <a:schemeClr val="dk1"/>
              </a:buClr>
              <a:buSzPts val="1300"/>
              <a:buFont typeface="Times New Roman"/>
              <a:buChar char="●"/>
            </a:pPr>
            <a:r>
              <a:rPr lang="en-US" sz="1300">
                <a:solidFill>
                  <a:schemeClr val="dk1"/>
                </a:solidFill>
                <a:latin typeface="Times New Roman"/>
                <a:ea typeface="Times New Roman"/>
                <a:cs typeface="Times New Roman"/>
                <a:sym typeface="Times New Roman"/>
              </a:rPr>
              <a:t>Prevents cumulative height errors</a:t>
            </a:r>
            <a:endParaRPr sz="1300">
              <a:solidFill>
                <a:schemeClr val="dk1"/>
              </a:solidFill>
              <a:latin typeface="Times New Roman"/>
              <a:ea typeface="Times New Roman"/>
              <a:cs typeface="Times New Roman"/>
              <a:sym typeface="Times New Roman"/>
            </a:endParaRPr>
          </a:p>
          <a:p>
            <a:pPr indent="-311150" lvl="0" marL="457200" rtl="0" algn="l">
              <a:lnSpc>
                <a:spcPct val="115000"/>
              </a:lnSpc>
              <a:spcBef>
                <a:spcPts val="0"/>
              </a:spcBef>
              <a:spcAft>
                <a:spcPts val="0"/>
              </a:spcAft>
              <a:buClr>
                <a:schemeClr val="dk1"/>
              </a:buClr>
              <a:buSzPts val="1300"/>
              <a:buFont typeface="Times New Roman"/>
              <a:buChar char="●"/>
            </a:pPr>
            <a:r>
              <a:rPr lang="en-US" sz="1300">
                <a:solidFill>
                  <a:schemeClr val="dk1"/>
                </a:solidFill>
                <a:latin typeface="Times New Roman"/>
                <a:ea typeface="Times New Roman"/>
                <a:cs typeface="Times New Roman"/>
                <a:sym typeface="Times New Roman"/>
              </a:rPr>
              <a:t>Example: If measured bead is 0.2mm taller than expected, lower next pass by 0.2mm</a:t>
            </a:r>
            <a:endParaRPr sz="13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b="1" lang="en-US" sz="1300">
                <a:solidFill>
                  <a:schemeClr val="dk1"/>
                </a:solidFill>
                <a:latin typeface="Times New Roman"/>
                <a:ea typeface="Times New Roman"/>
                <a:cs typeface="Times New Roman"/>
                <a:sym typeface="Times New Roman"/>
              </a:rPr>
              <a:t>Defect Detection:</a:t>
            </a:r>
            <a:endParaRPr b="1" sz="1300">
              <a:solidFill>
                <a:schemeClr val="dk1"/>
              </a:solidFill>
              <a:latin typeface="Times New Roman"/>
              <a:ea typeface="Times New Roman"/>
              <a:cs typeface="Times New Roman"/>
              <a:sym typeface="Times New Roman"/>
            </a:endParaRPr>
          </a:p>
          <a:p>
            <a:pPr indent="-311150" lvl="0" marL="457200" rtl="0" algn="l">
              <a:lnSpc>
                <a:spcPct val="115000"/>
              </a:lnSpc>
              <a:spcBef>
                <a:spcPts val="1200"/>
              </a:spcBef>
              <a:spcAft>
                <a:spcPts val="0"/>
              </a:spcAft>
              <a:buClr>
                <a:schemeClr val="dk1"/>
              </a:buClr>
              <a:buSzPts val="1300"/>
              <a:buFont typeface="Times New Roman"/>
              <a:buChar char="●"/>
            </a:pPr>
            <a:r>
              <a:rPr lang="en-US" sz="1300">
                <a:solidFill>
                  <a:schemeClr val="dk1"/>
                </a:solidFill>
                <a:latin typeface="Times New Roman"/>
                <a:ea typeface="Times New Roman"/>
                <a:cs typeface="Times New Roman"/>
                <a:sym typeface="Times New Roman"/>
              </a:rPr>
              <a:t>Identifies cracks, voids, or irregularities</a:t>
            </a:r>
            <a:endParaRPr sz="1300">
              <a:solidFill>
                <a:schemeClr val="dk1"/>
              </a:solidFill>
              <a:latin typeface="Times New Roman"/>
              <a:ea typeface="Times New Roman"/>
              <a:cs typeface="Times New Roman"/>
              <a:sym typeface="Times New Roman"/>
            </a:endParaRPr>
          </a:p>
          <a:p>
            <a:pPr indent="-311150" lvl="0" marL="457200" rtl="0" algn="l">
              <a:lnSpc>
                <a:spcPct val="115000"/>
              </a:lnSpc>
              <a:spcBef>
                <a:spcPts val="0"/>
              </a:spcBef>
              <a:spcAft>
                <a:spcPts val="0"/>
              </a:spcAft>
              <a:buClr>
                <a:schemeClr val="dk1"/>
              </a:buClr>
              <a:buSzPts val="1300"/>
              <a:buFont typeface="Times New Roman"/>
              <a:buChar char="●"/>
            </a:pPr>
            <a:r>
              <a:rPr lang="en-US" sz="1300">
                <a:solidFill>
                  <a:schemeClr val="dk1"/>
                </a:solidFill>
                <a:latin typeface="Times New Roman"/>
                <a:ea typeface="Times New Roman"/>
                <a:cs typeface="Times New Roman"/>
                <a:sym typeface="Times New Roman"/>
              </a:rPr>
              <a:t>Enables process pausing or parameter adjustment</a:t>
            </a:r>
            <a:endParaRPr sz="1300">
              <a:solidFill>
                <a:schemeClr val="dk1"/>
              </a:solidFill>
              <a:latin typeface="Times New Roman"/>
              <a:ea typeface="Times New Roman"/>
              <a:cs typeface="Times New Roman"/>
              <a:sym typeface="Times New Roman"/>
            </a:endParaRPr>
          </a:p>
          <a:p>
            <a:pPr indent="-311150" lvl="0" marL="457200" rtl="0" algn="l">
              <a:lnSpc>
                <a:spcPct val="115000"/>
              </a:lnSpc>
              <a:spcBef>
                <a:spcPts val="0"/>
              </a:spcBef>
              <a:spcAft>
                <a:spcPts val="0"/>
              </a:spcAft>
              <a:buClr>
                <a:schemeClr val="dk1"/>
              </a:buClr>
              <a:buSzPts val="1300"/>
              <a:buFont typeface="Times New Roman"/>
              <a:buChar char="●"/>
            </a:pPr>
            <a:r>
              <a:rPr lang="en-US" sz="1300">
                <a:solidFill>
                  <a:schemeClr val="dk1"/>
                </a:solidFill>
                <a:latin typeface="Times New Roman"/>
                <a:ea typeface="Times New Roman"/>
                <a:cs typeface="Times New Roman"/>
                <a:sym typeface="Times New Roman"/>
              </a:rPr>
              <a:t>Provides quality assurance during builds</a:t>
            </a:r>
            <a:endParaRPr sz="13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b="1" lang="en-US" sz="1300">
                <a:solidFill>
                  <a:schemeClr val="dk1"/>
                </a:solidFill>
                <a:latin typeface="Times New Roman"/>
                <a:ea typeface="Times New Roman"/>
                <a:cs typeface="Times New Roman"/>
                <a:sym typeface="Times New Roman"/>
              </a:rPr>
              <a:t>Multi-Bead Layer Monitoring:</a:t>
            </a:r>
            <a:endParaRPr b="1" sz="1300">
              <a:solidFill>
                <a:schemeClr val="dk1"/>
              </a:solidFill>
              <a:latin typeface="Times New Roman"/>
              <a:ea typeface="Times New Roman"/>
              <a:cs typeface="Times New Roman"/>
              <a:sym typeface="Times New Roman"/>
            </a:endParaRPr>
          </a:p>
          <a:p>
            <a:pPr indent="-311150" lvl="0" marL="457200" rtl="0" algn="l">
              <a:lnSpc>
                <a:spcPct val="115000"/>
              </a:lnSpc>
              <a:spcBef>
                <a:spcPts val="1200"/>
              </a:spcBef>
              <a:spcAft>
                <a:spcPts val="0"/>
              </a:spcAft>
              <a:buClr>
                <a:schemeClr val="dk1"/>
              </a:buClr>
              <a:buSzPts val="1300"/>
              <a:buFont typeface="Times New Roman"/>
              <a:buChar char="●"/>
            </a:pPr>
            <a:r>
              <a:rPr lang="en-US" sz="1300">
                <a:solidFill>
                  <a:schemeClr val="dk1"/>
                </a:solidFill>
                <a:latin typeface="Times New Roman"/>
                <a:ea typeface="Times New Roman"/>
                <a:cs typeface="Times New Roman"/>
                <a:sym typeface="Times New Roman"/>
              </a:rPr>
              <a:t>Tracks bead width and overlap regions</a:t>
            </a:r>
            <a:endParaRPr sz="1300">
              <a:solidFill>
                <a:schemeClr val="dk1"/>
              </a:solidFill>
              <a:latin typeface="Times New Roman"/>
              <a:ea typeface="Times New Roman"/>
              <a:cs typeface="Times New Roman"/>
              <a:sym typeface="Times New Roman"/>
            </a:endParaRPr>
          </a:p>
          <a:p>
            <a:pPr indent="-311150" lvl="0" marL="457200" rtl="0" algn="l">
              <a:lnSpc>
                <a:spcPct val="115000"/>
              </a:lnSpc>
              <a:spcBef>
                <a:spcPts val="0"/>
              </a:spcBef>
              <a:spcAft>
                <a:spcPts val="0"/>
              </a:spcAft>
              <a:buClr>
                <a:schemeClr val="dk1"/>
              </a:buClr>
              <a:buSzPts val="1300"/>
              <a:buFont typeface="Times New Roman"/>
              <a:buChar char="●"/>
            </a:pPr>
            <a:r>
              <a:rPr lang="en-US" sz="1300">
                <a:solidFill>
                  <a:schemeClr val="dk1"/>
                </a:solidFill>
                <a:latin typeface="Times New Roman"/>
                <a:ea typeface="Times New Roman"/>
                <a:cs typeface="Times New Roman"/>
                <a:sym typeface="Times New Roman"/>
              </a:rPr>
              <a:t>Ensures consistent layer formation</a:t>
            </a:r>
            <a:endParaRPr sz="1300">
              <a:solidFill>
                <a:schemeClr val="dk1"/>
              </a:solidFill>
              <a:latin typeface="Times New Roman"/>
              <a:ea typeface="Times New Roman"/>
              <a:cs typeface="Times New Roman"/>
              <a:sym typeface="Times New Roman"/>
            </a:endParaRPr>
          </a:p>
          <a:p>
            <a:pPr indent="-311150" lvl="0" marL="457200" rtl="0" algn="l">
              <a:lnSpc>
                <a:spcPct val="115000"/>
              </a:lnSpc>
              <a:spcBef>
                <a:spcPts val="0"/>
              </a:spcBef>
              <a:spcAft>
                <a:spcPts val="0"/>
              </a:spcAft>
              <a:buClr>
                <a:schemeClr val="dk1"/>
              </a:buClr>
              <a:buSzPts val="1300"/>
              <a:buFont typeface="Times New Roman"/>
              <a:buChar char="●"/>
            </a:pPr>
            <a:r>
              <a:rPr lang="en-US" sz="1300">
                <a:solidFill>
                  <a:schemeClr val="dk1"/>
                </a:solidFill>
                <a:latin typeface="Times New Roman"/>
                <a:ea typeface="Times New Roman"/>
                <a:cs typeface="Times New Roman"/>
                <a:sym typeface="Times New Roman"/>
              </a:rPr>
              <a:t>Monitors inter-bead valleys and peaks</a:t>
            </a:r>
            <a:endParaRPr sz="13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b="1" lang="en-US" sz="1300">
                <a:solidFill>
                  <a:schemeClr val="dk1"/>
                </a:solidFill>
                <a:latin typeface="Times New Roman"/>
                <a:ea typeface="Times New Roman"/>
                <a:cs typeface="Times New Roman"/>
                <a:sym typeface="Times New Roman"/>
              </a:rPr>
              <a:t>Process Bridging:</a:t>
            </a:r>
            <a:endParaRPr b="1" sz="1300">
              <a:solidFill>
                <a:schemeClr val="dk1"/>
              </a:solidFill>
              <a:latin typeface="Times New Roman"/>
              <a:ea typeface="Times New Roman"/>
              <a:cs typeface="Times New Roman"/>
              <a:sym typeface="Times New Roman"/>
            </a:endParaRPr>
          </a:p>
          <a:p>
            <a:pPr indent="-311150" lvl="0" marL="457200" rtl="0" algn="l">
              <a:lnSpc>
                <a:spcPct val="115000"/>
              </a:lnSpc>
              <a:spcBef>
                <a:spcPts val="1200"/>
              </a:spcBef>
              <a:spcAft>
                <a:spcPts val="0"/>
              </a:spcAft>
              <a:buClr>
                <a:schemeClr val="dk1"/>
              </a:buClr>
              <a:buSzPts val="1300"/>
              <a:buFont typeface="Times New Roman"/>
              <a:buChar char="●"/>
            </a:pPr>
            <a:r>
              <a:rPr lang="en-US" sz="1300">
                <a:solidFill>
                  <a:schemeClr val="dk1"/>
                </a:solidFill>
                <a:latin typeface="Times New Roman"/>
                <a:ea typeface="Times New Roman"/>
                <a:cs typeface="Times New Roman"/>
                <a:sym typeface="Times New Roman"/>
              </a:rPr>
              <a:t>Connects manual quality assurance with automated systems</a:t>
            </a:r>
            <a:endParaRPr sz="1300">
              <a:solidFill>
                <a:schemeClr val="dk1"/>
              </a:solidFill>
              <a:latin typeface="Times New Roman"/>
              <a:ea typeface="Times New Roman"/>
              <a:cs typeface="Times New Roman"/>
              <a:sym typeface="Times New Roman"/>
            </a:endParaRPr>
          </a:p>
          <a:p>
            <a:pPr indent="-311150" lvl="0" marL="457200" rtl="0" algn="l">
              <a:lnSpc>
                <a:spcPct val="115000"/>
              </a:lnSpc>
              <a:spcBef>
                <a:spcPts val="0"/>
              </a:spcBef>
              <a:spcAft>
                <a:spcPts val="0"/>
              </a:spcAft>
              <a:buClr>
                <a:schemeClr val="dk1"/>
              </a:buClr>
              <a:buSzPts val="1300"/>
              <a:buFont typeface="Times New Roman"/>
              <a:buChar char="●"/>
            </a:pPr>
            <a:r>
              <a:rPr lang="en-US" sz="1300">
                <a:solidFill>
                  <a:schemeClr val="dk1"/>
                </a:solidFill>
                <a:latin typeface="Times New Roman"/>
                <a:ea typeface="Times New Roman"/>
                <a:cs typeface="Times New Roman"/>
                <a:sym typeface="Times New Roman"/>
              </a:rPr>
              <a:t>Provides quantitative data for process optimization</a:t>
            </a:r>
            <a:endParaRPr sz="1300">
              <a:solidFill>
                <a:schemeClr val="dk1"/>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g33e25cecd32_1_63"/>
          <p:cNvSpPr/>
          <p:nvPr/>
        </p:nvSpPr>
        <p:spPr>
          <a:xfrm>
            <a:off x="1329635" y="-1472"/>
            <a:ext cx="10862400" cy="452100"/>
          </a:xfrm>
          <a:prstGeom prst="rect">
            <a:avLst/>
          </a:prstGeom>
          <a:solidFill>
            <a:srgbClr val="002060"/>
          </a:solidFill>
          <a:ln>
            <a:noFill/>
          </a:ln>
        </p:spPr>
        <p:txBody>
          <a:bodyPr anchorCtr="0" anchor="ctr" bIns="21400" lIns="42825" spcFirstLastPara="1" rIns="42825" wrap="square" tIns="21400">
            <a:noAutofit/>
          </a:bodyPr>
          <a:lstStyle/>
          <a:p>
            <a:pPr indent="0" lvl="0" marL="0" marR="0" rtl="0" algn="l">
              <a:lnSpc>
                <a:spcPct val="100000"/>
              </a:lnSpc>
              <a:spcBef>
                <a:spcPts val="0"/>
              </a:spcBef>
              <a:spcAft>
                <a:spcPts val="0"/>
              </a:spcAft>
              <a:buClr>
                <a:srgbClr val="000000"/>
              </a:buClr>
              <a:buSzPts val="294"/>
              <a:buFont typeface="Arial"/>
              <a:buNone/>
            </a:pPr>
            <a:r>
              <a:t/>
            </a:r>
            <a:endParaRPr b="1" i="1" sz="294" u="none" cap="none" strike="noStrike">
              <a:solidFill>
                <a:srgbClr val="FFFFFF"/>
              </a:solidFill>
              <a:latin typeface="Calibri"/>
              <a:ea typeface="Calibri"/>
              <a:cs typeface="Calibri"/>
              <a:sym typeface="Calibri"/>
            </a:endParaRPr>
          </a:p>
        </p:txBody>
      </p:sp>
      <p:sp>
        <p:nvSpPr>
          <p:cNvPr id="242" name="Google Shape;242;g33e25cecd32_1_63"/>
          <p:cNvSpPr/>
          <p:nvPr/>
        </p:nvSpPr>
        <p:spPr>
          <a:xfrm>
            <a:off x="1329635" y="6597352"/>
            <a:ext cx="10862400" cy="260700"/>
          </a:xfrm>
          <a:prstGeom prst="rect">
            <a:avLst/>
          </a:prstGeom>
          <a:solidFill>
            <a:srgbClr val="002060"/>
          </a:solidFill>
          <a:ln>
            <a:noFill/>
          </a:ln>
        </p:spPr>
        <p:txBody>
          <a:bodyPr anchorCtr="0" anchor="ctr" bIns="21400" lIns="42825" spcFirstLastPara="1" rIns="42825" wrap="square" tIns="21400">
            <a:noAutofit/>
          </a:bodyPr>
          <a:lstStyle/>
          <a:p>
            <a:pPr indent="0" lvl="0" marL="0" marR="0" rtl="0" algn="l">
              <a:lnSpc>
                <a:spcPct val="100000"/>
              </a:lnSpc>
              <a:spcBef>
                <a:spcPts val="0"/>
              </a:spcBef>
              <a:spcAft>
                <a:spcPts val="0"/>
              </a:spcAft>
              <a:buClr>
                <a:srgbClr val="000000"/>
              </a:buClr>
              <a:buSzPts val="294"/>
              <a:buFont typeface="Arial"/>
              <a:buNone/>
            </a:pPr>
            <a:r>
              <a:t/>
            </a:r>
            <a:endParaRPr b="1" i="1" sz="294" u="none" cap="none" strike="noStrike">
              <a:solidFill>
                <a:srgbClr val="FFFFFF"/>
              </a:solidFill>
              <a:latin typeface="Calibri"/>
              <a:ea typeface="Calibri"/>
              <a:cs typeface="Calibri"/>
              <a:sym typeface="Calibri"/>
            </a:endParaRPr>
          </a:p>
        </p:txBody>
      </p:sp>
      <p:sp>
        <p:nvSpPr>
          <p:cNvPr id="243" name="Google Shape;243;g33e25cecd32_1_63"/>
          <p:cNvSpPr txBox="1"/>
          <p:nvPr>
            <p:ph idx="12" type="sldNum"/>
          </p:nvPr>
        </p:nvSpPr>
        <p:spPr>
          <a:xfrm>
            <a:off x="11386491" y="6556449"/>
            <a:ext cx="639600" cy="3267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sz="1800">
                <a:solidFill>
                  <a:schemeClr val="lt1"/>
                </a:solidFill>
              </a:rPr>
              <a:t>‹#›</a:t>
            </a:fld>
            <a:endParaRPr sz="1931">
              <a:solidFill>
                <a:schemeClr val="lt1"/>
              </a:solidFill>
            </a:endParaRPr>
          </a:p>
        </p:txBody>
      </p:sp>
      <p:sp>
        <p:nvSpPr>
          <p:cNvPr id="244" name="Google Shape;244;g33e25cecd32_1_63"/>
          <p:cNvSpPr/>
          <p:nvPr/>
        </p:nvSpPr>
        <p:spPr>
          <a:xfrm>
            <a:off x="3615679" y="-1476"/>
            <a:ext cx="3419700" cy="400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1" lang="en-US" sz="1800">
                <a:solidFill>
                  <a:schemeClr val="lt1"/>
                </a:solidFill>
                <a:latin typeface="Times New Roman"/>
                <a:ea typeface="Times New Roman"/>
                <a:cs typeface="Times New Roman"/>
                <a:sym typeface="Times New Roman"/>
              </a:rPr>
              <a:t>System Hardware Description</a:t>
            </a:r>
            <a:endParaRPr b="0" i="0" sz="1600" u="none" cap="none" strike="noStrike">
              <a:solidFill>
                <a:srgbClr val="000000"/>
              </a:solidFill>
              <a:latin typeface="Arial"/>
              <a:ea typeface="Arial"/>
              <a:cs typeface="Arial"/>
              <a:sym typeface="Arial"/>
            </a:endParaRPr>
          </a:p>
        </p:txBody>
      </p:sp>
      <p:sp>
        <p:nvSpPr>
          <p:cNvPr id="245" name="Google Shape;245;g33e25cecd32_1_63"/>
          <p:cNvSpPr/>
          <p:nvPr/>
        </p:nvSpPr>
        <p:spPr>
          <a:xfrm>
            <a:off x="0" y="-1472"/>
            <a:ext cx="1329600" cy="452100"/>
          </a:xfrm>
          <a:prstGeom prst="rect">
            <a:avLst/>
          </a:prstGeom>
          <a:solidFill>
            <a:srgbClr val="C000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00"/>
              <a:buFont typeface="Arial"/>
              <a:buNone/>
            </a:pPr>
            <a:r>
              <a:rPr b="1" lang="en-US">
                <a:solidFill>
                  <a:schemeClr val="dk1"/>
                </a:solidFill>
              </a:rPr>
              <a:t>ECSE 695</a:t>
            </a:r>
            <a:endParaRPr b="1" i="0" sz="1400" u="none" cap="none" strike="noStrike">
              <a:solidFill>
                <a:schemeClr val="dk1"/>
              </a:solidFill>
              <a:latin typeface="Arial"/>
              <a:ea typeface="Arial"/>
              <a:cs typeface="Arial"/>
              <a:sym typeface="Arial"/>
            </a:endParaRPr>
          </a:p>
        </p:txBody>
      </p:sp>
      <p:sp>
        <p:nvSpPr>
          <p:cNvPr id="246" name="Google Shape;246;g33e25cecd32_1_63"/>
          <p:cNvSpPr txBox="1"/>
          <p:nvPr/>
        </p:nvSpPr>
        <p:spPr>
          <a:xfrm>
            <a:off x="0" y="855128"/>
            <a:ext cx="7506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p:txBody>
      </p:sp>
      <p:pic>
        <p:nvPicPr>
          <p:cNvPr descr="A blue letter with white background&#10;&#10;Description automatically generated" id="247" name="Google Shape;247;g33e25cecd32_1_63"/>
          <p:cNvPicPr preferRelativeResize="0"/>
          <p:nvPr/>
        </p:nvPicPr>
        <p:blipFill rotWithShape="1">
          <a:blip r:embed="rId3">
            <a:alphaModFix/>
          </a:blip>
          <a:srcRect b="0" l="0" r="0" t="0"/>
          <a:stretch/>
        </p:blipFill>
        <p:spPr>
          <a:xfrm>
            <a:off x="0" y="6597352"/>
            <a:ext cx="1329635" cy="260648"/>
          </a:xfrm>
          <a:prstGeom prst="rect">
            <a:avLst/>
          </a:prstGeom>
          <a:noFill/>
          <a:ln>
            <a:noFill/>
          </a:ln>
        </p:spPr>
      </p:pic>
      <p:sp>
        <p:nvSpPr>
          <p:cNvPr id="248" name="Google Shape;248;g33e25cecd32_1_63"/>
          <p:cNvSpPr txBox="1"/>
          <p:nvPr/>
        </p:nvSpPr>
        <p:spPr>
          <a:xfrm>
            <a:off x="8022596" y="6222504"/>
            <a:ext cx="4079700" cy="307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t/>
            </a:r>
            <a:endParaRPr b="0" i="0" sz="1400" u="none" cap="none" strike="noStrike">
              <a:solidFill>
                <a:srgbClr val="000000"/>
              </a:solidFill>
              <a:latin typeface="Arial"/>
              <a:ea typeface="Arial"/>
              <a:cs typeface="Arial"/>
              <a:sym typeface="Arial"/>
            </a:endParaRPr>
          </a:p>
        </p:txBody>
      </p:sp>
      <p:sp>
        <p:nvSpPr>
          <p:cNvPr id="249" name="Google Shape;249;g33e25cecd32_1_63"/>
          <p:cNvSpPr txBox="1"/>
          <p:nvPr/>
        </p:nvSpPr>
        <p:spPr>
          <a:xfrm>
            <a:off x="7882801" y="533746"/>
            <a:ext cx="37719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t/>
            </a:r>
            <a:endParaRPr b="1"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C00000"/>
              </a:solidFill>
              <a:latin typeface="Arial"/>
              <a:ea typeface="Arial"/>
              <a:cs typeface="Arial"/>
              <a:sym typeface="Arial"/>
            </a:endParaRPr>
          </a:p>
        </p:txBody>
      </p:sp>
      <p:sp>
        <p:nvSpPr>
          <p:cNvPr id="250" name="Google Shape;250;g33e25cecd32_1_63"/>
          <p:cNvSpPr txBox="1"/>
          <p:nvPr/>
        </p:nvSpPr>
        <p:spPr>
          <a:xfrm>
            <a:off x="100650" y="2225075"/>
            <a:ext cx="99501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t/>
            </a:r>
            <a:endParaRPr b="0" i="0" sz="3200" u="none" cap="none" strike="noStrike">
              <a:solidFill>
                <a:schemeClr val="dk1"/>
              </a:solidFill>
              <a:latin typeface="Arial"/>
              <a:ea typeface="Arial"/>
              <a:cs typeface="Arial"/>
              <a:sym typeface="Arial"/>
            </a:endParaRPr>
          </a:p>
        </p:txBody>
      </p:sp>
      <p:sp>
        <p:nvSpPr>
          <p:cNvPr id="251" name="Google Shape;251;g33e25cecd32_1_63"/>
          <p:cNvSpPr txBox="1"/>
          <p:nvPr/>
        </p:nvSpPr>
        <p:spPr>
          <a:xfrm>
            <a:off x="8134650" y="5405375"/>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252" name="Google Shape;252;g33e25cecd32_1_63"/>
          <p:cNvSpPr txBox="1"/>
          <p:nvPr/>
        </p:nvSpPr>
        <p:spPr>
          <a:xfrm>
            <a:off x="0" y="450625"/>
            <a:ext cx="3000000" cy="369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1800"/>
              </a:spcAft>
              <a:buNone/>
            </a:pPr>
            <a:r>
              <a:t/>
            </a:r>
            <a:endParaRPr sz="1200">
              <a:solidFill>
                <a:schemeClr val="dk1"/>
              </a:solidFill>
              <a:latin typeface="Times New Roman"/>
              <a:ea typeface="Times New Roman"/>
              <a:cs typeface="Times New Roman"/>
              <a:sym typeface="Times New Roman"/>
            </a:endParaRPr>
          </a:p>
        </p:txBody>
      </p:sp>
      <p:sp>
        <p:nvSpPr>
          <p:cNvPr id="253" name="Google Shape;253;g33e25cecd32_1_63"/>
          <p:cNvSpPr txBox="1"/>
          <p:nvPr/>
        </p:nvSpPr>
        <p:spPr>
          <a:xfrm>
            <a:off x="100650" y="533750"/>
            <a:ext cx="4855800" cy="5198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b="1" lang="en-US">
                <a:solidFill>
                  <a:schemeClr val="dk1"/>
                </a:solidFill>
                <a:latin typeface="Times New Roman"/>
                <a:ea typeface="Times New Roman"/>
                <a:cs typeface="Times New Roman"/>
                <a:sym typeface="Times New Roman"/>
              </a:rPr>
              <a:t>Arc Mini Gantry:</a:t>
            </a:r>
            <a:endParaRPr b="1">
              <a:solidFill>
                <a:schemeClr val="dk1"/>
              </a:solidFill>
              <a:latin typeface="Times New Roman"/>
              <a:ea typeface="Times New Roman"/>
              <a:cs typeface="Times New Roman"/>
              <a:sym typeface="Times New Roman"/>
            </a:endParaRPr>
          </a:p>
          <a:p>
            <a:pPr indent="-317500" lvl="0" marL="457200" rtl="0" algn="l">
              <a:lnSpc>
                <a:spcPct val="115000"/>
              </a:lnSpc>
              <a:spcBef>
                <a:spcPts val="120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Based on Openbuilds 1010 tabletop CNC</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Approximately 20kg weight</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Working envelope: ~560(X) × 510(Y) × 355(Z) mm</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Rigid aluminum extrusion frame</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Linear motion with wheels and plates</a:t>
            </a:r>
            <a:endParaRPr>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latin typeface="Times New Roman"/>
                <a:ea typeface="Times New Roman"/>
                <a:cs typeface="Times New Roman"/>
                <a:sym typeface="Times New Roman"/>
              </a:rPr>
              <a:t>Duet 3 Mainboard 6HC:</a:t>
            </a:r>
            <a:endParaRPr b="1">
              <a:solidFill>
                <a:schemeClr val="dk1"/>
              </a:solidFill>
              <a:latin typeface="Times New Roman"/>
              <a:ea typeface="Times New Roman"/>
              <a:cs typeface="Times New Roman"/>
              <a:sym typeface="Times New Roman"/>
            </a:endParaRPr>
          </a:p>
          <a:p>
            <a:pPr indent="-317500" lvl="0" marL="457200" rtl="0" algn="l">
              <a:lnSpc>
                <a:spcPct val="115000"/>
              </a:lnSpc>
              <a:spcBef>
                <a:spcPts val="120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32-bit controller with ARM Cortex M7 processor (300MHz)</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Six TMC2160 stepper motor drivers (6.3A peak current)</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Advanced motion features:</a:t>
            </a:r>
            <a:endParaRPr>
              <a:solidFill>
                <a:schemeClr val="dk1"/>
              </a:solidFill>
              <a:latin typeface="Times New Roman"/>
              <a:ea typeface="Times New Roman"/>
              <a:cs typeface="Times New Roman"/>
              <a:sym typeface="Times New Roman"/>
            </a:endParaRPr>
          </a:p>
          <a:p>
            <a:pPr indent="-317500" lvl="1" marL="914400" rtl="0" algn="l">
              <a:lnSpc>
                <a:spcPct val="115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Microstepping (up to 1/256)</a:t>
            </a:r>
            <a:endParaRPr>
              <a:solidFill>
                <a:schemeClr val="dk1"/>
              </a:solidFill>
              <a:latin typeface="Times New Roman"/>
              <a:ea typeface="Times New Roman"/>
              <a:cs typeface="Times New Roman"/>
              <a:sym typeface="Times New Roman"/>
            </a:endParaRPr>
          </a:p>
          <a:p>
            <a:pPr indent="-317500" lvl="1" marL="914400" rtl="0" algn="l">
              <a:lnSpc>
                <a:spcPct val="115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Stall detection</a:t>
            </a:r>
            <a:endParaRPr>
              <a:solidFill>
                <a:schemeClr val="dk1"/>
              </a:solidFill>
              <a:latin typeface="Times New Roman"/>
              <a:ea typeface="Times New Roman"/>
              <a:cs typeface="Times New Roman"/>
              <a:sym typeface="Times New Roman"/>
            </a:endParaRPr>
          </a:p>
          <a:p>
            <a:pPr indent="-317500" lvl="1" marL="914400" rtl="0" algn="l">
              <a:lnSpc>
                <a:spcPct val="115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Dynamic current adjustment</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Communication interfaces:</a:t>
            </a:r>
            <a:endParaRPr>
              <a:solidFill>
                <a:schemeClr val="dk1"/>
              </a:solidFill>
              <a:latin typeface="Times New Roman"/>
              <a:ea typeface="Times New Roman"/>
              <a:cs typeface="Times New Roman"/>
              <a:sym typeface="Times New Roman"/>
            </a:endParaRPr>
          </a:p>
          <a:p>
            <a:pPr indent="-317500" lvl="1" marL="914400" rtl="0" algn="l">
              <a:lnSpc>
                <a:spcPct val="115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Ethernet port with TCP/IP stack</a:t>
            </a:r>
            <a:endParaRPr>
              <a:solidFill>
                <a:schemeClr val="dk1"/>
              </a:solidFill>
              <a:latin typeface="Times New Roman"/>
              <a:ea typeface="Times New Roman"/>
              <a:cs typeface="Times New Roman"/>
              <a:sym typeface="Times New Roman"/>
            </a:endParaRPr>
          </a:p>
          <a:p>
            <a:pPr indent="-317500" lvl="1" marL="914400" rtl="0" algn="l">
              <a:lnSpc>
                <a:spcPct val="115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CAN-FD bus</a:t>
            </a:r>
            <a:endParaRPr>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1200"/>
              </a:spcAft>
              <a:buNone/>
            </a:pPr>
            <a:r>
              <a:t/>
            </a:r>
            <a:endParaRPr b="1" sz="1200">
              <a:solidFill>
                <a:schemeClr val="dk1"/>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g33e25cecd32_1_81"/>
          <p:cNvSpPr/>
          <p:nvPr/>
        </p:nvSpPr>
        <p:spPr>
          <a:xfrm>
            <a:off x="1329635" y="-1472"/>
            <a:ext cx="10862400" cy="452100"/>
          </a:xfrm>
          <a:prstGeom prst="rect">
            <a:avLst/>
          </a:prstGeom>
          <a:solidFill>
            <a:srgbClr val="002060"/>
          </a:solidFill>
          <a:ln>
            <a:noFill/>
          </a:ln>
        </p:spPr>
        <p:txBody>
          <a:bodyPr anchorCtr="0" anchor="ctr" bIns="21400" lIns="42825" spcFirstLastPara="1" rIns="42825" wrap="square" tIns="21400">
            <a:noAutofit/>
          </a:bodyPr>
          <a:lstStyle/>
          <a:p>
            <a:pPr indent="0" lvl="0" marL="0" marR="0" rtl="0" algn="l">
              <a:lnSpc>
                <a:spcPct val="100000"/>
              </a:lnSpc>
              <a:spcBef>
                <a:spcPts val="0"/>
              </a:spcBef>
              <a:spcAft>
                <a:spcPts val="0"/>
              </a:spcAft>
              <a:buClr>
                <a:srgbClr val="000000"/>
              </a:buClr>
              <a:buSzPts val="294"/>
              <a:buFont typeface="Arial"/>
              <a:buNone/>
            </a:pPr>
            <a:r>
              <a:t/>
            </a:r>
            <a:endParaRPr b="1" i="1" sz="294" u="none" cap="none" strike="noStrike">
              <a:solidFill>
                <a:srgbClr val="FFFFFF"/>
              </a:solidFill>
              <a:latin typeface="Calibri"/>
              <a:ea typeface="Calibri"/>
              <a:cs typeface="Calibri"/>
              <a:sym typeface="Calibri"/>
            </a:endParaRPr>
          </a:p>
        </p:txBody>
      </p:sp>
      <p:sp>
        <p:nvSpPr>
          <p:cNvPr id="260" name="Google Shape;260;g33e25cecd32_1_81"/>
          <p:cNvSpPr/>
          <p:nvPr/>
        </p:nvSpPr>
        <p:spPr>
          <a:xfrm>
            <a:off x="1329635" y="6597352"/>
            <a:ext cx="10862400" cy="260700"/>
          </a:xfrm>
          <a:prstGeom prst="rect">
            <a:avLst/>
          </a:prstGeom>
          <a:solidFill>
            <a:srgbClr val="002060"/>
          </a:solidFill>
          <a:ln>
            <a:noFill/>
          </a:ln>
        </p:spPr>
        <p:txBody>
          <a:bodyPr anchorCtr="0" anchor="ctr" bIns="21400" lIns="42825" spcFirstLastPara="1" rIns="42825" wrap="square" tIns="21400">
            <a:noAutofit/>
          </a:bodyPr>
          <a:lstStyle/>
          <a:p>
            <a:pPr indent="0" lvl="0" marL="0" marR="0" rtl="0" algn="l">
              <a:lnSpc>
                <a:spcPct val="100000"/>
              </a:lnSpc>
              <a:spcBef>
                <a:spcPts val="0"/>
              </a:spcBef>
              <a:spcAft>
                <a:spcPts val="0"/>
              </a:spcAft>
              <a:buClr>
                <a:srgbClr val="000000"/>
              </a:buClr>
              <a:buSzPts val="294"/>
              <a:buFont typeface="Arial"/>
              <a:buNone/>
            </a:pPr>
            <a:r>
              <a:t/>
            </a:r>
            <a:endParaRPr b="1" i="1" sz="294" u="none" cap="none" strike="noStrike">
              <a:solidFill>
                <a:srgbClr val="FFFFFF"/>
              </a:solidFill>
              <a:latin typeface="Calibri"/>
              <a:ea typeface="Calibri"/>
              <a:cs typeface="Calibri"/>
              <a:sym typeface="Calibri"/>
            </a:endParaRPr>
          </a:p>
        </p:txBody>
      </p:sp>
      <p:sp>
        <p:nvSpPr>
          <p:cNvPr id="261" name="Google Shape;261;g33e25cecd32_1_81"/>
          <p:cNvSpPr txBox="1"/>
          <p:nvPr>
            <p:ph idx="12" type="sldNum"/>
          </p:nvPr>
        </p:nvSpPr>
        <p:spPr>
          <a:xfrm>
            <a:off x="11386491" y="6556449"/>
            <a:ext cx="639600" cy="3267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sz="1800">
                <a:solidFill>
                  <a:schemeClr val="lt1"/>
                </a:solidFill>
              </a:rPr>
              <a:t>‹#›</a:t>
            </a:fld>
            <a:endParaRPr sz="1931">
              <a:solidFill>
                <a:schemeClr val="lt1"/>
              </a:solidFill>
            </a:endParaRPr>
          </a:p>
        </p:txBody>
      </p:sp>
      <p:sp>
        <p:nvSpPr>
          <p:cNvPr id="262" name="Google Shape;262;g33e25cecd32_1_81"/>
          <p:cNvSpPr/>
          <p:nvPr/>
        </p:nvSpPr>
        <p:spPr>
          <a:xfrm>
            <a:off x="3615675" y="-1475"/>
            <a:ext cx="3419700" cy="535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1" lang="en-US" sz="1600">
                <a:solidFill>
                  <a:schemeClr val="lt1"/>
                </a:solidFill>
                <a:latin typeface="Times New Roman"/>
                <a:ea typeface="Times New Roman"/>
                <a:cs typeface="Times New Roman"/>
                <a:sym typeface="Times New Roman"/>
              </a:rPr>
              <a:t>Mechanical Setup - Arc Mini Gantry</a:t>
            </a:r>
            <a:endParaRPr b="1" i="0" sz="1500" u="none" cap="none" strike="noStrike">
              <a:solidFill>
                <a:srgbClr val="000000"/>
              </a:solidFill>
              <a:latin typeface="Times New Roman"/>
              <a:ea typeface="Times New Roman"/>
              <a:cs typeface="Times New Roman"/>
              <a:sym typeface="Times New Roman"/>
            </a:endParaRPr>
          </a:p>
        </p:txBody>
      </p:sp>
      <p:sp>
        <p:nvSpPr>
          <p:cNvPr id="263" name="Google Shape;263;g33e25cecd32_1_81"/>
          <p:cNvSpPr/>
          <p:nvPr/>
        </p:nvSpPr>
        <p:spPr>
          <a:xfrm>
            <a:off x="0" y="-1472"/>
            <a:ext cx="1329600" cy="452100"/>
          </a:xfrm>
          <a:prstGeom prst="rect">
            <a:avLst/>
          </a:prstGeom>
          <a:solidFill>
            <a:srgbClr val="C000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00"/>
              <a:buFont typeface="Arial"/>
              <a:buNone/>
            </a:pPr>
            <a:r>
              <a:rPr b="1" lang="en-US">
                <a:solidFill>
                  <a:schemeClr val="dk1"/>
                </a:solidFill>
              </a:rPr>
              <a:t>ECSE 695</a:t>
            </a:r>
            <a:endParaRPr b="1" i="0" sz="1400" u="none" cap="none" strike="noStrike">
              <a:solidFill>
                <a:schemeClr val="dk1"/>
              </a:solidFill>
              <a:latin typeface="Arial"/>
              <a:ea typeface="Arial"/>
              <a:cs typeface="Arial"/>
              <a:sym typeface="Arial"/>
            </a:endParaRPr>
          </a:p>
        </p:txBody>
      </p:sp>
      <p:sp>
        <p:nvSpPr>
          <p:cNvPr id="264" name="Google Shape;264;g33e25cecd32_1_81"/>
          <p:cNvSpPr txBox="1"/>
          <p:nvPr/>
        </p:nvSpPr>
        <p:spPr>
          <a:xfrm>
            <a:off x="0" y="855128"/>
            <a:ext cx="7506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p:txBody>
      </p:sp>
      <p:pic>
        <p:nvPicPr>
          <p:cNvPr descr="A blue letter with white background&#10;&#10;Description automatically generated" id="265" name="Google Shape;265;g33e25cecd32_1_81"/>
          <p:cNvPicPr preferRelativeResize="0"/>
          <p:nvPr/>
        </p:nvPicPr>
        <p:blipFill rotWithShape="1">
          <a:blip r:embed="rId3">
            <a:alphaModFix/>
          </a:blip>
          <a:srcRect b="0" l="0" r="0" t="0"/>
          <a:stretch/>
        </p:blipFill>
        <p:spPr>
          <a:xfrm>
            <a:off x="0" y="6597352"/>
            <a:ext cx="1329635" cy="260648"/>
          </a:xfrm>
          <a:prstGeom prst="rect">
            <a:avLst/>
          </a:prstGeom>
          <a:noFill/>
          <a:ln>
            <a:noFill/>
          </a:ln>
        </p:spPr>
      </p:pic>
      <p:sp>
        <p:nvSpPr>
          <p:cNvPr id="266" name="Google Shape;266;g33e25cecd32_1_81"/>
          <p:cNvSpPr txBox="1"/>
          <p:nvPr/>
        </p:nvSpPr>
        <p:spPr>
          <a:xfrm>
            <a:off x="8022596" y="6222504"/>
            <a:ext cx="4079700" cy="307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t/>
            </a:r>
            <a:endParaRPr b="0" i="0" sz="1400" u="none" cap="none" strike="noStrike">
              <a:solidFill>
                <a:srgbClr val="000000"/>
              </a:solidFill>
              <a:latin typeface="Arial"/>
              <a:ea typeface="Arial"/>
              <a:cs typeface="Arial"/>
              <a:sym typeface="Arial"/>
            </a:endParaRPr>
          </a:p>
        </p:txBody>
      </p:sp>
      <p:sp>
        <p:nvSpPr>
          <p:cNvPr id="267" name="Google Shape;267;g33e25cecd32_1_81"/>
          <p:cNvSpPr txBox="1"/>
          <p:nvPr/>
        </p:nvSpPr>
        <p:spPr>
          <a:xfrm>
            <a:off x="7882801" y="533746"/>
            <a:ext cx="37719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t/>
            </a:r>
            <a:endParaRPr b="1"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C00000"/>
              </a:solidFill>
              <a:latin typeface="Arial"/>
              <a:ea typeface="Arial"/>
              <a:cs typeface="Arial"/>
              <a:sym typeface="Arial"/>
            </a:endParaRPr>
          </a:p>
        </p:txBody>
      </p:sp>
      <p:sp>
        <p:nvSpPr>
          <p:cNvPr id="268" name="Google Shape;268;g33e25cecd32_1_81"/>
          <p:cNvSpPr txBox="1"/>
          <p:nvPr/>
        </p:nvSpPr>
        <p:spPr>
          <a:xfrm>
            <a:off x="79000" y="450625"/>
            <a:ext cx="9950100" cy="5554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600"/>
              </a:spcBef>
              <a:spcAft>
                <a:spcPts val="0"/>
              </a:spcAft>
              <a:buClr>
                <a:schemeClr val="dk1"/>
              </a:buClr>
              <a:buSzPts val="1100"/>
              <a:buFont typeface="Arial"/>
              <a:buNone/>
            </a:pPr>
            <a:r>
              <a:rPr lang="en-US">
                <a:solidFill>
                  <a:schemeClr val="dk1"/>
                </a:solidFill>
                <a:latin typeface="Times New Roman"/>
                <a:ea typeface="Times New Roman"/>
                <a:cs typeface="Times New Roman"/>
                <a:sym typeface="Times New Roman"/>
              </a:rPr>
              <a:t>Frame Assembly:</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160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Two 1000 mm extrusions for X direction</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Two 1000 mm extrusions for Y direction</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Cast corners for rigidity</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Y-plates with eccentric spacers for wheel tension adjustment</a:t>
            </a:r>
            <a:endParaRPr>
              <a:solidFill>
                <a:schemeClr val="dk1"/>
              </a:solidFill>
              <a:latin typeface="Times New Roman"/>
              <a:ea typeface="Times New Roman"/>
              <a:cs typeface="Times New Roman"/>
              <a:sym typeface="Times New Roman"/>
            </a:endParaRPr>
          </a:p>
          <a:p>
            <a:pPr indent="0" lvl="0" marL="0" rtl="0" algn="l">
              <a:lnSpc>
                <a:spcPct val="115000"/>
              </a:lnSpc>
              <a:spcBef>
                <a:spcPts val="1600"/>
              </a:spcBef>
              <a:spcAft>
                <a:spcPts val="0"/>
              </a:spcAft>
              <a:buClr>
                <a:schemeClr val="dk1"/>
              </a:buClr>
              <a:buSzPts val="1100"/>
              <a:buFont typeface="Arial"/>
              <a:buNone/>
            </a:pPr>
            <a:r>
              <a:rPr b="1" lang="en-US">
                <a:solidFill>
                  <a:schemeClr val="dk1"/>
                </a:solidFill>
                <a:latin typeface="Times New Roman"/>
                <a:ea typeface="Times New Roman"/>
                <a:cs typeface="Times New Roman"/>
                <a:sym typeface="Times New Roman"/>
              </a:rPr>
              <a:t>Z-Axis Construction:</a:t>
            </a:r>
            <a:endParaRPr b="1">
              <a:solidFill>
                <a:schemeClr val="dk1"/>
              </a:solidFill>
              <a:latin typeface="Times New Roman"/>
              <a:ea typeface="Times New Roman"/>
              <a:cs typeface="Times New Roman"/>
              <a:sym typeface="Times New Roman"/>
            </a:endParaRPr>
          </a:p>
          <a:p>
            <a:pPr indent="-317500" lvl="0" marL="457200" rtl="0" algn="l">
              <a:lnSpc>
                <a:spcPct val="115000"/>
              </a:lnSpc>
              <a:spcBef>
                <a:spcPts val="160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Vertical C-beam for Z motion</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Z-carriage with wheels riding on C-beam sides</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Leadscrew and nut block for vertical motion</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Stepper motor coupling on top</a:t>
            </a:r>
            <a:endParaRPr>
              <a:solidFill>
                <a:schemeClr val="dk1"/>
              </a:solidFill>
              <a:latin typeface="Times New Roman"/>
              <a:ea typeface="Times New Roman"/>
              <a:cs typeface="Times New Roman"/>
              <a:sym typeface="Times New Roman"/>
            </a:endParaRPr>
          </a:p>
          <a:p>
            <a:pPr indent="0" lvl="0" marL="0" rtl="0" algn="l">
              <a:lnSpc>
                <a:spcPct val="115000"/>
              </a:lnSpc>
              <a:spcBef>
                <a:spcPts val="1600"/>
              </a:spcBef>
              <a:spcAft>
                <a:spcPts val="0"/>
              </a:spcAft>
              <a:buClr>
                <a:schemeClr val="dk1"/>
              </a:buClr>
              <a:buSzPts val="1100"/>
              <a:buFont typeface="Arial"/>
              <a:buNone/>
            </a:pPr>
            <a:r>
              <a:rPr b="1" lang="en-US">
                <a:solidFill>
                  <a:schemeClr val="dk1"/>
                </a:solidFill>
                <a:latin typeface="Times New Roman"/>
                <a:ea typeface="Times New Roman"/>
                <a:cs typeface="Times New Roman"/>
                <a:sym typeface="Times New Roman"/>
              </a:rPr>
              <a:t>System Dimensions:</a:t>
            </a:r>
            <a:endParaRPr b="1">
              <a:solidFill>
                <a:schemeClr val="dk1"/>
              </a:solidFill>
              <a:latin typeface="Times New Roman"/>
              <a:ea typeface="Times New Roman"/>
              <a:cs typeface="Times New Roman"/>
              <a:sym typeface="Times New Roman"/>
            </a:endParaRPr>
          </a:p>
          <a:p>
            <a:pPr indent="-317500" lvl="0" marL="457200" rtl="0" algn="l">
              <a:lnSpc>
                <a:spcPct val="115000"/>
              </a:lnSpc>
              <a:spcBef>
                <a:spcPts val="160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Overall footprint: ~865 × 965 × 1090 mm</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Verified travel envelope: ~560(X) × 510(Y) × 355(Z) mm</a:t>
            </a:r>
            <a:endParaRPr>
              <a:solidFill>
                <a:schemeClr val="dk1"/>
              </a:solidFill>
              <a:latin typeface="Times New Roman"/>
              <a:ea typeface="Times New Roman"/>
              <a:cs typeface="Times New Roman"/>
              <a:sym typeface="Times New Roman"/>
            </a:endParaRPr>
          </a:p>
          <a:p>
            <a:pPr indent="0" lvl="0" marL="0" rtl="0" algn="l">
              <a:lnSpc>
                <a:spcPct val="115000"/>
              </a:lnSpc>
              <a:spcBef>
                <a:spcPts val="1600"/>
              </a:spcBef>
              <a:spcAft>
                <a:spcPts val="0"/>
              </a:spcAft>
              <a:buClr>
                <a:schemeClr val="dk1"/>
              </a:buClr>
              <a:buSzPts val="1100"/>
              <a:buFont typeface="Arial"/>
              <a:buNone/>
            </a:pPr>
            <a:r>
              <a:rPr b="1" lang="en-US">
                <a:solidFill>
                  <a:schemeClr val="dk1"/>
                </a:solidFill>
                <a:latin typeface="Times New Roman"/>
                <a:ea typeface="Times New Roman"/>
                <a:cs typeface="Times New Roman"/>
                <a:sym typeface="Times New Roman"/>
              </a:rPr>
              <a:t>Sensor Track:</a:t>
            </a:r>
            <a:endParaRPr b="1">
              <a:solidFill>
                <a:schemeClr val="dk1"/>
              </a:solidFill>
              <a:latin typeface="Times New Roman"/>
              <a:ea typeface="Times New Roman"/>
              <a:cs typeface="Times New Roman"/>
              <a:sym typeface="Times New Roman"/>
            </a:endParaRPr>
          </a:p>
          <a:p>
            <a:pPr indent="-317500" lvl="0" marL="457200" rtl="0" algn="l">
              <a:lnSpc>
                <a:spcPct val="115000"/>
              </a:lnSpc>
              <a:spcBef>
                <a:spcPts val="160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Dedicated track along X-axis top rail</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Additional brackets for stable sensor mounting</a:t>
            </a:r>
            <a:endParaRPr>
              <a:solidFill>
                <a:schemeClr val="dk1"/>
              </a:solidFill>
              <a:latin typeface="Times New Roman"/>
              <a:ea typeface="Times New Roman"/>
              <a:cs typeface="Times New Roman"/>
              <a:sym typeface="Times New Roman"/>
            </a:endParaRPr>
          </a:p>
        </p:txBody>
      </p:sp>
      <p:sp>
        <p:nvSpPr>
          <p:cNvPr id="269" name="Google Shape;269;g33e25cecd32_1_81"/>
          <p:cNvSpPr txBox="1"/>
          <p:nvPr/>
        </p:nvSpPr>
        <p:spPr>
          <a:xfrm>
            <a:off x="8134650" y="5405375"/>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270" name="Google Shape;270;g33e25cecd32_1_81"/>
          <p:cNvSpPr txBox="1"/>
          <p:nvPr/>
        </p:nvSpPr>
        <p:spPr>
          <a:xfrm>
            <a:off x="0" y="450625"/>
            <a:ext cx="3000000" cy="369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1800"/>
              </a:spcAft>
              <a:buNone/>
            </a:pPr>
            <a:r>
              <a:t/>
            </a:r>
            <a:endParaRPr sz="1200">
              <a:solidFill>
                <a:schemeClr val="dk1"/>
              </a:solidFill>
              <a:latin typeface="Times New Roman"/>
              <a:ea typeface="Times New Roman"/>
              <a:cs typeface="Times New Roman"/>
              <a:sym typeface="Times New Roman"/>
            </a:endParaRPr>
          </a:p>
        </p:txBody>
      </p:sp>
      <p:pic>
        <p:nvPicPr>
          <p:cNvPr id="271" name="Google Shape;271;g33e25cecd32_1_81"/>
          <p:cNvPicPr preferRelativeResize="0"/>
          <p:nvPr/>
        </p:nvPicPr>
        <p:blipFill>
          <a:blip r:embed="rId4">
            <a:alphaModFix/>
          </a:blip>
          <a:stretch>
            <a:fillRect/>
          </a:stretch>
        </p:blipFill>
        <p:spPr>
          <a:xfrm>
            <a:off x="5025300" y="1322175"/>
            <a:ext cx="6629400" cy="30670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g33e25cecd32_1_100"/>
          <p:cNvSpPr/>
          <p:nvPr/>
        </p:nvSpPr>
        <p:spPr>
          <a:xfrm>
            <a:off x="1329635" y="-1472"/>
            <a:ext cx="10862400" cy="452100"/>
          </a:xfrm>
          <a:prstGeom prst="rect">
            <a:avLst/>
          </a:prstGeom>
          <a:solidFill>
            <a:srgbClr val="002060"/>
          </a:solidFill>
          <a:ln>
            <a:noFill/>
          </a:ln>
        </p:spPr>
        <p:txBody>
          <a:bodyPr anchorCtr="0" anchor="ctr" bIns="21400" lIns="42825" spcFirstLastPara="1" rIns="42825" wrap="square" tIns="21400">
            <a:noAutofit/>
          </a:bodyPr>
          <a:lstStyle/>
          <a:p>
            <a:pPr indent="0" lvl="0" marL="0" marR="0" rtl="0" algn="l">
              <a:lnSpc>
                <a:spcPct val="100000"/>
              </a:lnSpc>
              <a:spcBef>
                <a:spcPts val="0"/>
              </a:spcBef>
              <a:spcAft>
                <a:spcPts val="0"/>
              </a:spcAft>
              <a:buClr>
                <a:srgbClr val="000000"/>
              </a:buClr>
              <a:buSzPts val="294"/>
              <a:buFont typeface="Arial"/>
              <a:buNone/>
            </a:pPr>
            <a:r>
              <a:t/>
            </a:r>
            <a:endParaRPr b="1" i="1" sz="294" u="none" cap="none" strike="noStrike">
              <a:solidFill>
                <a:srgbClr val="FFFFFF"/>
              </a:solidFill>
              <a:latin typeface="Calibri"/>
              <a:ea typeface="Calibri"/>
              <a:cs typeface="Calibri"/>
              <a:sym typeface="Calibri"/>
            </a:endParaRPr>
          </a:p>
        </p:txBody>
      </p:sp>
      <p:sp>
        <p:nvSpPr>
          <p:cNvPr id="278" name="Google Shape;278;g33e25cecd32_1_100"/>
          <p:cNvSpPr/>
          <p:nvPr/>
        </p:nvSpPr>
        <p:spPr>
          <a:xfrm>
            <a:off x="1329635" y="6597352"/>
            <a:ext cx="10862400" cy="260700"/>
          </a:xfrm>
          <a:prstGeom prst="rect">
            <a:avLst/>
          </a:prstGeom>
          <a:solidFill>
            <a:srgbClr val="002060"/>
          </a:solidFill>
          <a:ln>
            <a:noFill/>
          </a:ln>
        </p:spPr>
        <p:txBody>
          <a:bodyPr anchorCtr="0" anchor="ctr" bIns="21400" lIns="42825" spcFirstLastPara="1" rIns="42825" wrap="square" tIns="21400">
            <a:noAutofit/>
          </a:bodyPr>
          <a:lstStyle/>
          <a:p>
            <a:pPr indent="0" lvl="0" marL="0" marR="0" rtl="0" algn="l">
              <a:lnSpc>
                <a:spcPct val="100000"/>
              </a:lnSpc>
              <a:spcBef>
                <a:spcPts val="0"/>
              </a:spcBef>
              <a:spcAft>
                <a:spcPts val="0"/>
              </a:spcAft>
              <a:buClr>
                <a:srgbClr val="000000"/>
              </a:buClr>
              <a:buSzPts val="294"/>
              <a:buFont typeface="Arial"/>
              <a:buNone/>
            </a:pPr>
            <a:r>
              <a:t/>
            </a:r>
            <a:endParaRPr b="1" i="1" sz="294" u="none" cap="none" strike="noStrike">
              <a:solidFill>
                <a:srgbClr val="FFFFFF"/>
              </a:solidFill>
              <a:latin typeface="Calibri"/>
              <a:ea typeface="Calibri"/>
              <a:cs typeface="Calibri"/>
              <a:sym typeface="Calibri"/>
            </a:endParaRPr>
          </a:p>
        </p:txBody>
      </p:sp>
      <p:sp>
        <p:nvSpPr>
          <p:cNvPr id="279" name="Google Shape;279;g33e25cecd32_1_100"/>
          <p:cNvSpPr txBox="1"/>
          <p:nvPr>
            <p:ph idx="12" type="sldNum"/>
          </p:nvPr>
        </p:nvSpPr>
        <p:spPr>
          <a:xfrm>
            <a:off x="11386491" y="6556449"/>
            <a:ext cx="639600" cy="3267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sz="1800">
                <a:solidFill>
                  <a:schemeClr val="lt1"/>
                </a:solidFill>
              </a:rPr>
              <a:t>‹#›</a:t>
            </a:fld>
            <a:endParaRPr sz="1931">
              <a:solidFill>
                <a:schemeClr val="lt1"/>
              </a:solidFill>
            </a:endParaRPr>
          </a:p>
        </p:txBody>
      </p:sp>
      <p:sp>
        <p:nvSpPr>
          <p:cNvPr id="280" name="Google Shape;280;g33e25cecd32_1_100"/>
          <p:cNvSpPr/>
          <p:nvPr/>
        </p:nvSpPr>
        <p:spPr>
          <a:xfrm>
            <a:off x="3615675" y="-1475"/>
            <a:ext cx="4154700" cy="535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1" lang="en-US" sz="1600">
                <a:solidFill>
                  <a:schemeClr val="lt1"/>
                </a:solidFill>
                <a:latin typeface="Times New Roman"/>
                <a:ea typeface="Times New Roman"/>
                <a:cs typeface="Times New Roman"/>
                <a:sym typeface="Times New Roman"/>
              </a:rPr>
              <a:t>Laser Scanning Mounting and Configuration</a:t>
            </a:r>
            <a:endParaRPr b="1" i="0" sz="1500" u="none" cap="none" strike="noStrike">
              <a:solidFill>
                <a:srgbClr val="000000"/>
              </a:solidFill>
              <a:latin typeface="Times New Roman"/>
              <a:ea typeface="Times New Roman"/>
              <a:cs typeface="Times New Roman"/>
              <a:sym typeface="Times New Roman"/>
            </a:endParaRPr>
          </a:p>
        </p:txBody>
      </p:sp>
      <p:sp>
        <p:nvSpPr>
          <p:cNvPr id="281" name="Google Shape;281;g33e25cecd32_1_100"/>
          <p:cNvSpPr/>
          <p:nvPr/>
        </p:nvSpPr>
        <p:spPr>
          <a:xfrm>
            <a:off x="0" y="-1472"/>
            <a:ext cx="1329600" cy="452100"/>
          </a:xfrm>
          <a:prstGeom prst="rect">
            <a:avLst/>
          </a:prstGeom>
          <a:solidFill>
            <a:srgbClr val="C000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00"/>
              <a:buFont typeface="Arial"/>
              <a:buNone/>
            </a:pPr>
            <a:r>
              <a:rPr b="1" lang="en-US">
                <a:solidFill>
                  <a:schemeClr val="dk1"/>
                </a:solidFill>
              </a:rPr>
              <a:t>ECSE 695</a:t>
            </a:r>
            <a:endParaRPr b="1" i="0" sz="1400" u="none" cap="none" strike="noStrike">
              <a:solidFill>
                <a:schemeClr val="dk1"/>
              </a:solidFill>
              <a:latin typeface="Arial"/>
              <a:ea typeface="Arial"/>
              <a:cs typeface="Arial"/>
              <a:sym typeface="Arial"/>
            </a:endParaRPr>
          </a:p>
        </p:txBody>
      </p:sp>
      <p:sp>
        <p:nvSpPr>
          <p:cNvPr id="282" name="Google Shape;282;g33e25cecd32_1_100"/>
          <p:cNvSpPr txBox="1"/>
          <p:nvPr/>
        </p:nvSpPr>
        <p:spPr>
          <a:xfrm>
            <a:off x="0" y="855128"/>
            <a:ext cx="7506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p:txBody>
      </p:sp>
      <p:pic>
        <p:nvPicPr>
          <p:cNvPr descr="A blue letter with white background&#10;&#10;Description automatically generated" id="283" name="Google Shape;283;g33e25cecd32_1_100"/>
          <p:cNvPicPr preferRelativeResize="0"/>
          <p:nvPr/>
        </p:nvPicPr>
        <p:blipFill rotWithShape="1">
          <a:blip r:embed="rId3">
            <a:alphaModFix/>
          </a:blip>
          <a:srcRect b="0" l="0" r="0" t="0"/>
          <a:stretch/>
        </p:blipFill>
        <p:spPr>
          <a:xfrm>
            <a:off x="0" y="6597352"/>
            <a:ext cx="1329635" cy="260648"/>
          </a:xfrm>
          <a:prstGeom prst="rect">
            <a:avLst/>
          </a:prstGeom>
          <a:noFill/>
          <a:ln>
            <a:noFill/>
          </a:ln>
        </p:spPr>
      </p:pic>
      <p:sp>
        <p:nvSpPr>
          <p:cNvPr id="284" name="Google Shape;284;g33e25cecd32_1_100"/>
          <p:cNvSpPr txBox="1"/>
          <p:nvPr/>
        </p:nvSpPr>
        <p:spPr>
          <a:xfrm>
            <a:off x="8022596" y="6222504"/>
            <a:ext cx="4079700" cy="307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t/>
            </a:r>
            <a:endParaRPr b="0" i="0" sz="1400" u="none" cap="none" strike="noStrike">
              <a:solidFill>
                <a:srgbClr val="000000"/>
              </a:solidFill>
              <a:latin typeface="Arial"/>
              <a:ea typeface="Arial"/>
              <a:cs typeface="Arial"/>
              <a:sym typeface="Arial"/>
            </a:endParaRPr>
          </a:p>
        </p:txBody>
      </p:sp>
      <p:sp>
        <p:nvSpPr>
          <p:cNvPr id="285" name="Google Shape;285;g33e25cecd32_1_100"/>
          <p:cNvSpPr txBox="1"/>
          <p:nvPr/>
        </p:nvSpPr>
        <p:spPr>
          <a:xfrm>
            <a:off x="7882801" y="533746"/>
            <a:ext cx="37719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t/>
            </a:r>
            <a:endParaRPr b="1"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C00000"/>
              </a:solidFill>
              <a:latin typeface="Arial"/>
              <a:ea typeface="Arial"/>
              <a:cs typeface="Arial"/>
              <a:sym typeface="Arial"/>
            </a:endParaRPr>
          </a:p>
        </p:txBody>
      </p:sp>
      <p:sp>
        <p:nvSpPr>
          <p:cNvPr id="286" name="Google Shape;286;g33e25cecd32_1_100"/>
          <p:cNvSpPr txBox="1"/>
          <p:nvPr/>
        </p:nvSpPr>
        <p:spPr>
          <a:xfrm>
            <a:off x="79000" y="450625"/>
            <a:ext cx="9950100" cy="4041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b="1" lang="en-US">
                <a:solidFill>
                  <a:schemeClr val="dk1"/>
                </a:solidFill>
                <a:latin typeface="Times New Roman"/>
                <a:ea typeface="Times New Roman"/>
                <a:cs typeface="Times New Roman"/>
                <a:sym typeface="Times New Roman"/>
              </a:rPr>
              <a:t>Mounting Rationale:</a:t>
            </a:r>
            <a:endParaRPr b="1">
              <a:solidFill>
                <a:schemeClr val="dk1"/>
              </a:solidFill>
              <a:latin typeface="Times New Roman"/>
              <a:ea typeface="Times New Roman"/>
              <a:cs typeface="Times New Roman"/>
              <a:sym typeface="Times New Roman"/>
            </a:endParaRPr>
          </a:p>
          <a:p>
            <a:pPr indent="-317500" lvl="0" marL="457200" rtl="0" algn="l">
              <a:lnSpc>
                <a:spcPct val="115000"/>
              </a:lnSpc>
              <a:spcBef>
                <a:spcPts val="120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Vertical orientation on Z-axis for direct height measurement</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Precision of ±0.05mm critical for semi-closed-loop control</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Creates profile of layer geometry for deviation detection</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Non-contact measurement essential for hot materials</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Coordinated operation with motion system</a:t>
            </a:r>
            <a:endParaRPr>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latin typeface="Times New Roman"/>
                <a:ea typeface="Times New Roman"/>
                <a:cs typeface="Times New Roman"/>
                <a:sym typeface="Times New Roman"/>
              </a:rPr>
              <a:t>Implementation Details:</a:t>
            </a:r>
            <a:endParaRPr b="1">
              <a:solidFill>
                <a:schemeClr val="dk1"/>
              </a:solidFill>
              <a:latin typeface="Times New Roman"/>
              <a:ea typeface="Times New Roman"/>
              <a:cs typeface="Times New Roman"/>
              <a:sym typeface="Times New Roman"/>
            </a:endParaRPr>
          </a:p>
          <a:p>
            <a:pPr indent="-317500" lvl="0" marL="457200" rtl="0" algn="l">
              <a:lnSpc>
                <a:spcPct val="115000"/>
              </a:lnSpc>
              <a:spcBef>
                <a:spcPts val="120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Custom bracket with M4 mounting pattern matching OX200</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Positioned on X-axis track for optimal coverage</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Perpendicular orientation with ±30° adjustment capability</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Cable management through black conduit tube</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Rigid mounting for measurement stability</a:t>
            </a:r>
            <a:endParaRPr>
              <a:solidFill>
                <a:schemeClr val="dk1"/>
              </a:solidFill>
              <a:latin typeface="Times New Roman"/>
              <a:ea typeface="Times New Roman"/>
              <a:cs typeface="Times New Roman"/>
              <a:sym typeface="Times New Roman"/>
            </a:endParaRPr>
          </a:p>
          <a:p>
            <a:pPr indent="0" lvl="0" marL="0" rtl="0" algn="l">
              <a:lnSpc>
                <a:spcPct val="115000"/>
              </a:lnSpc>
              <a:spcBef>
                <a:spcPts val="1600"/>
              </a:spcBef>
              <a:spcAft>
                <a:spcPts val="1600"/>
              </a:spcAft>
              <a:buNone/>
            </a:pPr>
            <a:r>
              <a:t/>
            </a:r>
            <a:endParaRPr>
              <a:solidFill>
                <a:schemeClr val="dk1"/>
              </a:solidFill>
              <a:latin typeface="Times New Roman"/>
              <a:ea typeface="Times New Roman"/>
              <a:cs typeface="Times New Roman"/>
              <a:sym typeface="Times New Roman"/>
            </a:endParaRPr>
          </a:p>
        </p:txBody>
      </p:sp>
      <p:sp>
        <p:nvSpPr>
          <p:cNvPr id="287" name="Google Shape;287;g33e25cecd32_1_100"/>
          <p:cNvSpPr txBox="1"/>
          <p:nvPr/>
        </p:nvSpPr>
        <p:spPr>
          <a:xfrm>
            <a:off x="8134650" y="5405375"/>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288" name="Google Shape;288;g33e25cecd32_1_100"/>
          <p:cNvSpPr txBox="1"/>
          <p:nvPr/>
        </p:nvSpPr>
        <p:spPr>
          <a:xfrm>
            <a:off x="0" y="450625"/>
            <a:ext cx="3000000" cy="369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1800"/>
              </a:spcAft>
              <a:buNone/>
            </a:pPr>
            <a:r>
              <a:t/>
            </a:r>
            <a:endParaRPr sz="1200">
              <a:solidFill>
                <a:schemeClr val="dk1"/>
              </a:solidFill>
              <a:latin typeface="Times New Roman"/>
              <a:ea typeface="Times New Roman"/>
              <a:cs typeface="Times New Roman"/>
              <a:sym typeface="Times New Roman"/>
            </a:endParaRPr>
          </a:p>
        </p:txBody>
      </p:sp>
      <p:pic>
        <p:nvPicPr>
          <p:cNvPr id="289" name="Google Shape;289;g33e25cecd32_1_100"/>
          <p:cNvPicPr preferRelativeResize="0"/>
          <p:nvPr/>
        </p:nvPicPr>
        <p:blipFill>
          <a:blip r:embed="rId4">
            <a:alphaModFix/>
          </a:blip>
          <a:stretch>
            <a:fillRect/>
          </a:stretch>
        </p:blipFill>
        <p:spPr>
          <a:xfrm>
            <a:off x="6698650" y="600150"/>
            <a:ext cx="3209925" cy="42195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g33e25cecd32_1_117"/>
          <p:cNvSpPr/>
          <p:nvPr/>
        </p:nvSpPr>
        <p:spPr>
          <a:xfrm>
            <a:off x="1329635" y="-1472"/>
            <a:ext cx="10862400" cy="452100"/>
          </a:xfrm>
          <a:prstGeom prst="rect">
            <a:avLst/>
          </a:prstGeom>
          <a:solidFill>
            <a:srgbClr val="002060"/>
          </a:solidFill>
          <a:ln>
            <a:noFill/>
          </a:ln>
        </p:spPr>
        <p:txBody>
          <a:bodyPr anchorCtr="0" anchor="ctr" bIns="21400" lIns="42825" spcFirstLastPara="1" rIns="42825" wrap="square" tIns="21400">
            <a:noAutofit/>
          </a:bodyPr>
          <a:lstStyle/>
          <a:p>
            <a:pPr indent="0" lvl="0" marL="0" marR="0" rtl="0" algn="l">
              <a:lnSpc>
                <a:spcPct val="100000"/>
              </a:lnSpc>
              <a:spcBef>
                <a:spcPts val="0"/>
              </a:spcBef>
              <a:spcAft>
                <a:spcPts val="0"/>
              </a:spcAft>
              <a:buClr>
                <a:srgbClr val="000000"/>
              </a:buClr>
              <a:buSzPts val="294"/>
              <a:buFont typeface="Arial"/>
              <a:buNone/>
            </a:pPr>
            <a:r>
              <a:t/>
            </a:r>
            <a:endParaRPr b="1" i="1" sz="294" u="none" cap="none" strike="noStrike">
              <a:solidFill>
                <a:srgbClr val="FFFFFF"/>
              </a:solidFill>
              <a:latin typeface="Calibri"/>
              <a:ea typeface="Calibri"/>
              <a:cs typeface="Calibri"/>
              <a:sym typeface="Calibri"/>
            </a:endParaRPr>
          </a:p>
        </p:txBody>
      </p:sp>
      <p:sp>
        <p:nvSpPr>
          <p:cNvPr id="296" name="Google Shape;296;g33e25cecd32_1_117"/>
          <p:cNvSpPr/>
          <p:nvPr/>
        </p:nvSpPr>
        <p:spPr>
          <a:xfrm>
            <a:off x="1329635" y="6597352"/>
            <a:ext cx="10862400" cy="260700"/>
          </a:xfrm>
          <a:prstGeom prst="rect">
            <a:avLst/>
          </a:prstGeom>
          <a:solidFill>
            <a:srgbClr val="002060"/>
          </a:solidFill>
          <a:ln>
            <a:noFill/>
          </a:ln>
        </p:spPr>
        <p:txBody>
          <a:bodyPr anchorCtr="0" anchor="ctr" bIns="21400" lIns="42825" spcFirstLastPara="1" rIns="42825" wrap="square" tIns="21400">
            <a:noAutofit/>
          </a:bodyPr>
          <a:lstStyle/>
          <a:p>
            <a:pPr indent="0" lvl="0" marL="0" marR="0" rtl="0" algn="l">
              <a:lnSpc>
                <a:spcPct val="100000"/>
              </a:lnSpc>
              <a:spcBef>
                <a:spcPts val="0"/>
              </a:spcBef>
              <a:spcAft>
                <a:spcPts val="0"/>
              </a:spcAft>
              <a:buClr>
                <a:srgbClr val="000000"/>
              </a:buClr>
              <a:buSzPts val="294"/>
              <a:buFont typeface="Arial"/>
              <a:buNone/>
            </a:pPr>
            <a:r>
              <a:t/>
            </a:r>
            <a:endParaRPr b="1" i="1" sz="294" u="none" cap="none" strike="noStrike">
              <a:solidFill>
                <a:srgbClr val="FFFFFF"/>
              </a:solidFill>
              <a:latin typeface="Calibri"/>
              <a:ea typeface="Calibri"/>
              <a:cs typeface="Calibri"/>
              <a:sym typeface="Calibri"/>
            </a:endParaRPr>
          </a:p>
        </p:txBody>
      </p:sp>
      <p:sp>
        <p:nvSpPr>
          <p:cNvPr id="297" name="Google Shape;297;g33e25cecd32_1_117"/>
          <p:cNvSpPr txBox="1"/>
          <p:nvPr>
            <p:ph idx="12" type="sldNum"/>
          </p:nvPr>
        </p:nvSpPr>
        <p:spPr>
          <a:xfrm>
            <a:off x="11386491" y="6556449"/>
            <a:ext cx="639600" cy="3267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sz="1800">
                <a:solidFill>
                  <a:schemeClr val="lt1"/>
                </a:solidFill>
              </a:rPr>
              <a:t>‹#›</a:t>
            </a:fld>
            <a:endParaRPr sz="1931">
              <a:solidFill>
                <a:schemeClr val="lt1"/>
              </a:solidFill>
            </a:endParaRPr>
          </a:p>
        </p:txBody>
      </p:sp>
      <p:sp>
        <p:nvSpPr>
          <p:cNvPr id="298" name="Google Shape;298;g33e25cecd32_1_117"/>
          <p:cNvSpPr/>
          <p:nvPr/>
        </p:nvSpPr>
        <p:spPr>
          <a:xfrm>
            <a:off x="3615675" y="-1475"/>
            <a:ext cx="4154700" cy="535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1" lang="en-US" sz="1800">
                <a:solidFill>
                  <a:schemeClr val="lt1"/>
                </a:solidFill>
                <a:latin typeface="Times New Roman"/>
                <a:ea typeface="Times New Roman"/>
                <a:cs typeface="Times New Roman"/>
                <a:sym typeface="Times New Roman"/>
              </a:rPr>
              <a:t>Duet 3 Controller Configuration</a:t>
            </a:r>
            <a:endParaRPr b="1" i="0" sz="1700" u="none" cap="none" strike="noStrike">
              <a:solidFill>
                <a:srgbClr val="000000"/>
              </a:solidFill>
              <a:latin typeface="Times New Roman"/>
              <a:ea typeface="Times New Roman"/>
              <a:cs typeface="Times New Roman"/>
              <a:sym typeface="Times New Roman"/>
            </a:endParaRPr>
          </a:p>
        </p:txBody>
      </p:sp>
      <p:sp>
        <p:nvSpPr>
          <p:cNvPr id="299" name="Google Shape;299;g33e25cecd32_1_117"/>
          <p:cNvSpPr/>
          <p:nvPr/>
        </p:nvSpPr>
        <p:spPr>
          <a:xfrm>
            <a:off x="0" y="-1472"/>
            <a:ext cx="1329600" cy="452100"/>
          </a:xfrm>
          <a:prstGeom prst="rect">
            <a:avLst/>
          </a:prstGeom>
          <a:solidFill>
            <a:srgbClr val="C000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00"/>
              <a:buFont typeface="Arial"/>
              <a:buNone/>
            </a:pPr>
            <a:r>
              <a:rPr b="1" lang="en-US">
                <a:solidFill>
                  <a:schemeClr val="dk1"/>
                </a:solidFill>
              </a:rPr>
              <a:t>ECSE 695</a:t>
            </a:r>
            <a:endParaRPr b="1" i="0" sz="1400" u="none" cap="none" strike="noStrike">
              <a:solidFill>
                <a:schemeClr val="dk1"/>
              </a:solidFill>
              <a:latin typeface="Arial"/>
              <a:ea typeface="Arial"/>
              <a:cs typeface="Arial"/>
              <a:sym typeface="Arial"/>
            </a:endParaRPr>
          </a:p>
        </p:txBody>
      </p:sp>
      <p:sp>
        <p:nvSpPr>
          <p:cNvPr id="300" name="Google Shape;300;g33e25cecd32_1_117"/>
          <p:cNvSpPr txBox="1"/>
          <p:nvPr/>
        </p:nvSpPr>
        <p:spPr>
          <a:xfrm>
            <a:off x="0" y="855128"/>
            <a:ext cx="7506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p:txBody>
      </p:sp>
      <p:pic>
        <p:nvPicPr>
          <p:cNvPr descr="A blue letter with white background&#10;&#10;Description automatically generated" id="301" name="Google Shape;301;g33e25cecd32_1_117"/>
          <p:cNvPicPr preferRelativeResize="0"/>
          <p:nvPr/>
        </p:nvPicPr>
        <p:blipFill rotWithShape="1">
          <a:blip r:embed="rId3">
            <a:alphaModFix/>
          </a:blip>
          <a:srcRect b="0" l="0" r="0" t="0"/>
          <a:stretch/>
        </p:blipFill>
        <p:spPr>
          <a:xfrm>
            <a:off x="0" y="6597352"/>
            <a:ext cx="1329635" cy="260648"/>
          </a:xfrm>
          <a:prstGeom prst="rect">
            <a:avLst/>
          </a:prstGeom>
          <a:noFill/>
          <a:ln>
            <a:noFill/>
          </a:ln>
        </p:spPr>
      </p:pic>
      <p:sp>
        <p:nvSpPr>
          <p:cNvPr id="302" name="Google Shape;302;g33e25cecd32_1_117"/>
          <p:cNvSpPr txBox="1"/>
          <p:nvPr/>
        </p:nvSpPr>
        <p:spPr>
          <a:xfrm>
            <a:off x="8022596" y="6222504"/>
            <a:ext cx="4079700" cy="307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t/>
            </a:r>
            <a:endParaRPr b="0" i="0" sz="1400" u="none" cap="none" strike="noStrike">
              <a:solidFill>
                <a:srgbClr val="000000"/>
              </a:solidFill>
              <a:latin typeface="Arial"/>
              <a:ea typeface="Arial"/>
              <a:cs typeface="Arial"/>
              <a:sym typeface="Arial"/>
            </a:endParaRPr>
          </a:p>
        </p:txBody>
      </p:sp>
      <p:sp>
        <p:nvSpPr>
          <p:cNvPr id="303" name="Google Shape;303;g33e25cecd32_1_117"/>
          <p:cNvSpPr txBox="1"/>
          <p:nvPr/>
        </p:nvSpPr>
        <p:spPr>
          <a:xfrm>
            <a:off x="7882801" y="533746"/>
            <a:ext cx="37719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t/>
            </a:r>
            <a:endParaRPr b="1"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C00000"/>
              </a:solidFill>
              <a:latin typeface="Arial"/>
              <a:ea typeface="Arial"/>
              <a:cs typeface="Arial"/>
              <a:sym typeface="Arial"/>
            </a:endParaRPr>
          </a:p>
        </p:txBody>
      </p:sp>
      <p:sp>
        <p:nvSpPr>
          <p:cNvPr id="304" name="Google Shape;304;g33e25cecd32_1_117"/>
          <p:cNvSpPr txBox="1"/>
          <p:nvPr/>
        </p:nvSpPr>
        <p:spPr>
          <a:xfrm>
            <a:off x="79000" y="450625"/>
            <a:ext cx="9950100" cy="5589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b="1" lang="en-US" sz="1100">
                <a:solidFill>
                  <a:schemeClr val="dk1"/>
                </a:solidFill>
              </a:rPr>
              <a:t>Hardware Setup:</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sz="1100">
                <a:solidFill>
                  <a:schemeClr val="dk1"/>
                </a:solidFill>
              </a:rPr>
              <a:t>24V / ~10A power supply</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14 AWG cables for power connections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15A fuse for high-current output protection</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NEMA 23 stepper motors with JST-VH connectors</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100">
                <a:solidFill>
                  <a:schemeClr val="dk1"/>
                </a:solidFill>
              </a:rPr>
              <a:t>Axis Configuration:</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sz="1100">
                <a:solidFill>
                  <a:schemeClr val="dk1"/>
                </a:solidFill>
              </a:rPr>
              <a:t>DRIVER_0: X-axis motion</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DRIVER_1 &amp; DRIVER_2: Y-axis (dual motors for stability)</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DRIVER_3: Z-axis (critical for layer height control)</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DRIVER_4 &amp; DRIVER_5: Available for auxiliary systems</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100">
                <a:solidFill>
                  <a:schemeClr val="dk1"/>
                </a:solidFill>
              </a:rPr>
              <a:t>I/O Connections:</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sz="1100">
                <a:solidFill>
                  <a:schemeClr val="dk1"/>
                </a:solidFill>
              </a:rPr>
              <a:t>IO_0, IO_1, IO_2: Endstop limit switches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OUT0: High-current output (15A capacity)</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Dedicated thermistor inputs for future temperature monitoring</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100">
                <a:solidFill>
                  <a:schemeClr val="dk1"/>
                </a:solidFill>
              </a:rPr>
              <a:t>Firmware Configuration:</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sz="1100">
                <a:solidFill>
                  <a:schemeClr val="dk1"/>
                </a:solidFill>
              </a:rPr>
              <a:t>RepRapFirmware with motion parameters: steps/mm, acceleration, jerk</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Network settings for web-based control</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Custom macros for homing and specialized operation</a:t>
            </a:r>
            <a:endParaRPr sz="1100">
              <a:solidFill>
                <a:schemeClr val="dk1"/>
              </a:solidFill>
            </a:endParaRPr>
          </a:p>
          <a:p>
            <a:pPr indent="0" lvl="0" marL="0" rtl="0" algn="l">
              <a:lnSpc>
                <a:spcPct val="115000"/>
              </a:lnSpc>
              <a:spcBef>
                <a:spcPts val="1200"/>
              </a:spcBef>
              <a:spcAft>
                <a:spcPts val="0"/>
              </a:spcAft>
              <a:buNone/>
            </a:pPr>
            <a:r>
              <a:t/>
            </a:r>
            <a:endParaRPr b="1">
              <a:solidFill>
                <a:schemeClr val="dk1"/>
              </a:solidFill>
              <a:latin typeface="Times New Roman"/>
              <a:ea typeface="Times New Roman"/>
              <a:cs typeface="Times New Roman"/>
              <a:sym typeface="Times New Roman"/>
            </a:endParaRPr>
          </a:p>
          <a:p>
            <a:pPr indent="0" lvl="0" marL="0" rtl="0" algn="l">
              <a:lnSpc>
                <a:spcPct val="115000"/>
              </a:lnSpc>
              <a:spcBef>
                <a:spcPts val="1600"/>
              </a:spcBef>
              <a:spcAft>
                <a:spcPts val="1600"/>
              </a:spcAft>
              <a:buNone/>
            </a:pPr>
            <a:r>
              <a:t/>
            </a:r>
            <a:endParaRPr>
              <a:solidFill>
                <a:schemeClr val="dk1"/>
              </a:solidFill>
              <a:latin typeface="Times New Roman"/>
              <a:ea typeface="Times New Roman"/>
              <a:cs typeface="Times New Roman"/>
              <a:sym typeface="Times New Roman"/>
            </a:endParaRPr>
          </a:p>
        </p:txBody>
      </p:sp>
      <p:sp>
        <p:nvSpPr>
          <p:cNvPr id="305" name="Google Shape;305;g33e25cecd32_1_117"/>
          <p:cNvSpPr txBox="1"/>
          <p:nvPr/>
        </p:nvSpPr>
        <p:spPr>
          <a:xfrm>
            <a:off x="8134650" y="5405375"/>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306" name="Google Shape;306;g33e25cecd32_1_117"/>
          <p:cNvSpPr txBox="1"/>
          <p:nvPr/>
        </p:nvSpPr>
        <p:spPr>
          <a:xfrm>
            <a:off x="0" y="450625"/>
            <a:ext cx="3000000" cy="369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1800"/>
              </a:spcAft>
              <a:buNone/>
            </a:pPr>
            <a:r>
              <a:t/>
            </a:r>
            <a:endParaRPr sz="1200">
              <a:solidFill>
                <a:schemeClr val="dk1"/>
              </a:solidFill>
              <a:latin typeface="Times New Roman"/>
              <a:ea typeface="Times New Roman"/>
              <a:cs typeface="Times New Roman"/>
              <a:sym typeface="Times New Roman"/>
            </a:endParaRPr>
          </a:p>
        </p:txBody>
      </p:sp>
      <p:pic>
        <p:nvPicPr>
          <p:cNvPr id="307" name="Google Shape;307;g33e25cecd32_1_117"/>
          <p:cNvPicPr preferRelativeResize="0"/>
          <p:nvPr/>
        </p:nvPicPr>
        <p:blipFill>
          <a:blip r:embed="rId4">
            <a:alphaModFix/>
          </a:blip>
          <a:stretch>
            <a:fillRect/>
          </a:stretch>
        </p:blipFill>
        <p:spPr>
          <a:xfrm>
            <a:off x="6202850" y="767100"/>
            <a:ext cx="3733800" cy="29527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g33e25cecd32_1_134"/>
          <p:cNvSpPr/>
          <p:nvPr/>
        </p:nvSpPr>
        <p:spPr>
          <a:xfrm>
            <a:off x="1329635" y="-1472"/>
            <a:ext cx="10862400" cy="452100"/>
          </a:xfrm>
          <a:prstGeom prst="rect">
            <a:avLst/>
          </a:prstGeom>
          <a:solidFill>
            <a:srgbClr val="002060"/>
          </a:solidFill>
          <a:ln>
            <a:noFill/>
          </a:ln>
        </p:spPr>
        <p:txBody>
          <a:bodyPr anchorCtr="0" anchor="ctr" bIns="21400" lIns="42825" spcFirstLastPara="1" rIns="42825" wrap="square" tIns="21400">
            <a:noAutofit/>
          </a:bodyPr>
          <a:lstStyle/>
          <a:p>
            <a:pPr indent="0" lvl="0" marL="0" marR="0" rtl="0" algn="l">
              <a:lnSpc>
                <a:spcPct val="100000"/>
              </a:lnSpc>
              <a:spcBef>
                <a:spcPts val="0"/>
              </a:spcBef>
              <a:spcAft>
                <a:spcPts val="0"/>
              </a:spcAft>
              <a:buClr>
                <a:srgbClr val="000000"/>
              </a:buClr>
              <a:buSzPts val="294"/>
              <a:buFont typeface="Arial"/>
              <a:buNone/>
            </a:pPr>
            <a:r>
              <a:rPr b="1" lang="en-US" sz="1800">
                <a:solidFill>
                  <a:srgbClr val="FFFFFF"/>
                </a:solidFill>
                <a:latin typeface="Times New Roman"/>
                <a:ea typeface="Times New Roman"/>
                <a:cs typeface="Times New Roman"/>
                <a:sym typeface="Times New Roman"/>
              </a:rPr>
              <a:t>Software Architecture Overview</a:t>
            </a:r>
            <a:endParaRPr b="1" sz="1800" u="none" cap="none" strike="noStrike">
              <a:solidFill>
                <a:srgbClr val="FFFFFF"/>
              </a:solidFill>
              <a:latin typeface="Times New Roman"/>
              <a:ea typeface="Times New Roman"/>
              <a:cs typeface="Times New Roman"/>
              <a:sym typeface="Times New Roman"/>
            </a:endParaRPr>
          </a:p>
        </p:txBody>
      </p:sp>
      <p:sp>
        <p:nvSpPr>
          <p:cNvPr id="314" name="Google Shape;314;g33e25cecd32_1_134"/>
          <p:cNvSpPr/>
          <p:nvPr/>
        </p:nvSpPr>
        <p:spPr>
          <a:xfrm>
            <a:off x="1329635" y="6597352"/>
            <a:ext cx="10862400" cy="260700"/>
          </a:xfrm>
          <a:prstGeom prst="rect">
            <a:avLst/>
          </a:prstGeom>
          <a:solidFill>
            <a:srgbClr val="002060"/>
          </a:solidFill>
          <a:ln>
            <a:noFill/>
          </a:ln>
        </p:spPr>
        <p:txBody>
          <a:bodyPr anchorCtr="0" anchor="ctr" bIns="21400" lIns="42825" spcFirstLastPara="1" rIns="42825" wrap="square" tIns="21400">
            <a:noAutofit/>
          </a:bodyPr>
          <a:lstStyle/>
          <a:p>
            <a:pPr indent="0" lvl="0" marL="0" marR="0" rtl="0" algn="l">
              <a:lnSpc>
                <a:spcPct val="100000"/>
              </a:lnSpc>
              <a:spcBef>
                <a:spcPts val="0"/>
              </a:spcBef>
              <a:spcAft>
                <a:spcPts val="0"/>
              </a:spcAft>
              <a:buClr>
                <a:srgbClr val="000000"/>
              </a:buClr>
              <a:buSzPts val="294"/>
              <a:buFont typeface="Arial"/>
              <a:buNone/>
            </a:pPr>
            <a:r>
              <a:t/>
            </a:r>
            <a:endParaRPr b="1" i="1" sz="294" u="none" cap="none" strike="noStrike">
              <a:solidFill>
                <a:srgbClr val="FFFFFF"/>
              </a:solidFill>
              <a:latin typeface="Calibri"/>
              <a:ea typeface="Calibri"/>
              <a:cs typeface="Calibri"/>
              <a:sym typeface="Calibri"/>
            </a:endParaRPr>
          </a:p>
        </p:txBody>
      </p:sp>
      <p:sp>
        <p:nvSpPr>
          <p:cNvPr id="315" name="Google Shape;315;g33e25cecd32_1_134"/>
          <p:cNvSpPr txBox="1"/>
          <p:nvPr>
            <p:ph idx="12" type="sldNum"/>
          </p:nvPr>
        </p:nvSpPr>
        <p:spPr>
          <a:xfrm>
            <a:off x="11386491" y="6556449"/>
            <a:ext cx="639600" cy="3267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sz="1800">
                <a:solidFill>
                  <a:schemeClr val="lt1"/>
                </a:solidFill>
              </a:rPr>
              <a:t>‹#›</a:t>
            </a:fld>
            <a:endParaRPr sz="1931">
              <a:solidFill>
                <a:schemeClr val="lt1"/>
              </a:solidFill>
            </a:endParaRPr>
          </a:p>
        </p:txBody>
      </p:sp>
      <p:sp>
        <p:nvSpPr>
          <p:cNvPr id="316" name="Google Shape;316;g33e25cecd32_1_134"/>
          <p:cNvSpPr/>
          <p:nvPr/>
        </p:nvSpPr>
        <p:spPr>
          <a:xfrm>
            <a:off x="3615675" y="-1475"/>
            <a:ext cx="4154700" cy="535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1" i="0" sz="1500" u="none" cap="none" strike="noStrike">
              <a:solidFill>
                <a:srgbClr val="000000"/>
              </a:solidFill>
              <a:latin typeface="Times New Roman"/>
              <a:ea typeface="Times New Roman"/>
              <a:cs typeface="Times New Roman"/>
              <a:sym typeface="Times New Roman"/>
            </a:endParaRPr>
          </a:p>
        </p:txBody>
      </p:sp>
      <p:sp>
        <p:nvSpPr>
          <p:cNvPr id="317" name="Google Shape;317;g33e25cecd32_1_134"/>
          <p:cNvSpPr/>
          <p:nvPr/>
        </p:nvSpPr>
        <p:spPr>
          <a:xfrm>
            <a:off x="0" y="-1472"/>
            <a:ext cx="1329600" cy="452100"/>
          </a:xfrm>
          <a:prstGeom prst="rect">
            <a:avLst/>
          </a:prstGeom>
          <a:solidFill>
            <a:srgbClr val="C000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00"/>
              <a:buFont typeface="Arial"/>
              <a:buNone/>
            </a:pPr>
            <a:r>
              <a:rPr b="1" lang="en-US">
                <a:solidFill>
                  <a:schemeClr val="dk1"/>
                </a:solidFill>
              </a:rPr>
              <a:t>ECSE 695</a:t>
            </a:r>
            <a:endParaRPr b="1" i="0" sz="1400" u="none" cap="none" strike="noStrike">
              <a:solidFill>
                <a:schemeClr val="dk1"/>
              </a:solidFill>
              <a:latin typeface="Arial"/>
              <a:ea typeface="Arial"/>
              <a:cs typeface="Arial"/>
              <a:sym typeface="Arial"/>
            </a:endParaRPr>
          </a:p>
        </p:txBody>
      </p:sp>
      <p:sp>
        <p:nvSpPr>
          <p:cNvPr id="318" name="Google Shape;318;g33e25cecd32_1_134"/>
          <p:cNvSpPr txBox="1"/>
          <p:nvPr/>
        </p:nvSpPr>
        <p:spPr>
          <a:xfrm>
            <a:off x="0" y="855128"/>
            <a:ext cx="7506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p:txBody>
      </p:sp>
      <p:pic>
        <p:nvPicPr>
          <p:cNvPr descr="A blue letter with white background&#10;&#10;Description automatically generated" id="319" name="Google Shape;319;g33e25cecd32_1_134"/>
          <p:cNvPicPr preferRelativeResize="0"/>
          <p:nvPr/>
        </p:nvPicPr>
        <p:blipFill rotWithShape="1">
          <a:blip r:embed="rId3">
            <a:alphaModFix/>
          </a:blip>
          <a:srcRect b="0" l="0" r="0" t="0"/>
          <a:stretch/>
        </p:blipFill>
        <p:spPr>
          <a:xfrm>
            <a:off x="0" y="6597352"/>
            <a:ext cx="1329635" cy="260648"/>
          </a:xfrm>
          <a:prstGeom prst="rect">
            <a:avLst/>
          </a:prstGeom>
          <a:noFill/>
          <a:ln>
            <a:noFill/>
          </a:ln>
        </p:spPr>
      </p:pic>
      <p:sp>
        <p:nvSpPr>
          <p:cNvPr id="320" name="Google Shape;320;g33e25cecd32_1_134"/>
          <p:cNvSpPr txBox="1"/>
          <p:nvPr/>
        </p:nvSpPr>
        <p:spPr>
          <a:xfrm>
            <a:off x="8022596" y="6222504"/>
            <a:ext cx="4079700" cy="307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t/>
            </a:r>
            <a:endParaRPr b="0" i="0" sz="1400" u="none" cap="none" strike="noStrike">
              <a:solidFill>
                <a:srgbClr val="000000"/>
              </a:solidFill>
              <a:latin typeface="Arial"/>
              <a:ea typeface="Arial"/>
              <a:cs typeface="Arial"/>
              <a:sym typeface="Arial"/>
            </a:endParaRPr>
          </a:p>
        </p:txBody>
      </p:sp>
      <p:sp>
        <p:nvSpPr>
          <p:cNvPr id="321" name="Google Shape;321;g33e25cecd32_1_134"/>
          <p:cNvSpPr txBox="1"/>
          <p:nvPr/>
        </p:nvSpPr>
        <p:spPr>
          <a:xfrm>
            <a:off x="7882801" y="533746"/>
            <a:ext cx="37719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t/>
            </a:r>
            <a:endParaRPr b="1"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C00000"/>
              </a:solidFill>
              <a:latin typeface="Arial"/>
              <a:ea typeface="Arial"/>
              <a:cs typeface="Arial"/>
              <a:sym typeface="Arial"/>
            </a:endParaRPr>
          </a:p>
        </p:txBody>
      </p:sp>
      <p:sp>
        <p:nvSpPr>
          <p:cNvPr id="322" name="Google Shape;322;g33e25cecd32_1_134"/>
          <p:cNvSpPr txBox="1"/>
          <p:nvPr/>
        </p:nvSpPr>
        <p:spPr>
          <a:xfrm>
            <a:off x="79000" y="450625"/>
            <a:ext cx="9950100" cy="6545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US">
                <a:solidFill>
                  <a:schemeClr val="dk1"/>
                </a:solidFill>
                <a:latin typeface="Times New Roman"/>
                <a:ea typeface="Times New Roman"/>
                <a:cs typeface="Times New Roman"/>
                <a:sym typeface="Times New Roman"/>
              </a:rPr>
              <a:t>Modular Design Philosophy:</a:t>
            </a:r>
            <a:endParaRPr b="1">
              <a:solidFill>
                <a:schemeClr val="dk1"/>
              </a:solidFill>
              <a:latin typeface="Times New Roman"/>
              <a:ea typeface="Times New Roman"/>
              <a:cs typeface="Times New Roman"/>
              <a:sym typeface="Times New Roman"/>
            </a:endParaRPr>
          </a:p>
          <a:p>
            <a:pPr indent="-317500" lvl="0" marL="457200" rtl="0" algn="l">
              <a:lnSpc>
                <a:spcPct val="115000"/>
              </a:lnSpc>
              <a:spcBef>
                <a:spcPts val="120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Separate, interchangeable components</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Clean interfaces between modules</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Distributed responsibilities</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Future extensibility</a:t>
            </a:r>
            <a:endParaRPr>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b="1" lang="en-US">
                <a:solidFill>
                  <a:schemeClr val="dk1"/>
                </a:solidFill>
                <a:latin typeface="Times New Roman"/>
                <a:ea typeface="Times New Roman"/>
                <a:cs typeface="Times New Roman"/>
                <a:sym typeface="Times New Roman"/>
              </a:rPr>
              <a:t>Core Components:</a:t>
            </a:r>
            <a:endParaRPr b="1">
              <a:solidFill>
                <a:schemeClr val="dk1"/>
              </a:solidFill>
              <a:latin typeface="Times New Roman"/>
              <a:ea typeface="Times New Roman"/>
              <a:cs typeface="Times New Roman"/>
              <a:sym typeface="Times New Roman"/>
            </a:endParaRPr>
          </a:p>
          <a:p>
            <a:pPr indent="-317500" lvl="0" marL="457200" rtl="0" algn="l">
              <a:lnSpc>
                <a:spcPct val="115000"/>
              </a:lnSpc>
              <a:spcBef>
                <a:spcPts val="1200"/>
              </a:spcBef>
              <a:spcAft>
                <a:spcPts val="0"/>
              </a:spcAft>
              <a:buClr>
                <a:schemeClr val="dk1"/>
              </a:buClr>
              <a:buSzPts val="1400"/>
              <a:buChar char="●"/>
            </a:pPr>
            <a:r>
              <a:rPr b="1" lang="en-US">
                <a:solidFill>
                  <a:schemeClr val="dk1"/>
                </a:solidFill>
                <a:latin typeface="Times New Roman"/>
                <a:ea typeface="Times New Roman"/>
                <a:cs typeface="Times New Roman"/>
                <a:sym typeface="Times New Roman"/>
              </a:rPr>
              <a:t>PreProcessor:</a:t>
            </a:r>
            <a:r>
              <a:rPr lang="en-US">
                <a:solidFill>
                  <a:schemeClr val="dk1"/>
                </a:solidFill>
                <a:latin typeface="Times New Roman"/>
                <a:ea typeface="Times New Roman"/>
                <a:cs typeface="Times New Roman"/>
                <a:sym typeface="Times New Roman"/>
              </a:rPr>
              <a:t> G-code parsing and layer identification</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Char char="●"/>
            </a:pPr>
            <a:r>
              <a:rPr b="1" lang="en-US">
                <a:solidFill>
                  <a:schemeClr val="dk1"/>
                </a:solidFill>
                <a:latin typeface="Times New Roman"/>
                <a:ea typeface="Times New Roman"/>
                <a:cs typeface="Times New Roman"/>
                <a:sym typeface="Times New Roman"/>
              </a:rPr>
              <a:t>LaserStreamer:</a:t>
            </a:r>
            <a:r>
              <a:rPr lang="en-US">
                <a:solidFill>
                  <a:schemeClr val="dk1"/>
                </a:solidFill>
                <a:latin typeface="Times New Roman"/>
                <a:ea typeface="Times New Roman"/>
                <a:cs typeface="Times New Roman"/>
                <a:sym typeface="Times New Roman"/>
              </a:rPr>
              <a:t> Sensor data acquisition and processing</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Char char="●"/>
            </a:pPr>
            <a:r>
              <a:rPr b="1" lang="en-US">
                <a:solidFill>
                  <a:schemeClr val="dk1"/>
                </a:solidFill>
                <a:latin typeface="Times New Roman"/>
                <a:ea typeface="Times New Roman"/>
                <a:cs typeface="Times New Roman"/>
                <a:sym typeface="Times New Roman"/>
              </a:rPr>
              <a:t>PostProcessor:</a:t>
            </a:r>
            <a:r>
              <a:rPr lang="en-US">
                <a:solidFill>
                  <a:schemeClr val="dk1"/>
                </a:solidFill>
                <a:latin typeface="Times New Roman"/>
                <a:ea typeface="Times New Roman"/>
                <a:cs typeface="Times New Roman"/>
                <a:sym typeface="Times New Roman"/>
              </a:rPr>
              <a:t> Adaptive control algorithm implementation</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Char char="●"/>
            </a:pPr>
            <a:r>
              <a:rPr b="1" lang="en-US">
                <a:solidFill>
                  <a:schemeClr val="dk1"/>
                </a:solidFill>
                <a:latin typeface="Times New Roman"/>
                <a:ea typeface="Times New Roman"/>
                <a:cs typeface="Times New Roman"/>
                <a:sym typeface="Times New Roman"/>
              </a:rPr>
              <a:t>Sender:</a:t>
            </a:r>
            <a:r>
              <a:rPr lang="en-US">
                <a:solidFill>
                  <a:schemeClr val="dk1"/>
                </a:solidFill>
                <a:latin typeface="Times New Roman"/>
                <a:ea typeface="Times New Roman"/>
                <a:cs typeface="Times New Roman"/>
                <a:sym typeface="Times New Roman"/>
              </a:rPr>
              <a:t> Machine communication and command execution</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Char char="●"/>
            </a:pPr>
            <a:r>
              <a:rPr b="1" lang="en-US">
                <a:solidFill>
                  <a:schemeClr val="dk1"/>
                </a:solidFill>
                <a:latin typeface="Times New Roman"/>
                <a:ea typeface="Times New Roman"/>
                <a:cs typeface="Times New Roman"/>
                <a:sym typeface="Times New Roman"/>
              </a:rPr>
              <a:t>Main:</a:t>
            </a:r>
            <a:r>
              <a:rPr lang="en-US">
                <a:solidFill>
                  <a:schemeClr val="dk1"/>
                </a:solidFill>
                <a:latin typeface="Times New Roman"/>
                <a:ea typeface="Times New Roman"/>
                <a:cs typeface="Times New Roman"/>
                <a:sym typeface="Times New Roman"/>
              </a:rPr>
              <a:t> System coordination and workflow management</a:t>
            </a:r>
            <a:endParaRPr>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b="1" lang="en-US">
                <a:solidFill>
                  <a:schemeClr val="dk1"/>
                </a:solidFill>
                <a:latin typeface="Times New Roman"/>
                <a:ea typeface="Times New Roman"/>
                <a:cs typeface="Times New Roman"/>
                <a:sym typeface="Times New Roman"/>
              </a:rPr>
              <a:t>Data Flow:</a:t>
            </a:r>
            <a:endParaRPr b="1">
              <a:solidFill>
                <a:schemeClr val="dk1"/>
              </a:solidFill>
              <a:latin typeface="Times New Roman"/>
              <a:ea typeface="Times New Roman"/>
              <a:cs typeface="Times New Roman"/>
              <a:sym typeface="Times New Roman"/>
            </a:endParaRPr>
          </a:p>
          <a:p>
            <a:pPr indent="-317500" lvl="0" marL="457200" rtl="0" algn="l">
              <a:lnSpc>
                <a:spcPct val="115000"/>
              </a:lnSpc>
              <a:spcBef>
                <a:spcPts val="120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G-code parsing → Layer execution → Scanning →</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Analysis → Adaptation → Next layer execution</a:t>
            </a:r>
            <a:endParaRPr>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b="1" lang="en-US">
                <a:solidFill>
                  <a:schemeClr val="dk1"/>
                </a:solidFill>
                <a:latin typeface="Times New Roman"/>
                <a:ea typeface="Times New Roman"/>
                <a:cs typeface="Times New Roman"/>
                <a:sym typeface="Times New Roman"/>
              </a:rPr>
              <a:t>Software Implementation:</a:t>
            </a:r>
            <a:endParaRPr b="1">
              <a:solidFill>
                <a:schemeClr val="dk1"/>
              </a:solidFill>
              <a:latin typeface="Times New Roman"/>
              <a:ea typeface="Times New Roman"/>
              <a:cs typeface="Times New Roman"/>
              <a:sym typeface="Times New Roman"/>
            </a:endParaRPr>
          </a:p>
          <a:p>
            <a:pPr indent="-317500" lvl="0" marL="457200" rtl="0" algn="l">
              <a:lnSpc>
                <a:spcPct val="115000"/>
              </a:lnSpc>
              <a:spcBef>
                <a:spcPts val="120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Python-based for rapid development and integration</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Object-oriented design with well-defined classes</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Threading for concurrent operations</a:t>
            </a:r>
            <a:endParaRPr b="1">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t/>
            </a:r>
            <a:endParaRPr b="1">
              <a:solidFill>
                <a:schemeClr val="dk1"/>
              </a:solidFill>
              <a:latin typeface="Times New Roman"/>
              <a:ea typeface="Times New Roman"/>
              <a:cs typeface="Times New Roman"/>
              <a:sym typeface="Times New Roman"/>
            </a:endParaRPr>
          </a:p>
          <a:p>
            <a:pPr indent="0" lvl="0" marL="0" rtl="0" algn="l">
              <a:lnSpc>
                <a:spcPct val="115000"/>
              </a:lnSpc>
              <a:spcBef>
                <a:spcPts val="1600"/>
              </a:spcBef>
              <a:spcAft>
                <a:spcPts val="1600"/>
              </a:spcAft>
              <a:buNone/>
            </a:pPr>
            <a:r>
              <a:t/>
            </a:r>
            <a:endParaRPr>
              <a:solidFill>
                <a:schemeClr val="dk1"/>
              </a:solidFill>
              <a:latin typeface="Times New Roman"/>
              <a:ea typeface="Times New Roman"/>
              <a:cs typeface="Times New Roman"/>
              <a:sym typeface="Times New Roman"/>
            </a:endParaRPr>
          </a:p>
        </p:txBody>
      </p:sp>
      <p:sp>
        <p:nvSpPr>
          <p:cNvPr id="323" name="Google Shape;323;g33e25cecd32_1_134"/>
          <p:cNvSpPr txBox="1"/>
          <p:nvPr/>
        </p:nvSpPr>
        <p:spPr>
          <a:xfrm>
            <a:off x="8134650" y="5405375"/>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324" name="Google Shape;324;g33e25cecd32_1_134"/>
          <p:cNvSpPr txBox="1"/>
          <p:nvPr/>
        </p:nvSpPr>
        <p:spPr>
          <a:xfrm>
            <a:off x="0" y="450625"/>
            <a:ext cx="3000000" cy="369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1800"/>
              </a:spcAft>
              <a:buNone/>
            </a:pPr>
            <a:r>
              <a:t/>
            </a:r>
            <a:endParaRPr sz="1200">
              <a:solidFill>
                <a:schemeClr val="dk1"/>
              </a:solidFill>
              <a:latin typeface="Times New Roman"/>
              <a:ea typeface="Times New Roman"/>
              <a:cs typeface="Times New Roman"/>
              <a:sym typeface="Times New Roman"/>
            </a:endParaRPr>
          </a:p>
        </p:txBody>
      </p:sp>
      <p:pic>
        <p:nvPicPr>
          <p:cNvPr id="325" name="Google Shape;325;g33e25cecd32_1_134"/>
          <p:cNvPicPr preferRelativeResize="0"/>
          <p:nvPr/>
        </p:nvPicPr>
        <p:blipFill>
          <a:blip r:embed="rId4">
            <a:alphaModFix/>
          </a:blip>
          <a:stretch>
            <a:fillRect/>
          </a:stretch>
        </p:blipFill>
        <p:spPr>
          <a:xfrm>
            <a:off x="6096000" y="1118750"/>
            <a:ext cx="5943600" cy="31768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g33e25cecd32_1_151"/>
          <p:cNvSpPr/>
          <p:nvPr/>
        </p:nvSpPr>
        <p:spPr>
          <a:xfrm>
            <a:off x="1329635" y="-1472"/>
            <a:ext cx="10862400" cy="452100"/>
          </a:xfrm>
          <a:prstGeom prst="rect">
            <a:avLst/>
          </a:prstGeom>
          <a:solidFill>
            <a:srgbClr val="002060"/>
          </a:solidFill>
          <a:ln>
            <a:noFill/>
          </a:ln>
        </p:spPr>
        <p:txBody>
          <a:bodyPr anchorCtr="0" anchor="ctr" bIns="21400" lIns="42825" spcFirstLastPara="1" rIns="42825" wrap="square" tIns="21400">
            <a:noAutofit/>
          </a:bodyPr>
          <a:lstStyle/>
          <a:p>
            <a:pPr indent="0" lvl="0" marL="0" marR="0" rtl="0" algn="l">
              <a:lnSpc>
                <a:spcPct val="100000"/>
              </a:lnSpc>
              <a:spcBef>
                <a:spcPts val="0"/>
              </a:spcBef>
              <a:spcAft>
                <a:spcPts val="0"/>
              </a:spcAft>
              <a:buClr>
                <a:srgbClr val="000000"/>
              </a:buClr>
              <a:buSzPts val="294"/>
              <a:buFont typeface="Arial"/>
              <a:buNone/>
            </a:pPr>
            <a:r>
              <a:rPr b="1" lang="en-US" sz="1800">
                <a:solidFill>
                  <a:srgbClr val="FFFFFF"/>
                </a:solidFill>
                <a:latin typeface="Times New Roman"/>
                <a:ea typeface="Times New Roman"/>
                <a:cs typeface="Times New Roman"/>
                <a:sym typeface="Times New Roman"/>
              </a:rPr>
              <a:t>PreProcessor &amp; Layer Identification</a:t>
            </a:r>
            <a:endParaRPr b="1" sz="1800" u="none" cap="none" strike="noStrike">
              <a:solidFill>
                <a:srgbClr val="FFFFFF"/>
              </a:solidFill>
              <a:latin typeface="Times New Roman"/>
              <a:ea typeface="Times New Roman"/>
              <a:cs typeface="Times New Roman"/>
              <a:sym typeface="Times New Roman"/>
            </a:endParaRPr>
          </a:p>
        </p:txBody>
      </p:sp>
      <p:sp>
        <p:nvSpPr>
          <p:cNvPr id="332" name="Google Shape;332;g33e25cecd32_1_151"/>
          <p:cNvSpPr/>
          <p:nvPr/>
        </p:nvSpPr>
        <p:spPr>
          <a:xfrm>
            <a:off x="1329635" y="6597352"/>
            <a:ext cx="10862400" cy="260700"/>
          </a:xfrm>
          <a:prstGeom prst="rect">
            <a:avLst/>
          </a:prstGeom>
          <a:solidFill>
            <a:srgbClr val="002060"/>
          </a:solidFill>
          <a:ln>
            <a:noFill/>
          </a:ln>
        </p:spPr>
        <p:txBody>
          <a:bodyPr anchorCtr="0" anchor="ctr" bIns="21400" lIns="42825" spcFirstLastPara="1" rIns="42825" wrap="square" tIns="21400">
            <a:noAutofit/>
          </a:bodyPr>
          <a:lstStyle/>
          <a:p>
            <a:pPr indent="0" lvl="0" marL="0" marR="0" rtl="0" algn="l">
              <a:lnSpc>
                <a:spcPct val="100000"/>
              </a:lnSpc>
              <a:spcBef>
                <a:spcPts val="0"/>
              </a:spcBef>
              <a:spcAft>
                <a:spcPts val="0"/>
              </a:spcAft>
              <a:buClr>
                <a:srgbClr val="000000"/>
              </a:buClr>
              <a:buSzPts val="294"/>
              <a:buFont typeface="Arial"/>
              <a:buNone/>
            </a:pPr>
            <a:r>
              <a:t/>
            </a:r>
            <a:endParaRPr b="1" i="1" sz="294" u="none" cap="none" strike="noStrike">
              <a:solidFill>
                <a:srgbClr val="FFFFFF"/>
              </a:solidFill>
              <a:latin typeface="Calibri"/>
              <a:ea typeface="Calibri"/>
              <a:cs typeface="Calibri"/>
              <a:sym typeface="Calibri"/>
            </a:endParaRPr>
          </a:p>
        </p:txBody>
      </p:sp>
      <p:sp>
        <p:nvSpPr>
          <p:cNvPr id="333" name="Google Shape;333;g33e25cecd32_1_151"/>
          <p:cNvSpPr txBox="1"/>
          <p:nvPr>
            <p:ph idx="12" type="sldNum"/>
          </p:nvPr>
        </p:nvSpPr>
        <p:spPr>
          <a:xfrm>
            <a:off x="11386491" y="6556449"/>
            <a:ext cx="639600" cy="3267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sz="1800">
                <a:solidFill>
                  <a:schemeClr val="lt1"/>
                </a:solidFill>
              </a:rPr>
              <a:t>‹#›</a:t>
            </a:fld>
            <a:endParaRPr sz="1931">
              <a:solidFill>
                <a:schemeClr val="lt1"/>
              </a:solidFill>
            </a:endParaRPr>
          </a:p>
        </p:txBody>
      </p:sp>
      <p:sp>
        <p:nvSpPr>
          <p:cNvPr id="334" name="Google Shape;334;g33e25cecd32_1_151"/>
          <p:cNvSpPr/>
          <p:nvPr/>
        </p:nvSpPr>
        <p:spPr>
          <a:xfrm>
            <a:off x="3615675" y="-1475"/>
            <a:ext cx="4154700" cy="535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1" i="0" sz="1500" u="none" cap="none" strike="noStrike">
              <a:solidFill>
                <a:srgbClr val="000000"/>
              </a:solidFill>
              <a:latin typeface="Times New Roman"/>
              <a:ea typeface="Times New Roman"/>
              <a:cs typeface="Times New Roman"/>
              <a:sym typeface="Times New Roman"/>
            </a:endParaRPr>
          </a:p>
        </p:txBody>
      </p:sp>
      <p:sp>
        <p:nvSpPr>
          <p:cNvPr id="335" name="Google Shape;335;g33e25cecd32_1_151"/>
          <p:cNvSpPr/>
          <p:nvPr/>
        </p:nvSpPr>
        <p:spPr>
          <a:xfrm>
            <a:off x="0" y="-1472"/>
            <a:ext cx="1329600" cy="452100"/>
          </a:xfrm>
          <a:prstGeom prst="rect">
            <a:avLst/>
          </a:prstGeom>
          <a:solidFill>
            <a:srgbClr val="C000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00"/>
              <a:buFont typeface="Arial"/>
              <a:buNone/>
            </a:pPr>
            <a:r>
              <a:rPr b="1" lang="en-US">
                <a:solidFill>
                  <a:schemeClr val="dk1"/>
                </a:solidFill>
              </a:rPr>
              <a:t>ECSE 695</a:t>
            </a:r>
            <a:endParaRPr b="1" i="0" sz="1400" u="none" cap="none" strike="noStrike">
              <a:solidFill>
                <a:schemeClr val="dk1"/>
              </a:solidFill>
              <a:latin typeface="Arial"/>
              <a:ea typeface="Arial"/>
              <a:cs typeface="Arial"/>
              <a:sym typeface="Arial"/>
            </a:endParaRPr>
          </a:p>
        </p:txBody>
      </p:sp>
      <p:sp>
        <p:nvSpPr>
          <p:cNvPr id="336" name="Google Shape;336;g33e25cecd32_1_151"/>
          <p:cNvSpPr txBox="1"/>
          <p:nvPr/>
        </p:nvSpPr>
        <p:spPr>
          <a:xfrm>
            <a:off x="0" y="855128"/>
            <a:ext cx="7506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p:txBody>
      </p:sp>
      <p:pic>
        <p:nvPicPr>
          <p:cNvPr descr="A blue letter with white background&#10;&#10;Description automatically generated" id="337" name="Google Shape;337;g33e25cecd32_1_151"/>
          <p:cNvPicPr preferRelativeResize="0"/>
          <p:nvPr/>
        </p:nvPicPr>
        <p:blipFill rotWithShape="1">
          <a:blip r:embed="rId3">
            <a:alphaModFix/>
          </a:blip>
          <a:srcRect b="0" l="0" r="0" t="0"/>
          <a:stretch/>
        </p:blipFill>
        <p:spPr>
          <a:xfrm>
            <a:off x="0" y="6597352"/>
            <a:ext cx="1329635" cy="260648"/>
          </a:xfrm>
          <a:prstGeom prst="rect">
            <a:avLst/>
          </a:prstGeom>
          <a:noFill/>
          <a:ln>
            <a:noFill/>
          </a:ln>
        </p:spPr>
      </p:pic>
      <p:sp>
        <p:nvSpPr>
          <p:cNvPr id="338" name="Google Shape;338;g33e25cecd32_1_151"/>
          <p:cNvSpPr txBox="1"/>
          <p:nvPr/>
        </p:nvSpPr>
        <p:spPr>
          <a:xfrm>
            <a:off x="8022596" y="6222504"/>
            <a:ext cx="4079700" cy="307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t/>
            </a:r>
            <a:endParaRPr b="0" i="0" sz="1400" u="none" cap="none" strike="noStrike">
              <a:solidFill>
                <a:srgbClr val="000000"/>
              </a:solidFill>
              <a:latin typeface="Arial"/>
              <a:ea typeface="Arial"/>
              <a:cs typeface="Arial"/>
              <a:sym typeface="Arial"/>
            </a:endParaRPr>
          </a:p>
        </p:txBody>
      </p:sp>
      <p:sp>
        <p:nvSpPr>
          <p:cNvPr id="339" name="Google Shape;339;g33e25cecd32_1_151"/>
          <p:cNvSpPr txBox="1"/>
          <p:nvPr/>
        </p:nvSpPr>
        <p:spPr>
          <a:xfrm>
            <a:off x="7882801" y="533746"/>
            <a:ext cx="37719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t/>
            </a:r>
            <a:endParaRPr b="1"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C00000"/>
              </a:solidFill>
              <a:latin typeface="Arial"/>
              <a:ea typeface="Arial"/>
              <a:cs typeface="Arial"/>
              <a:sym typeface="Arial"/>
            </a:endParaRPr>
          </a:p>
        </p:txBody>
      </p:sp>
      <p:sp>
        <p:nvSpPr>
          <p:cNvPr id="340" name="Google Shape;340;g33e25cecd32_1_151"/>
          <p:cNvSpPr txBox="1"/>
          <p:nvPr/>
        </p:nvSpPr>
        <p:spPr>
          <a:xfrm>
            <a:off x="79000" y="450625"/>
            <a:ext cx="9950100" cy="1201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t/>
            </a:r>
            <a:endParaRPr b="1" sz="1100">
              <a:solidFill>
                <a:schemeClr val="dk1"/>
              </a:solidFill>
            </a:endParaRPr>
          </a:p>
          <a:p>
            <a:pPr indent="0" lvl="0" marL="0" rtl="0" algn="l">
              <a:lnSpc>
                <a:spcPct val="115000"/>
              </a:lnSpc>
              <a:spcBef>
                <a:spcPts val="1200"/>
              </a:spcBef>
              <a:spcAft>
                <a:spcPts val="0"/>
              </a:spcAft>
              <a:buNone/>
            </a:pPr>
            <a:r>
              <a:t/>
            </a:r>
            <a:endParaRPr b="1">
              <a:solidFill>
                <a:schemeClr val="dk1"/>
              </a:solidFill>
              <a:latin typeface="Times New Roman"/>
              <a:ea typeface="Times New Roman"/>
              <a:cs typeface="Times New Roman"/>
              <a:sym typeface="Times New Roman"/>
            </a:endParaRPr>
          </a:p>
          <a:p>
            <a:pPr indent="0" lvl="0" marL="0" rtl="0" algn="l">
              <a:lnSpc>
                <a:spcPct val="115000"/>
              </a:lnSpc>
              <a:spcBef>
                <a:spcPts val="1600"/>
              </a:spcBef>
              <a:spcAft>
                <a:spcPts val="1600"/>
              </a:spcAft>
              <a:buNone/>
            </a:pPr>
            <a:r>
              <a:t/>
            </a:r>
            <a:endParaRPr>
              <a:solidFill>
                <a:schemeClr val="dk1"/>
              </a:solidFill>
              <a:latin typeface="Times New Roman"/>
              <a:ea typeface="Times New Roman"/>
              <a:cs typeface="Times New Roman"/>
              <a:sym typeface="Times New Roman"/>
            </a:endParaRPr>
          </a:p>
        </p:txBody>
      </p:sp>
      <p:sp>
        <p:nvSpPr>
          <p:cNvPr id="341" name="Google Shape;341;g33e25cecd32_1_151"/>
          <p:cNvSpPr txBox="1"/>
          <p:nvPr/>
        </p:nvSpPr>
        <p:spPr>
          <a:xfrm>
            <a:off x="8134650" y="5405375"/>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342" name="Google Shape;342;g33e25cecd32_1_151"/>
          <p:cNvSpPr txBox="1"/>
          <p:nvPr/>
        </p:nvSpPr>
        <p:spPr>
          <a:xfrm>
            <a:off x="0" y="450625"/>
            <a:ext cx="3000000" cy="369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1800"/>
              </a:spcAft>
              <a:buNone/>
            </a:pPr>
            <a:r>
              <a:t/>
            </a:r>
            <a:endParaRPr sz="1200">
              <a:solidFill>
                <a:schemeClr val="dk1"/>
              </a:solidFill>
              <a:latin typeface="Times New Roman"/>
              <a:ea typeface="Times New Roman"/>
              <a:cs typeface="Times New Roman"/>
              <a:sym typeface="Times New Roman"/>
            </a:endParaRPr>
          </a:p>
        </p:txBody>
      </p:sp>
      <p:sp>
        <p:nvSpPr>
          <p:cNvPr id="343" name="Google Shape;343;g33e25cecd32_1_151"/>
          <p:cNvSpPr txBox="1"/>
          <p:nvPr/>
        </p:nvSpPr>
        <p:spPr>
          <a:xfrm>
            <a:off x="140850" y="606725"/>
            <a:ext cx="5614200" cy="5594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100"/>
              </a:spcBef>
              <a:spcAft>
                <a:spcPts val="0"/>
              </a:spcAft>
              <a:buNone/>
            </a:pPr>
            <a:r>
              <a:rPr b="1" lang="en-US" sz="1300">
                <a:solidFill>
                  <a:schemeClr val="dk1"/>
                </a:solidFill>
                <a:latin typeface="Times New Roman"/>
                <a:ea typeface="Times New Roman"/>
                <a:cs typeface="Times New Roman"/>
                <a:sym typeface="Times New Roman"/>
              </a:rPr>
              <a:t>Key Functions:</a:t>
            </a:r>
            <a:endParaRPr b="1" sz="1300">
              <a:solidFill>
                <a:schemeClr val="dk1"/>
              </a:solidFill>
              <a:latin typeface="Times New Roman"/>
              <a:ea typeface="Times New Roman"/>
              <a:cs typeface="Times New Roman"/>
              <a:sym typeface="Times New Roman"/>
            </a:endParaRPr>
          </a:p>
          <a:p>
            <a:pPr indent="-311150" lvl="0" marL="457200" rtl="0" algn="l">
              <a:lnSpc>
                <a:spcPct val="115000"/>
              </a:lnSpc>
              <a:spcBef>
                <a:spcPts val="1100"/>
              </a:spcBef>
              <a:spcAft>
                <a:spcPts val="0"/>
              </a:spcAft>
              <a:buClr>
                <a:schemeClr val="dk1"/>
              </a:buClr>
              <a:buSzPts val="1300"/>
              <a:buFont typeface="Times New Roman"/>
              <a:buChar char="●"/>
            </a:pPr>
            <a:r>
              <a:rPr lang="en-US" sz="1300">
                <a:solidFill>
                  <a:schemeClr val="dk1"/>
                </a:solidFill>
                <a:latin typeface="Times New Roman"/>
                <a:ea typeface="Times New Roman"/>
                <a:cs typeface="Times New Roman"/>
                <a:sym typeface="Times New Roman"/>
              </a:rPr>
              <a:t>Parse G-code files into logical sections</a:t>
            </a:r>
            <a:endParaRPr sz="1300">
              <a:solidFill>
                <a:schemeClr val="dk1"/>
              </a:solidFill>
              <a:latin typeface="Times New Roman"/>
              <a:ea typeface="Times New Roman"/>
              <a:cs typeface="Times New Roman"/>
              <a:sym typeface="Times New Roman"/>
            </a:endParaRPr>
          </a:p>
          <a:p>
            <a:pPr indent="-311150" lvl="0" marL="457200" rtl="0" algn="l">
              <a:lnSpc>
                <a:spcPct val="115000"/>
              </a:lnSpc>
              <a:spcBef>
                <a:spcPts val="0"/>
              </a:spcBef>
              <a:spcAft>
                <a:spcPts val="0"/>
              </a:spcAft>
              <a:buClr>
                <a:schemeClr val="dk1"/>
              </a:buClr>
              <a:buSzPts val="1300"/>
              <a:buFont typeface="Times New Roman"/>
              <a:buChar char="●"/>
            </a:pPr>
            <a:r>
              <a:rPr lang="en-US" sz="1300">
                <a:solidFill>
                  <a:schemeClr val="dk1"/>
                </a:solidFill>
                <a:latin typeface="Times New Roman"/>
                <a:ea typeface="Times New Roman"/>
                <a:cs typeface="Times New Roman"/>
                <a:sym typeface="Times New Roman"/>
              </a:rPr>
              <a:t>Identify individual layers using ";LAYER:" markers</a:t>
            </a:r>
            <a:endParaRPr sz="1300">
              <a:solidFill>
                <a:schemeClr val="dk1"/>
              </a:solidFill>
              <a:latin typeface="Times New Roman"/>
              <a:ea typeface="Times New Roman"/>
              <a:cs typeface="Times New Roman"/>
              <a:sym typeface="Times New Roman"/>
            </a:endParaRPr>
          </a:p>
          <a:p>
            <a:pPr indent="-311150" lvl="0" marL="457200" rtl="0" algn="l">
              <a:lnSpc>
                <a:spcPct val="115000"/>
              </a:lnSpc>
              <a:spcBef>
                <a:spcPts val="0"/>
              </a:spcBef>
              <a:spcAft>
                <a:spcPts val="0"/>
              </a:spcAft>
              <a:buClr>
                <a:schemeClr val="dk1"/>
              </a:buClr>
              <a:buSzPts val="1300"/>
              <a:buFont typeface="Times New Roman"/>
              <a:buChar char="●"/>
            </a:pPr>
            <a:r>
              <a:rPr lang="en-US" sz="1300">
                <a:solidFill>
                  <a:schemeClr val="dk1"/>
                </a:solidFill>
                <a:latin typeface="Times New Roman"/>
                <a:ea typeface="Times New Roman"/>
                <a:cs typeface="Times New Roman"/>
                <a:sym typeface="Times New Roman"/>
              </a:rPr>
              <a:t>Extract layer-specific features and metadata</a:t>
            </a:r>
            <a:endParaRPr sz="1300">
              <a:solidFill>
                <a:schemeClr val="dk1"/>
              </a:solidFill>
              <a:latin typeface="Times New Roman"/>
              <a:ea typeface="Times New Roman"/>
              <a:cs typeface="Times New Roman"/>
              <a:sym typeface="Times New Roman"/>
            </a:endParaRPr>
          </a:p>
          <a:p>
            <a:pPr indent="-311150" lvl="0" marL="457200" rtl="0" algn="l">
              <a:lnSpc>
                <a:spcPct val="115000"/>
              </a:lnSpc>
              <a:spcBef>
                <a:spcPts val="0"/>
              </a:spcBef>
              <a:spcAft>
                <a:spcPts val="0"/>
              </a:spcAft>
              <a:buClr>
                <a:schemeClr val="dk1"/>
              </a:buClr>
              <a:buSzPts val="1300"/>
              <a:buFont typeface="Times New Roman"/>
              <a:buChar char="●"/>
            </a:pPr>
            <a:r>
              <a:rPr lang="en-US" sz="1300">
                <a:solidFill>
                  <a:schemeClr val="dk1"/>
                </a:solidFill>
                <a:latin typeface="Times New Roman"/>
                <a:ea typeface="Times New Roman"/>
                <a:cs typeface="Times New Roman"/>
                <a:sym typeface="Times New Roman"/>
              </a:rPr>
              <a:t>Create structured representation for further processing</a:t>
            </a:r>
            <a:endParaRPr sz="1300">
              <a:solidFill>
                <a:schemeClr val="dk1"/>
              </a:solidFill>
              <a:latin typeface="Times New Roman"/>
              <a:ea typeface="Times New Roman"/>
              <a:cs typeface="Times New Roman"/>
              <a:sym typeface="Times New Roman"/>
            </a:endParaRPr>
          </a:p>
          <a:p>
            <a:pPr indent="0" lvl="0" marL="0" rtl="0" algn="l">
              <a:lnSpc>
                <a:spcPct val="115000"/>
              </a:lnSpc>
              <a:spcBef>
                <a:spcPts val="1100"/>
              </a:spcBef>
              <a:spcAft>
                <a:spcPts val="0"/>
              </a:spcAft>
              <a:buNone/>
            </a:pPr>
            <a:r>
              <a:rPr b="1" lang="en-US" sz="1300">
                <a:solidFill>
                  <a:schemeClr val="dk1"/>
                </a:solidFill>
                <a:latin typeface="Times New Roman"/>
                <a:ea typeface="Times New Roman"/>
                <a:cs typeface="Times New Roman"/>
                <a:sym typeface="Times New Roman"/>
              </a:rPr>
              <a:t>Implementation Details:</a:t>
            </a:r>
            <a:endParaRPr b="1" sz="1300">
              <a:solidFill>
                <a:schemeClr val="dk1"/>
              </a:solidFill>
              <a:latin typeface="Times New Roman"/>
              <a:ea typeface="Times New Roman"/>
              <a:cs typeface="Times New Roman"/>
              <a:sym typeface="Times New Roman"/>
            </a:endParaRPr>
          </a:p>
          <a:p>
            <a:pPr indent="-311150" lvl="0" marL="457200" rtl="0" algn="l">
              <a:lnSpc>
                <a:spcPct val="115000"/>
              </a:lnSpc>
              <a:spcBef>
                <a:spcPts val="1100"/>
              </a:spcBef>
              <a:spcAft>
                <a:spcPts val="0"/>
              </a:spcAft>
              <a:buClr>
                <a:schemeClr val="dk1"/>
              </a:buClr>
              <a:buSzPts val="1300"/>
              <a:buFont typeface="Times New Roman"/>
              <a:buChar char="●"/>
            </a:pPr>
            <a:r>
              <a:rPr lang="en-US" sz="1300">
                <a:solidFill>
                  <a:schemeClr val="dk1"/>
                </a:solidFill>
                <a:latin typeface="Times New Roman"/>
                <a:ea typeface="Times New Roman"/>
                <a:cs typeface="Times New Roman"/>
                <a:sym typeface="Times New Roman"/>
              </a:rPr>
              <a:t>Section identification: top metadata, startup script, movements, end script</a:t>
            </a:r>
            <a:endParaRPr sz="1300">
              <a:solidFill>
                <a:schemeClr val="dk1"/>
              </a:solidFill>
              <a:latin typeface="Times New Roman"/>
              <a:ea typeface="Times New Roman"/>
              <a:cs typeface="Times New Roman"/>
              <a:sym typeface="Times New Roman"/>
            </a:endParaRPr>
          </a:p>
          <a:p>
            <a:pPr indent="-311150" lvl="0" marL="457200" rtl="0" algn="l">
              <a:lnSpc>
                <a:spcPct val="115000"/>
              </a:lnSpc>
              <a:spcBef>
                <a:spcPts val="0"/>
              </a:spcBef>
              <a:spcAft>
                <a:spcPts val="0"/>
              </a:spcAft>
              <a:buClr>
                <a:schemeClr val="dk1"/>
              </a:buClr>
              <a:buSzPts val="1300"/>
              <a:buFont typeface="Times New Roman"/>
              <a:buChar char="●"/>
            </a:pPr>
            <a:r>
              <a:rPr lang="en-US" sz="1300">
                <a:solidFill>
                  <a:schemeClr val="dk1"/>
                </a:solidFill>
                <a:latin typeface="Times New Roman"/>
                <a:ea typeface="Times New Roman"/>
                <a:cs typeface="Times New Roman"/>
                <a:sym typeface="Times New Roman"/>
              </a:rPr>
              <a:t>Layer-by-layer organization using LayerParser class</a:t>
            </a:r>
            <a:endParaRPr sz="1300">
              <a:solidFill>
                <a:schemeClr val="dk1"/>
              </a:solidFill>
              <a:latin typeface="Times New Roman"/>
              <a:ea typeface="Times New Roman"/>
              <a:cs typeface="Times New Roman"/>
              <a:sym typeface="Times New Roman"/>
            </a:endParaRPr>
          </a:p>
          <a:p>
            <a:pPr indent="-311150" lvl="0" marL="457200" rtl="0" algn="l">
              <a:lnSpc>
                <a:spcPct val="115000"/>
              </a:lnSpc>
              <a:spcBef>
                <a:spcPts val="0"/>
              </a:spcBef>
              <a:spcAft>
                <a:spcPts val="0"/>
              </a:spcAft>
              <a:buClr>
                <a:schemeClr val="dk1"/>
              </a:buClr>
              <a:buSzPts val="1300"/>
              <a:buFont typeface="Times New Roman"/>
              <a:buChar char="●"/>
            </a:pPr>
            <a:r>
              <a:rPr lang="en-US" sz="1300">
                <a:solidFill>
                  <a:schemeClr val="dk1"/>
                </a:solidFill>
                <a:latin typeface="Times New Roman"/>
                <a:ea typeface="Times New Roman"/>
                <a:cs typeface="Times New Roman"/>
                <a:sym typeface="Times New Roman"/>
              </a:rPr>
              <a:t>Feature type identification: walls, infill, skirts</a:t>
            </a:r>
            <a:endParaRPr sz="1300">
              <a:solidFill>
                <a:schemeClr val="dk1"/>
              </a:solidFill>
              <a:latin typeface="Times New Roman"/>
              <a:ea typeface="Times New Roman"/>
              <a:cs typeface="Times New Roman"/>
              <a:sym typeface="Times New Roman"/>
            </a:endParaRPr>
          </a:p>
          <a:p>
            <a:pPr indent="-311150" lvl="0" marL="457200" rtl="0" algn="l">
              <a:lnSpc>
                <a:spcPct val="115000"/>
              </a:lnSpc>
              <a:spcBef>
                <a:spcPts val="0"/>
              </a:spcBef>
              <a:spcAft>
                <a:spcPts val="0"/>
              </a:spcAft>
              <a:buClr>
                <a:schemeClr val="dk1"/>
              </a:buClr>
              <a:buSzPts val="1300"/>
              <a:buFont typeface="Times New Roman"/>
              <a:buChar char="●"/>
            </a:pPr>
            <a:r>
              <a:rPr lang="en-US" sz="1300">
                <a:solidFill>
                  <a:schemeClr val="dk1"/>
                </a:solidFill>
                <a:latin typeface="Times New Roman"/>
                <a:ea typeface="Times New Roman"/>
                <a:cs typeface="Times New Roman"/>
                <a:sym typeface="Times New Roman"/>
              </a:rPr>
              <a:t>Bounding box calculation for each layer</a:t>
            </a:r>
            <a:endParaRPr sz="1300">
              <a:solidFill>
                <a:schemeClr val="dk1"/>
              </a:solidFill>
              <a:latin typeface="Times New Roman"/>
              <a:ea typeface="Times New Roman"/>
              <a:cs typeface="Times New Roman"/>
              <a:sym typeface="Times New Roman"/>
            </a:endParaRPr>
          </a:p>
          <a:p>
            <a:pPr indent="0" lvl="0" marL="0" rtl="0" algn="l">
              <a:lnSpc>
                <a:spcPct val="115000"/>
              </a:lnSpc>
              <a:spcBef>
                <a:spcPts val="1100"/>
              </a:spcBef>
              <a:spcAft>
                <a:spcPts val="0"/>
              </a:spcAft>
              <a:buNone/>
            </a:pPr>
            <a:r>
              <a:rPr b="1" lang="en-US" sz="1300">
                <a:solidFill>
                  <a:schemeClr val="dk1"/>
                </a:solidFill>
                <a:latin typeface="Times New Roman"/>
                <a:ea typeface="Times New Roman"/>
                <a:cs typeface="Times New Roman"/>
                <a:sym typeface="Times New Roman"/>
              </a:rPr>
              <a:t>Code Example:</a:t>
            </a:r>
            <a:endParaRPr sz="1300">
              <a:solidFill>
                <a:schemeClr val="dk1"/>
              </a:solidFill>
              <a:latin typeface="Times New Roman"/>
              <a:ea typeface="Times New Roman"/>
              <a:cs typeface="Times New Roman"/>
              <a:sym typeface="Times New Roman"/>
            </a:endParaRPr>
          </a:p>
          <a:p>
            <a:pPr indent="0" lvl="0" marL="0" rtl="0" algn="l">
              <a:spcBef>
                <a:spcPts val="1100"/>
              </a:spcBef>
              <a:spcAft>
                <a:spcPts val="0"/>
              </a:spcAft>
              <a:buNone/>
            </a:pPr>
            <a:r>
              <a:rPr lang="en-US" sz="1300">
                <a:solidFill>
                  <a:schemeClr val="dk1"/>
                </a:solidFill>
                <a:latin typeface="Times New Roman"/>
                <a:ea typeface="Times New Roman"/>
                <a:cs typeface="Times New Roman"/>
                <a:sym typeface="Times New Roman"/>
              </a:rPr>
              <a:t>def parse_layers(self):</a:t>
            </a:r>
            <a:endParaRPr sz="13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1300">
                <a:solidFill>
                  <a:schemeClr val="dk1"/>
                </a:solidFill>
                <a:latin typeface="Times New Roman"/>
                <a:ea typeface="Times New Roman"/>
                <a:cs typeface="Times New Roman"/>
                <a:sym typeface="Times New Roman"/>
              </a:rPr>
              <a:t>    parser = LayerParser()</a:t>
            </a:r>
            <a:endParaRPr sz="13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1300">
                <a:solidFill>
                  <a:schemeClr val="dk1"/>
                </a:solidFill>
                <a:latin typeface="Times New Roman"/>
                <a:ea typeface="Times New Roman"/>
                <a:cs typeface="Times New Roman"/>
                <a:sym typeface="Times New Roman"/>
              </a:rPr>
              <a:t>    layers = parser.process(</a:t>
            </a:r>
            <a:endParaRPr sz="13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1300">
                <a:solidFill>
                  <a:schemeClr val="dk1"/>
                </a:solidFill>
                <a:latin typeface="Times New Roman"/>
                <a:ea typeface="Times New Roman"/>
                <a:cs typeface="Times New Roman"/>
                <a:sym typeface="Times New Roman"/>
              </a:rPr>
              <a:t>      self.gcode_sections[Sections.GCODE_MOVEMENTS_SECTION])</a:t>
            </a:r>
            <a:endParaRPr sz="13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1300">
                <a:solidFill>
                  <a:schemeClr val="dk1"/>
                </a:solidFill>
                <a:latin typeface="Times New Roman"/>
                <a:ea typeface="Times New Roman"/>
                <a:cs typeface="Times New Roman"/>
                <a:sym typeface="Times New Roman"/>
              </a:rPr>
              <a:t>    return layers</a:t>
            </a:r>
            <a:endParaRPr sz="1300">
              <a:solidFill>
                <a:schemeClr val="dk1"/>
              </a:solidFill>
              <a:latin typeface="Times New Roman"/>
              <a:ea typeface="Times New Roman"/>
              <a:cs typeface="Times New Roman"/>
              <a:sym typeface="Times New Roman"/>
            </a:endParaRPr>
          </a:p>
          <a:p>
            <a:pPr indent="0" lvl="0" marL="0" rtl="0" algn="l">
              <a:lnSpc>
                <a:spcPct val="115000"/>
              </a:lnSpc>
              <a:spcBef>
                <a:spcPts val="1100"/>
              </a:spcBef>
              <a:spcAft>
                <a:spcPts val="0"/>
              </a:spcAft>
              <a:buNone/>
            </a:pPr>
            <a:r>
              <a:rPr lang="en-US" sz="1300">
                <a:solidFill>
                  <a:schemeClr val="dk1"/>
                </a:solidFill>
                <a:latin typeface="Times New Roman"/>
                <a:ea typeface="Times New Roman"/>
                <a:cs typeface="Times New Roman"/>
                <a:sym typeface="Times New Roman"/>
              </a:rPr>
              <a:t>Significance:</a:t>
            </a:r>
            <a:endParaRPr sz="1300">
              <a:solidFill>
                <a:schemeClr val="dk1"/>
              </a:solidFill>
              <a:latin typeface="Times New Roman"/>
              <a:ea typeface="Times New Roman"/>
              <a:cs typeface="Times New Roman"/>
              <a:sym typeface="Times New Roman"/>
            </a:endParaRPr>
          </a:p>
          <a:p>
            <a:pPr indent="-311150" lvl="0" marL="457200" rtl="0" algn="l">
              <a:lnSpc>
                <a:spcPct val="115000"/>
              </a:lnSpc>
              <a:spcBef>
                <a:spcPts val="1100"/>
              </a:spcBef>
              <a:spcAft>
                <a:spcPts val="0"/>
              </a:spcAft>
              <a:buClr>
                <a:schemeClr val="dk1"/>
              </a:buClr>
              <a:buSzPts val="1300"/>
              <a:buFont typeface="Times New Roman"/>
              <a:buChar char="●"/>
            </a:pPr>
            <a:r>
              <a:rPr lang="en-US" sz="1300">
                <a:solidFill>
                  <a:schemeClr val="dk1"/>
                </a:solidFill>
                <a:latin typeface="Times New Roman"/>
                <a:ea typeface="Times New Roman"/>
                <a:cs typeface="Times New Roman"/>
                <a:sym typeface="Times New Roman"/>
              </a:rPr>
              <a:t>Foundation for adaptive processing</a:t>
            </a:r>
            <a:endParaRPr sz="1300">
              <a:solidFill>
                <a:schemeClr val="dk1"/>
              </a:solidFill>
              <a:latin typeface="Times New Roman"/>
              <a:ea typeface="Times New Roman"/>
              <a:cs typeface="Times New Roman"/>
              <a:sym typeface="Times New Roman"/>
            </a:endParaRPr>
          </a:p>
          <a:p>
            <a:pPr indent="-311150" lvl="0" marL="457200" rtl="0" algn="l">
              <a:lnSpc>
                <a:spcPct val="115000"/>
              </a:lnSpc>
              <a:spcBef>
                <a:spcPts val="0"/>
              </a:spcBef>
              <a:spcAft>
                <a:spcPts val="0"/>
              </a:spcAft>
              <a:buClr>
                <a:schemeClr val="dk1"/>
              </a:buClr>
              <a:buSzPts val="1300"/>
              <a:buFont typeface="Times New Roman"/>
              <a:buChar char="●"/>
            </a:pPr>
            <a:r>
              <a:rPr lang="en-US" sz="1300">
                <a:solidFill>
                  <a:schemeClr val="dk1"/>
                </a:solidFill>
                <a:latin typeface="Times New Roman"/>
                <a:ea typeface="Times New Roman"/>
                <a:cs typeface="Times New Roman"/>
                <a:sym typeface="Times New Roman"/>
              </a:rPr>
              <a:t>Enables targeted modifications</a:t>
            </a:r>
            <a:endParaRPr sz="1300">
              <a:solidFill>
                <a:schemeClr val="dk1"/>
              </a:solidFill>
              <a:latin typeface="Times New Roman"/>
              <a:ea typeface="Times New Roman"/>
              <a:cs typeface="Times New Roman"/>
              <a:sym typeface="Times New Roman"/>
            </a:endParaRPr>
          </a:p>
          <a:p>
            <a:pPr indent="-311150" lvl="0" marL="457200" rtl="0" algn="l">
              <a:lnSpc>
                <a:spcPct val="115000"/>
              </a:lnSpc>
              <a:spcBef>
                <a:spcPts val="0"/>
              </a:spcBef>
              <a:spcAft>
                <a:spcPts val="0"/>
              </a:spcAft>
              <a:buClr>
                <a:schemeClr val="dk1"/>
              </a:buClr>
              <a:buSzPts val="1300"/>
              <a:buFont typeface="Times New Roman"/>
              <a:buChar char="●"/>
            </a:pPr>
            <a:r>
              <a:rPr lang="en-US" sz="1300">
                <a:solidFill>
                  <a:schemeClr val="dk1"/>
                </a:solidFill>
                <a:latin typeface="Times New Roman"/>
                <a:ea typeface="Times New Roman"/>
                <a:cs typeface="Times New Roman"/>
                <a:sym typeface="Times New Roman"/>
              </a:rPr>
              <a:t>Maintains G-code structure integrity </a:t>
            </a:r>
            <a:endParaRPr sz="1300">
              <a:solidFill>
                <a:schemeClr val="dk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g33e25cecd32_1_171"/>
          <p:cNvSpPr/>
          <p:nvPr/>
        </p:nvSpPr>
        <p:spPr>
          <a:xfrm>
            <a:off x="1329635" y="-1472"/>
            <a:ext cx="10862400" cy="452100"/>
          </a:xfrm>
          <a:prstGeom prst="rect">
            <a:avLst/>
          </a:prstGeom>
          <a:solidFill>
            <a:srgbClr val="002060"/>
          </a:solidFill>
          <a:ln>
            <a:noFill/>
          </a:ln>
        </p:spPr>
        <p:txBody>
          <a:bodyPr anchorCtr="0" anchor="ctr" bIns="21400" lIns="42825" spcFirstLastPara="1" rIns="42825" wrap="square" tIns="21400">
            <a:noAutofit/>
          </a:bodyPr>
          <a:lstStyle/>
          <a:p>
            <a:pPr indent="0" lvl="0" marL="0" marR="0" rtl="0" algn="l">
              <a:lnSpc>
                <a:spcPct val="100000"/>
              </a:lnSpc>
              <a:spcBef>
                <a:spcPts val="0"/>
              </a:spcBef>
              <a:spcAft>
                <a:spcPts val="0"/>
              </a:spcAft>
              <a:buClr>
                <a:srgbClr val="000000"/>
              </a:buClr>
              <a:buSzPts val="294"/>
              <a:buFont typeface="Arial"/>
              <a:buNone/>
            </a:pPr>
            <a:r>
              <a:rPr b="1" lang="en-US" sz="1800">
                <a:solidFill>
                  <a:srgbClr val="FFFFFF"/>
                </a:solidFill>
                <a:latin typeface="Times New Roman"/>
                <a:ea typeface="Times New Roman"/>
                <a:cs typeface="Times New Roman"/>
                <a:sym typeface="Times New Roman"/>
              </a:rPr>
              <a:t>Laser Scanner Integration</a:t>
            </a:r>
            <a:endParaRPr b="1" sz="1800" u="none" cap="none" strike="noStrike">
              <a:solidFill>
                <a:srgbClr val="FFFFFF"/>
              </a:solidFill>
              <a:latin typeface="Times New Roman"/>
              <a:ea typeface="Times New Roman"/>
              <a:cs typeface="Times New Roman"/>
              <a:sym typeface="Times New Roman"/>
            </a:endParaRPr>
          </a:p>
        </p:txBody>
      </p:sp>
      <p:sp>
        <p:nvSpPr>
          <p:cNvPr id="350" name="Google Shape;350;g33e25cecd32_1_171"/>
          <p:cNvSpPr/>
          <p:nvPr/>
        </p:nvSpPr>
        <p:spPr>
          <a:xfrm>
            <a:off x="1329635" y="6597352"/>
            <a:ext cx="10862400" cy="260700"/>
          </a:xfrm>
          <a:prstGeom prst="rect">
            <a:avLst/>
          </a:prstGeom>
          <a:solidFill>
            <a:srgbClr val="002060"/>
          </a:solidFill>
          <a:ln>
            <a:noFill/>
          </a:ln>
        </p:spPr>
        <p:txBody>
          <a:bodyPr anchorCtr="0" anchor="ctr" bIns="21400" lIns="42825" spcFirstLastPara="1" rIns="42825" wrap="square" tIns="21400">
            <a:noAutofit/>
          </a:bodyPr>
          <a:lstStyle/>
          <a:p>
            <a:pPr indent="0" lvl="0" marL="0" marR="0" rtl="0" algn="l">
              <a:lnSpc>
                <a:spcPct val="100000"/>
              </a:lnSpc>
              <a:spcBef>
                <a:spcPts val="0"/>
              </a:spcBef>
              <a:spcAft>
                <a:spcPts val="0"/>
              </a:spcAft>
              <a:buClr>
                <a:srgbClr val="000000"/>
              </a:buClr>
              <a:buSzPts val="294"/>
              <a:buFont typeface="Arial"/>
              <a:buNone/>
            </a:pPr>
            <a:r>
              <a:t/>
            </a:r>
            <a:endParaRPr b="1" i="1" sz="294" u="none" cap="none" strike="noStrike">
              <a:solidFill>
                <a:srgbClr val="FFFFFF"/>
              </a:solidFill>
              <a:latin typeface="Calibri"/>
              <a:ea typeface="Calibri"/>
              <a:cs typeface="Calibri"/>
              <a:sym typeface="Calibri"/>
            </a:endParaRPr>
          </a:p>
        </p:txBody>
      </p:sp>
      <p:sp>
        <p:nvSpPr>
          <p:cNvPr id="351" name="Google Shape;351;g33e25cecd32_1_171"/>
          <p:cNvSpPr txBox="1"/>
          <p:nvPr>
            <p:ph idx="12" type="sldNum"/>
          </p:nvPr>
        </p:nvSpPr>
        <p:spPr>
          <a:xfrm>
            <a:off x="11386491" y="6556449"/>
            <a:ext cx="639600" cy="3267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sz="1800">
                <a:solidFill>
                  <a:schemeClr val="lt1"/>
                </a:solidFill>
              </a:rPr>
              <a:t>‹#›</a:t>
            </a:fld>
            <a:endParaRPr sz="1931">
              <a:solidFill>
                <a:schemeClr val="lt1"/>
              </a:solidFill>
            </a:endParaRPr>
          </a:p>
        </p:txBody>
      </p:sp>
      <p:sp>
        <p:nvSpPr>
          <p:cNvPr id="352" name="Google Shape;352;g33e25cecd32_1_171"/>
          <p:cNvSpPr/>
          <p:nvPr/>
        </p:nvSpPr>
        <p:spPr>
          <a:xfrm>
            <a:off x="3615675" y="-1475"/>
            <a:ext cx="4154700" cy="535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1" i="0" sz="1500" u="none" cap="none" strike="noStrike">
              <a:solidFill>
                <a:srgbClr val="000000"/>
              </a:solidFill>
              <a:latin typeface="Times New Roman"/>
              <a:ea typeface="Times New Roman"/>
              <a:cs typeface="Times New Roman"/>
              <a:sym typeface="Times New Roman"/>
            </a:endParaRPr>
          </a:p>
        </p:txBody>
      </p:sp>
      <p:sp>
        <p:nvSpPr>
          <p:cNvPr id="353" name="Google Shape;353;g33e25cecd32_1_171"/>
          <p:cNvSpPr/>
          <p:nvPr/>
        </p:nvSpPr>
        <p:spPr>
          <a:xfrm>
            <a:off x="0" y="-1472"/>
            <a:ext cx="1329600" cy="452100"/>
          </a:xfrm>
          <a:prstGeom prst="rect">
            <a:avLst/>
          </a:prstGeom>
          <a:solidFill>
            <a:srgbClr val="C000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00"/>
              <a:buFont typeface="Arial"/>
              <a:buNone/>
            </a:pPr>
            <a:r>
              <a:rPr b="1" lang="en-US">
                <a:solidFill>
                  <a:schemeClr val="dk1"/>
                </a:solidFill>
              </a:rPr>
              <a:t>ECSE 695</a:t>
            </a:r>
            <a:endParaRPr b="1" i="0" sz="1400" u="none" cap="none" strike="noStrike">
              <a:solidFill>
                <a:schemeClr val="dk1"/>
              </a:solidFill>
              <a:latin typeface="Arial"/>
              <a:ea typeface="Arial"/>
              <a:cs typeface="Arial"/>
              <a:sym typeface="Arial"/>
            </a:endParaRPr>
          </a:p>
        </p:txBody>
      </p:sp>
      <p:sp>
        <p:nvSpPr>
          <p:cNvPr id="354" name="Google Shape;354;g33e25cecd32_1_171"/>
          <p:cNvSpPr txBox="1"/>
          <p:nvPr/>
        </p:nvSpPr>
        <p:spPr>
          <a:xfrm>
            <a:off x="0" y="855128"/>
            <a:ext cx="7506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p:txBody>
      </p:sp>
      <p:pic>
        <p:nvPicPr>
          <p:cNvPr descr="A blue letter with white background&#10;&#10;Description automatically generated" id="355" name="Google Shape;355;g33e25cecd32_1_171"/>
          <p:cNvPicPr preferRelativeResize="0"/>
          <p:nvPr/>
        </p:nvPicPr>
        <p:blipFill rotWithShape="1">
          <a:blip r:embed="rId3">
            <a:alphaModFix/>
          </a:blip>
          <a:srcRect b="0" l="0" r="0" t="0"/>
          <a:stretch/>
        </p:blipFill>
        <p:spPr>
          <a:xfrm>
            <a:off x="0" y="6597352"/>
            <a:ext cx="1329635" cy="260648"/>
          </a:xfrm>
          <a:prstGeom prst="rect">
            <a:avLst/>
          </a:prstGeom>
          <a:noFill/>
          <a:ln>
            <a:noFill/>
          </a:ln>
        </p:spPr>
      </p:pic>
      <p:sp>
        <p:nvSpPr>
          <p:cNvPr id="356" name="Google Shape;356;g33e25cecd32_1_171"/>
          <p:cNvSpPr txBox="1"/>
          <p:nvPr/>
        </p:nvSpPr>
        <p:spPr>
          <a:xfrm>
            <a:off x="8022596" y="6222504"/>
            <a:ext cx="4079700" cy="307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t/>
            </a:r>
            <a:endParaRPr b="0" i="0" sz="1400" u="none" cap="none" strike="noStrike">
              <a:solidFill>
                <a:srgbClr val="000000"/>
              </a:solidFill>
              <a:latin typeface="Arial"/>
              <a:ea typeface="Arial"/>
              <a:cs typeface="Arial"/>
              <a:sym typeface="Arial"/>
            </a:endParaRPr>
          </a:p>
        </p:txBody>
      </p:sp>
      <p:sp>
        <p:nvSpPr>
          <p:cNvPr id="357" name="Google Shape;357;g33e25cecd32_1_171"/>
          <p:cNvSpPr txBox="1"/>
          <p:nvPr/>
        </p:nvSpPr>
        <p:spPr>
          <a:xfrm>
            <a:off x="7882801" y="533746"/>
            <a:ext cx="37719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t/>
            </a:r>
            <a:endParaRPr b="1"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C00000"/>
              </a:solidFill>
              <a:latin typeface="Arial"/>
              <a:ea typeface="Arial"/>
              <a:cs typeface="Arial"/>
              <a:sym typeface="Arial"/>
            </a:endParaRPr>
          </a:p>
        </p:txBody>
      </p:sp>
      <p:sp>
        <p:nvSpPr>
          <p:cNvPr id="358" name="Google Shape;358;g33e25cecd32_1_171"/>
          <p:cNvSpPr txBox="1"/>
          <p:nvPr/>
        </p:nvSpPr>
        <p:spPr>
          <a:xfrm>
            <a:off x="79000" y="450625"/>
            <a:ext cx="9950100" cy="1201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t/>
            </a:r>
            <a:endParaRPr b="1" sz="1100">
              <a:solidFill>
                <a:schemeClr val="dk1"/>
              </a:solidFill>
            </a:endParaRPr>
          </a:p>
          <a:p>
            <a:pPr indent="0" lvl="0" marL="0" rtl="0" algn="l">
              <a:lnSpc>
                <a:spcPct val="115000"/>
              </a:lnSpc>
              <a:spcBef>
                <a:spcPts val="1200"/>
              </a:spcBef>
              <a:spcAft>
                <a:spcPts val="0"/>
              </a:spcAft>
              <a:buNone/>
            </a:pPr>
            <a:r>
              <a:t/>
            </a:r>
            <a:endParaRPr b="1">
              <a:solidFill>
                <a:schemeClr val="dk1"/>
              </a:solidFill>
              <a:latin typeface="Times New Roman"/>
              <a:ea typeface="Times New Roman"/>
              <a:cs typeface="Times New Roman"/>
              <a:sym typeface="Times New Roman"/>
            </a:endParaRPr>
          </a:p>
          <a:p>
            <a:pPr indent="0" lvl="0" marL="0" rtl="0" algn="l">
              <a:lnSpc>
                <a:spcPct val="115000"/>
              </a:lnSpc>
              <a:spcBef>
                <a:spcPts val="1600"/>
              </a:spcBef>
              <a:spcAft>
                <a:spcPts val="1600"/>
              </a:spcAft>
              <a:buNone/>
            </a:pPr>
            <a:r>
              <a:t/>
            </a:r>
            <a:endParaRPr>
              <a:solidFill>
                <a:schemeClr val="dk1"/>
              </a:solidFill>
              <a:latin typeface="Times New Roman"/>
              <a:ea typeface="Times New Roman"/>
              <a:cs typeface="Times New Roman"/>
              <a:sym typeface="Times New Roman"/>
            </a:endParaRPr>
          </a:p>
        </p:txBody>
      </p:sp>
      <p:sp>
        <p:nvSpPr>
          <p:cNvPr id="359" name="Google Shape;359;g33e25cecd32_1_171"/>
          <p:cNvSpPr txBox="1"/>
          <p:nvPr/>
        </p:nvSpPr>
        <p:spPr>
          <a:xfrm>
            <a:off x="8134650" y="5405375"/>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360" name="Google Shape;360;g33e25cecd32_1_171"/>
          <p:cNvSpPr txBox="1"/>
          <p:nvPr/>
        </p:nvSpPr>
        <p:spPr>
          <a:xfrm>
            <a:off x="0" y="450625"/>
            <a:ext cx="3000000" cy="369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1800"/>
              </a:spcAft>
              <a:buNone/>
            </a:pPr>
            <a:r>
              <a:t/>
            </a:r>
            <a:endParaRPr sz="1200">
              <a:solidFill>
                <a:schemeClr val="dk1"/>
              </a:solidFill>
              <a:latin typeface="Times New Roman"/>
              <a:ea typeface="Times New Roman"/>
              <a:cs typeface="Times New Roman"/>
              <a:sym typeface="Times New Roman"/>
            </a:endParaRPr>
          </a:p>
        </p:txBody>
      </p:sp>
      <p:sp>
        <p:nvSpPr>
          <p:cNvPr id="361" name="Google Shape;361;g33e25cecd32_1_171"/>
          <p:cNvSpPr txBox="1"/>
          <p:nvPr/>
        </p:nvSpPr>
        <p:spPr>
          <a:xfrm>
            <a:off x="140850" y="606725"/>
            <a:ext cx="6285900" cy="6215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b="1" lang="en-US">
                <a:solidFill>
                  <a:schemeClr val="dk1"/>
                </a:solidFill>
                <a:latin typeface="Times New Roman"/>
                <a:ea typeface="Times New Roman"/>
                <a:cs typeface="Times New Roman"/>
                <a:sym typeface="Times New Roman"/>
              </a:rPr>
              <a:t>Hardware Connection:</a:t>
            </a:r>
            <a:endParaRPr b="1">
              <a:solidFill>
                <a:schemeClr val="dk1"/>
              </a:solidFill>
              <a:latin typeface="Times New Roman"/>
              <a:ea typeface="Times New Roman"/>
              <a:cs typeface="Times New Roman"/>
              <a:sym typeface="Times New Roman"/>
            </a:endParaRPr>
          </a:p>
          <a:p>
            <a:pPr indent="-317500" lvl="0" marL="457200" rtl="0" algn="l">
              <a:lnSpc>
                <a:spcPct val="115000"/>
              </a:lnSpc>
              <a:spcBef>
                <a:spcPts val="120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Baumer OX200 connected via PoE (Power over Ethernet)</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Static IP address configuration</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OxAPI software integration</a:t>
            </a:r>
            <a:endParaRPr>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latin typeface="Times New Roman"/>
                <a:ea typeface="Times New Roman"/>
                <a:cs typeface="Times New Roman"/>
                <a:sym typeface="Times New Roman"/>
              </a:rPr>
              <a:t>LaserStreamer Class:</a:t>
            </a:r>
            <a:endParaRPr b="1">
              <a:solidFill>
                <a:schemeClr val="dk1"/>
              </a:solidFill>
              <a:latin typeface="Times New Roman"/>
              <a:ea typeface="Times New Roman"/>
              <a:cs typeface="Times New Roman"/>
              <a:sym typeface="Times New Roman"/>
            </a:endParaRPr>
          </a:p>
          <a:p>
            <a:pPr indent="-317500" lvl="0" marL="457200" rtl="0" algn="l">
              <a:lnSpc>
                <a:spcPct val="115000"/>
              </a:lnSpc>
              <a:spcBef>
                <a:spcPts val="120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Creates and manages data stream from scanner</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Processes raw profile data into height measurements</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Stores height history for adaptive control</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Implements statistical filtering for measurement reliability</a:t>
            </a:r>
            <a:endParaRPr>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latin typeface="Times New Roman"/>
                <a:ea typeface="Times New Roman"/>
                <a:cs typeface="Times New Roman"/>
                <a:sym typeface="Times New Roman"/>
              </a:rPr>
              <a:t>Key Implementation Challenges:</a:t>
            </a:r>
            <a:endParaRPr b="1">
              <a:solidFill>
                <a:schemeClr val="dk1"/>
              </a:solidFill>
              <a:latin typeface="Times New Roman"/>
              <a:ea typeface="Times New Roman"/>
              <a:cs typeface="Times New Roman"/>
              <a:sym typeface="Times New Roman"/>
            </a:endParaRPr>
          </a:p>
          <a:p>
            <a:pPr indent="-317500" lvl="0" marL="457200" rtl="0" algn="l">
              <a:lnSpc>
                <a:spcPct val="115000"/>
              </a:lnSpc>
              <a:spcBef>
                <a:spcPts val="120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Buffer management to prevent overflows</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Filtering valid height measurements</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Synchronization with machine movement</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Data acquisition timing</a:t>
            </a:r>
            <a:endParaRPr>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latin typeface="Times New Roman"/>
                <a:ea typeface="Times New Roman"/>
                <a:cs typeface="Times New Roman"/>
                <a:sym typeface="Times New Roman"/>
              </a:rPr>
              <a:t>Threading Approach:</a:t>
            </a:r>
            <a:endParaRPr b="1">
              <a:solidFill>
                <a:schemeClr val="dk1"/>
              </a:solidFill>
              <a:latin typeface="Times New Roman"/>
              <a:ea typeface="Times New Roman"/>
              <a:cs typeface="Times New Roman"/>
              <a:sym typeface="Times New Roman"/>
            </a:endParaRPr>
          </a:p>
          <a:p>
            <a:pPr indent="-317500" lvl="0" marL="457200" rtl="0" algn="l">
              <a:lnSpc>
                <a:spcPct val="115000"/>
              </a:lnSpc>
              <a:spcBef>
                <a:spcPts val="120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Concurrent scanner operation during machine movement</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Separate threads for data collection and motion control</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Coordinated start/stop operations with proper sequencing </a:t>
            </a:r>
            <a:endParaRPr>
              <a:solidFill>
                <a:schemeClr val="dk1"/>
              </a:solidFill>
              <a:latin typeface="Times New Roman"/>
              <a:ea typeface="Times New Roman"/>
              <a:cs typeface="Times New Roman"/>
              <a:sym typeface="Times New Roman"/>
            </a:endParaRPr>
          </a:p>
          <a:p>
            <a:pPr indent="0" lvl="0" marL="0" rtl="0" algn="l">
              <a:lnSpc>
                <a:spcPct val="115000"/>
              </a:lnSpc>
              <a:spcBef>
                <a:spcPts val="1800"/>
              </a:spcBef>
              <a:spcAft>
                <a:spcPts val="400"/>
              </a:spcAft>
              <a:buNone/>
            </a:pPr>
            <a:r>
              <a:t/>
            </a:r>
            <a:endParaRPr b="1" sz="1700">
              <a:solidFill>
                <a:schemeClr val="dk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g33e25cecd32_1_190"/>
          <p:cNvSpPr/>
          <p:nvPr/>
        </p:nvSpPr>
        <p:spPr>
          <a:xfrm>
            <a:off x="1329635" y="-1472"/>
            <a:ext cx="10862400" cy="452100"/>
          </a:xfrm>
          <a:prstGeom prst="rect">
            <a:avLst/>
          </a:prstGeom>
          <a:solidFill>
            <a:srgbClr val="002060"/>
          </a:solidFill>
          <a:ln>
            <a:noFill/>
          </a:ln>
        </p:spPr>
        <p:txBody>
          <a:bodyPr anchorCtr="0" anchor="ctr" bIns="21400" lIns="42825" spcFirstLastPara="1" rIns="42825" wrap="square" tIns="21400">
            <a:noAutofit/>
          </a:bodyPr>
          <a:lstStyle/>
          <a:p>
            <a:pPr indent="0" lvl="0" marL="0" marR="0" rtl="0" algn="l">
              <a:lnSpc>
                <a:spcPct val="100000"/>
              </a:lnSpc>
              <a:spcBef>
                <a:spcPts val="0"/>
              </a:spcBef>
              <a:spcAft>
                <a:spcPts val="0"/>
              </a:spcAft>
              <a:buClr>
                <a:srgbClr val="000000"/>
              </a:buClr>
              <a:buSzPts val="294"/>
              <a:buFont typeface="Arial"/>
              <a:buNone/>
            </a:pPr>
            <a:r>
              <a:rPr b="1" lang="en-US" sz="1800">
                <a:solidFill>
                  <a:srgbClr val="FFFFFF"/>
                </a:solidFill>
                <a:latin typeface="Times New Roman"/>
                <a:ea typeface="Times New Roman"/>
                <a:cs typeface="Times New Roman"/>
                <a:sym typeface="Times New Roman"/>
              </a:rPr>
              <a:t>Adaptive Control Algorithm</a:t>
            </a:r>
            <a:endParaRPr b="1" sz="1800" u="none" cap="none" strike="noStrike">
              <a:solidFill>
                <a:srgbClr val="FFFFFF"/>
              </a:solidFill>
              <a:latin typeface="Times New Roman"/>
              <a:ea typeface="Times New Roman"/>
              <a:cs typeface="Times New Roman"/>
              <a:sym typeface="Times New Roman"/>
            </a:endParaRPr>
          </a:p>
        </p:txBody>
      </p:sp>
      <p:sp>
        <p:nvSpPr>
          <p:cNvPr id="368" name="Google Shape;368;g33e25cecd32_1_190"/>
          <p:cNvSpPr/>
          <p:nvPr/>
        </p:nvSpPr>
        <p:spPr>
          <a:xfrm>
            <a:off x="1329635" y="6597352"/>
            <a:ext cx="10862400" cy="260700"/>
          </a:xfrm>
          <a:prstGeom prst="rect">
            <a:avLst/>
          </a:prstGeom>
          <a:solidFill>
            <a:srgbClr val="002060"/>
          </a:solidFill>
          <a:ln>
            <a:noFill/>
          </a:ln>
        </p:spPr>
        <p:txBody>
          <a:bodyPr anchorCtr="0" anchor="ctr" bIns="21400" lIns="42825" spcFirstLastPara="1" rIns="42825" wrap="square" tIns="21400">
            <a:noAutofit/>
          </a:bodyPr>
          <a:lstStyle/>
          <a:p>
            <a:pPr indent="0" lvl="0" marL="0" marR="0" rtl="0" algn="l">
              <a:lnSpc>
                <a:spcPct val="100000"/>
              </a:lnSpc>
              <a:spcBef>
                <a:spcPts val="0"/>
              </a:spcBef>
              <a:spcAft>
                <a:spcPts val="0"/>
              </a:spcAft>
              <a:buClr>
                <a:srgbClr val="000000"/>
              </a:buClr>
              <a:buSzPts val="294"/>
              <a:buFont typeface="Arial"/>
              <a:buNone/>
            </a:pPr>
            <a:r>
              <a:t/>
            </a:r>
            <a:endParaRPr b="1" i="1" sz="294" u="none" cap="none" strike="noStrike">
              <a:solidFill>
                <a:srgbClr val="FFFFFF"/>
              </a:solidFill>
              <a:latin typeface="Calibri"/>
              <a:ea typeface="Calibri"/>
              <a:cs typeface="Calibri"/>
              <a:sym typeface="Calibri"/>
            </a:endParaRPr>
          </a:p>
        </p:txBody>
      </p:sp>
      <p:sp>
        <p:nvSpPr>
          <p:cNvPr id="369" name="Google Shape;369;g33e25cecd32_1_190"/>
          <p:cNvSpPr txBox="1"/>
          <p:nvPr>
            <p:ph idx="12" type="sldNum"/>
          </p:nvPr>
        </p:nvSpPr>
        <p:spPr>
          <a:xfrm>
            <a:off x="11386491" y="6556449"/>
            <a:ext cx="639600" cy="3267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sz="1800">
                <a:solidFill>
                  <a:schemeClr val="lt1"/>
                </a:solidFill>
              </a:rPr>
              <a:t>‹#›</a:t>
            </a:fld>
            <a:endParaRPr sz="1931">
              <a:solidFill>
                <a:schemeClr val="lt1"/>
              </a:solidFill>
            </a:endParaRPr>
          </a:p>
        </p:txBody>
      </p:sp>
      <p:sp>
        <p:nvSpPr>
          <p:cNvPr id="370" name="Google Shape;370;g33e25cecd32_1_190"/>
          <p:cNvSpPr/>
          <p:nvPr/>
        </p:nvSpPr>
        <p:spPr>
          <a:xfrm>
            <a:off x="3615675" y="-1475"/>
            <a:ext cx="4154700" cy="535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1" i="0" sz="1500" u="none" cap="none" strike="noStrike">
              <a:solidFill>
                <a:srgbClr val="000000"/>
              </a:solidFill>
              <a:latin typeface="Times New Roman"/>
              <a:ea typeface="Times New Roman"/>
              <a:cs typeface="Times New Roman"/>
              <a:sym typeface="Times New Roman"/>
            </a:endParaRPr>
          </a:p>
        </p:txBody>
      </p:sp>
      <p:sp>
        <p:nvSpPr>
          <p:cNvPr id="371" name="Google Shape;371;g33e25cecd32_1_190"/>
          <p:cNvSpPr/>
          <p:nvPr/>
        </p:nvSpPr>
        <p:spPr>
          <a:xfrm>
            <a:off x="0" y="-1472"/>
            <a:ext cx="1329600" cy="452100"/>
          </a:xfrm>
          <a:prstGeom prst="rect">
            <a:avLst/>
          </a:prstGeom>
          <a:solidFill>
            <a:srgbClr val="C000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00"/>
              <a:buFont typeface="Arial"/>
              <a:buNone/>
            </a:pPr>
            <a:r>
              <a:rPr b="1" lang="en-US">
                <a:solidFill>
                  <a:schemeClr val="dk1"/>
                </a:solidFill>
              </a:rPr>
              <a:t>ECSE 695</a:t>
            </a:r>
            <a:endParaRPr b="1" i="0" sz="1400" u="none" cap="none" strike="noStrike">
              <a:solidFill>
                <a:schemeClr val="dk1"/>
              </a:solidFill>
              <a:latin typeface="Arial"/>
              <a:ea typeface="Arial"/>
              <a:cs typeface="Arial"/>
              <a:sym typeface="Arial"/>
            </a:endParaRPr>
          </a:p>
        </p:txBody>
      </p:sp>
      <p:sp>
        <p:nvSpPr>
          <p:cNvPr id="372" name="Google Shape;372;g33e25cecd32_1_190"/>
          <p:cNvSpPr txBox="1"/>
          <p:nvPr/>
        </p:nvSpPr>
        <p:spPr>
          <a:xfrm>
            <a:off x="0" y="855128"/>
            <a:ext cx="7506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p:txBody>
      </p:sp>
      <p:pic>
        <p:nvPicPr>
          <p:cNvPr descr="A blue letter with white background&#10;&#10;Description automatically generated" id="373" name="Google Shape;373;g33e25cecd32_1_190"/>
          <p:cNvPicPr preferRelativeResize="0"/>
          <p:nvPr/>
        </p:nvPicPr>
        <p:blipFill rotWithShape="1">
          <a:blip r:embed="rId3">
            <a:alphaModFix/>
          </a:blip>
          <a:srcRect b="0" l="0" r="0" t="0"/>
          <a:stretch/>
        </p:blipFill>
        <p:spPr>
          <a:xfrm>
            <a:off x="0" y="6597352"/>
            <a:ext cx="1329635" cy="260648"/>
          </a:xfrm>
          <a:prstGeom prst="rect">
            <a:avLst/>
          </a:prstGeom>
          <a:noFill/>
          <a:ln>
            <a:noFill/>
          </a:ln>
        </p:spPr>
      </p:pic>
      <p:sp>
        <p:nvSpPr>
          <p:cNvPr id="374" name="Google Shape;374;g33e25cecd32_1_190"/>
          <p:cNvSpPr txBox="1"/>
          <p:nvPr/>
        </p:nvSpPr>
        <p:spPr>
          <a:xfrm>
            <a:off x="8022596" y="6222504"/>
            <a:ext cx="4079700" cy="307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t/>
            </a:r>
            <a:endParaRPr b="0" i="0" sz="1400" u="none" cap="none" strike="noStrike">
              <a:solidFill>
                <a:srgbClr val="000000"/>
              </a:solidFill>
              <a:latin typeface="Arial"/>
              <a:ea typeface="Arial"/>
              <a:cs typeface="Arial"/>
              <a:sym typeface="Arial"/>
            </a:endParaRPr>
          </a:p>
        </p:txBody>
      </p:sp>
      <p:sp>
        <p:nvSpPr>
          <p:cNvPr id="375" name="Google Shape;375;g33e25cecd32_1_190"/>
          <p:cNvSpPr txBox="1"/>
          <p:nvPr/>
        </p:nvSpPr>
        <p:spPr>
          <a:xfrm>
            <a:off x="7882801" y="533746"/>
            <a:ext cx="37719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t/>
            </a:r>
            <a:endParaRPr b="1"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C00000"/>
              </a:solidFill>
              <a:latin typeface="Arial"/>
              <a:ea typeface="Arial"/>
              <a:cs typeface="Arial"/>
              <a:sym typeface="Arial"/>
            </a:endParaRPr>
          </a:p>
        </p:txBody>
      </p:sp>
      <p:sp>
        <p:nvSpPr>
          <p:cNvPr id="376" name="Google Shape;376;g33e25cecd32_1_190"/>
          <p:cNvSpPr txBox="1"/>
          <p:nvPr/>
        </p:nvSpPr>
        <p:spPr>
          <a:xfrm>
            <a:off x="79000" y="450625"/>
            <a:ext cx="9950100" cy="1201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t/>
            </a:r>
            <a:endParaRPr b="1" sz="1100">
              <a:solidFill>
                <a:schemeClr val="dk1"/>
              </a:solidFill>
            </a:endParaRPr>
          </a:p>
          <a:p>
            <a:pPr indent="0" lvl="0" marL="0" rtl="0" algn="l">
              <a:lnSpc>
                <a:spcPct val="115000"/>
              </a:lnSpc>
              <a:spcBef>
                <a:spcPts val="1200"/>
              </a:spcBef>
              <a:spcAft>
                <a:spcPts val="0"/>
              </a:spcAft>
              <a:buNone/>
            </a:pPr>
            <a:r>
              <a:t/>
            </a:r>
            <a:endParaRPr b="1">
              <a:solidFill>
                <a:schemeClr val="dk1"/>
              </a:solidFill>
              <a:latin typeface="Times New Roman"/>
              <a:ea typeface="Times New Roman"/>
              <a:cs typeface="Times New Roman"/>
              <a:sym typeface="Times New Roman"/>
            </a:endParaRPr>
          </a:p>
          <a:p>
            <a:pPr indent="0" lvl="0" marL="0" rtl="0" algn="l">
              <a:lnSpc>
                <a:spcPct val="115000"/>
              </a:lnSpc>
              <a:spcBef>
                <a:spcPts val="1600"/>
              </a:spcBef>
              <a:spcAft>
                <a:spcPts val="1600"/>
              </a:spcAft>
              <a:buNone/>
            </a:pPr>
            <a:r>
              <a:t/>
            </a:r>
            <a:endParaRPr>
              <a:solidFill>
                <a:schemeClr val="dk1"/>
              </a:solidFill>
              <a:latin typeface="Times New Roman"/>
              <a:ea typeface="Times New Roman"/>
              <a:cs typeface="Times New Roman"/>
              <a:sym typeface="Times New Roman"/>
            </a:endParaRPr>
          </a:p>
        </p:txBody>
      </p:sp>
      <p:sp>
        <p:nvSpPr>
          <p:cNvPr id="377" name="Google Shape;377;g33e25cecd32_1_190"/>
          <p:cNvSpPr txBox="1"/>
          <p:nvPr/>
        </p:nvSpPr>
        <p:spPr>
          <a:xfrm>
            <a:off x="8134650" y="5405375"/>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378" name="Google Shape;378;g33e25cecd32_1_190"/>
          <p:cNvSpPr txBox="1"/>
          <p:nvPr/>
        </p:nvSpPr>
        <p:spPr>
          <a:xfrm>
            <a:off x="0" y="450625"/>
            <a:ext cx="3000000" cy="369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1800"/>
              </a:spcAft>
              <a:buNone/>
            </a:pPr>
            <a:r>
              <a:t/>
            </a:r>
            <a:endParaRPr sz="1200">
              <a:solidFill>
                <a:schemeClr val="dk1"/>
              </a:solidFill>
              <a:latin typeface="Times New Roman"/>
              <a:ea typeface="Times New Roman"/>
              <a:cs typeface="Times New Roman"/>
              <a:sym typeface="Times New Roman"/>
            </a:endParaRPr>
          </a:p>
        </p:txBody>
      </p:sp>
      <p:sp>
        <p:nvSpPr>
          <p:cNvPr id="379" name="Google Shape;379;g33e25cecd32_1_190"/>
          <p:cNvSpPr txBox="1"/>
          <p:nvPr/>
        </p:nvSpPr>
        <p:spPr>
          <a:xfrm>
            <a:off x="1329600" y="746775"/>
            <a:ext cx="7737900" cy="4796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b="1" lang="en-US">
                <a:solidFill>
                  <a:schemeClr val="dk1"/>
                </a:solidFill>
                <a:latin typeface="Times New Roman"/>
                <a:ea typeface="Times New Roman"/>
                <a:cs typeface="Times New Roman"/>
                <a:sym typeface="Times New Roman"/>
              </a:rPr>
              <a:t>Four Key Components:</a:t>
            </a:r>
            <a:endParaRPr b="1">
              <a:solidFill>
                <a:schemeClr val="dk1"/>
              </a:solidFill>
              <a:latin typeface="Times New Roman"/>
              <a:ea typeface="Times New Roman"/>
              <a:cs typeface="Times New Roman"/>
              <a:sym typeface="Times New Roman"/>
            </a:endParaRPr>
          </a:p>
          <a:p>
            <a:pPr indent="-317500" lvl="0" marL="457200" rtl="0" algn="l">
              <a:lnSpc>
                <a:spcPct val="115000"/>
              </a:lnSpc>
              <a:spcBef>
                <a:spcPts val="1200"/>
              </a:spcBef>
              <a:spcAft>
                <a:spcPts val="0"/>
              </a:spcAft>
              <a:buClr>
                <a:schemeClr val="dk1"/>
              </a:buClr>
              <a:buSzPts val="1400"/>
              <a:buFont typeface="Times New Roman"/>
              <a:buAutoNum type="arabicPeriod"/>
            </a:pPr>
            <a:r>
              <a:rPr b="1" lang="en-US">
                <a:solidFill>
                  <a:schemeClr val="dk1"/>
                </a:solidFill>
                <a:latin typeface="Times New Roman"/>
                <a:ea typeface="Times New Roman"/>
                <a:cs typeface="Times New Roman"/>
                <a:sym typeface="Times New Roman"/>
              </a:rPr>
              <a:t>Layer Geometry Analysis:</a:t>
            </a:r>
            <a:endParaRPr b="1">
              <a:solidFill>
                <a:schemeClr val="dk1"/>
              </a:solidFill>
              <a:latin typeface="Times New Roman"/>
              <a:ea typeface="Times New Roman"/>
              <a:cs typeface="Times New Roman"/>
              <a:sym typeface="Times New Roman"/>
            </a:endParaRPr>
          </a:p>
          <a:p>
            <a:pPr indent="-317500" lvl="1" marL="914400" rtl="0" algn="l">
              <a:lnSpc>
                <a:spcPct val="115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Extract bounding box coordinates</a:t>
            </a:r>
            <a:endParaRPr>
              <a:solidFill>
                <a:schemeClr val="dk1"/>
              </a:solidFill>
              <a:latin typeface="Times New Roman"/>
              <a:ea typeface="Times New Roman"/>
              <a:cs typeface="Times New Roman"/>
              <a:sym typeface="Times New Roman"/>
            </a:endParaRPr>
          </a:p>
          <a:p>
            <a:pPr indent="-317500" lvl="1" marL="914400" rtl="0" algn="l">
              <a:lnSpc>
                <a:spcPct val="115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Identify layer-specific features</a:t>
            </a:r>
            <a:endParaRPr>
              <a:solidFill>
                <a:schemeClr val="dk1"/>
              </a:solidFill>
              <a:latin typeface="Times New Roman"/>
              <a:ea typeface="Times New Roman"/>
              <a:cs typeface="Times New Roman"/>
              <a:sym typeface="Times New Roman"/>
            </a:endParaRPr>
          </a:p>
          <a:p>
            <a:pPr indent="-317500" lvl="1" marL="914400" rtl="0" algn="l">
              <a:lnSpc>
                <a:spcPct val="115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Determine scan path requirements</a:t>
            </a:r>
            <a:endParaRPr>
              <a:solidFill>
                <a:schemeClr val="dk1"/>
              </a:solidFill>
              <a:latin typeface="Times New Roman"/>
              <a:ea typeface="Times New Roman"/>
              <a:cs typeface="Times New Roman"/>
              <a:sym typeface="Times New Roman"/>
            </a:endParaRPr>
          </a:p>
          <a:p>
            <a:pPr indent="-317500" lvl="1" marL="914400" rtl="0" algn="l">
              <a:lnSpc>
                <a:spcPct val="115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Analyze Z-height values</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AutoNum type="arabicPeriod"/>
            </a:pPr>
            <a:r>
              <a:rPr b="1" lang="en-US">
                <a:solidFill>
                  <a:schemeClr val="dk1"/>
                </a:solidFill>
                <a:latin typeface="Times New Roman"/>
                <a:ea typeface="Times New Roman"/>
                <a:cs typeface="Times New Roman"/>
                <a:sym typeface="Times New Roman"/>
              </a:rPr>
              <a:t>Scan Path Generation:</a:t>
            </a:r>
            <a:endParaRPr b="1">
              <a:solidFill>
                <a:schemeClr val="dk1"/>
              </a:solidFill>
              <a:latin typeface="Times New Roman"/>
              <a:ea typeface="Times New Roman"/>
              <a:cs typeface="Times New Roman"/>
              <a:sym typeface="Times New Roman"/>
            </a:endParaRPr>
          </a:p>
          <a:p>
            <a:pPr indent="-317500" lvl="1" marL="914400" rtl="0" algn="l">
              <a:lnSpc>
                <a:spcPct val="115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Create optimized scanning paths</a:t>
            </a:r>
            <a:endParaRPr>
              <a:solidFill>
                <a:schemeClr val="dk1"/>
              </a:solidFill>
              <a:latin typeface="Times New Roman"/>
              <a:ea typeface="Times New Roman"/>
              <a:cs typeface="Times New Roman"/>
              <a:sym typeface="Times New Roman"/>
            </a:endParaRPr>
          </a:p>
          <a:p>
            <a:pPr indent="-317500" lvl="1" marL="914400" rtl="0" algn="l">
              <a:lnSpc>
                <a:spcPct val="115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Implement safety movements</a:t>
            </a:r>
            <a:endParaRPr>
              <a:solidFill>
                <a:schemeClr val="dk1"/>
              </a:solidFill>
              <a:latin typeface="Times New Roman"/>
              <a:ea typeface="Times New Roman"/>
              <a:cs typeface="Times New Roman"/>
              <a:sym typeface="Times New Roman"/>
            </a:endParaRPr>
          </a:p>
          <a:p>
            <a:pPr indent="-317500" lvl="1" marL="914400" rtl="0" algn="l">
              <a:lnSpc>
                <a:spcPct val="115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Generate appropriate G-code commands</a:t>
            </a:r>
            <a:endParaRPr>
              <a:solidFill>
                <a:schemeClr val="dk1"/>
              </a:solidFill>
              <a:latin typeface="Times New Roman"/>
              <a:ea typeface="Times New Roman"/>
              <a:cs typeface="Times New Roman"/>
              <a:sym typeface="Times New Roman"/>
            </a:endParaRPr>
          </a:p>
          <a:p>
            <a:pPr indent="-317500" lvl="1" marL="914400" rtl="0" algn="l">
              <a:lnSpc>
                <a:spcPct val="115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Consider scanner standoff distances</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AutoNum type="arabicPeriod"/>
            </a:pPr>
            <a:r>
              <a:rPr b="1" lang="en-US">
                <a:solidFill>
                  <a:schemeClr val="dk1"/>
                </a:solidFill>
                <a:latin typeface="Times New Roman"/>
                <a:ea typeface="Times New Roman"/>
                <a:cs typeface="Times New Roman"/>
                <a:sym typeface="Times New Roman"/>
              </a:rPr>
              <a:t>Measurement Data Processing:</a:t>
            </a:r>
            <a:endParaRPr b="1">
              <a:solidFill>
                <a:schemeClr val="dk1"/>
              </a:solidFill>
              <a:latin typeface="Times New Roman"/>
              <a:ea typeface="Times New Roman"/>
              <a:cs typeface="Times New Roman"/>
              <a:sym typeface="Times New Roman"/>
            </a:endParaRPr>
          </a:p>
          <a:p>
            <a:pPr indent="-317500" lvl="1" marL="914400" rtl="0" algn="l">
              <a:lnSpc>
                <a:spcPct val="115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Collect height data across the layer</a:t>
            </a:r>
            <a:endParaRPr>
              <a:solidFill>
                <a:schemeClr val="dk1"/>
              </a:solidFill>
              <a:latin typeface="Times New Roman"/>
              <a:ea typeface="Times New Roman"/>
              <a:cs typeface="Times New Roman"/>
              <a:sym typeface="Times New Roman"/>
            </a:endParaRPr>
          </a:p>
          <a:p>
            <a:pPr indent="-317500" lvl="1" marL="914400" rtl="0" algn="l">
              <a:lnSpc>
                <a:spcPct val="115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Apply statistical filtering</a:t>
            </a:r>
            <a:endParaRPr>
              <a:solidFill>
                <a:schemeClr val="dk1"/>
              </a:solidFill>
              <a:latin typeface="Times New Roman"/>
              <a:ea typeface="Times New Roman"/>
              <a:cs typeface="Times New Roman"/>
              <a:sym typeface="Times New Roman"/>
            </a:endParaRPr>
          </a:p>
          <a:p>
            <a:pPr indent="-317500" lvl="1" marL="914400" rtl="0" algn="l">
              <a:lnSpc>
                <a:spcPct val="115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Calculate deviation from expected height</a:t>
            </a:r>
            <a:endParaRPr>
              <a:solidFill>
                <a:schemeClr val="dk1"/>
              </a:solidFill>
              <a:latin typeface="Times New Roman"/>
              <a:ea typeface="Times New Roman"/>
              <a:cs typeface="Times New Roman"/>
              <a:sym typeface="Times New Roman"/>
            </a:endParaRPr>
          </a:p>
          <a:p>
            <a:pPr indent="-317500" lvl="1" marL="914400" rtl="0" algn="l">
              <a:lnSpc>
                <a:spcPct val="115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Map height variations spatially</a:t>
            </a:r>
            <a:endParaRPr>
              <a:solidFill>
                <a:schemeClr val="dk1"/>
              </a:solidFill>
              <a:latin typeface="Times New Roman"/>
              <a:ea typeface="Times New Roman"/>
              <a:cs typeface="Times New Roman"/>
              <a:sym typeface="Times New Roman"/>
            </a:endParaRPr>
          </a:p>
          <a:p>
            <a:pPr indent="0" lvl="0" marL="0" rtl="0" algn="l">
              <a:lnSpc>
                <a:spcPct val="115000"/>
              </a:lnSpc>
              <a:spcBef>
                <a:spcPts val="1800"/>
              </a:spcBef>
              <a:spcAft>
                <a:spcPts val="400"/>
              </a:spcAft>
              <a:buNone/>
            </a:pPr>
            <a:r>
              <a:t/>
            </a:r>
            <a:endParaRPr b="1" sz="1700">
              <a:solidFill>
                <a:schemeClr val="dk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g33e27b3e0e6_0_19"/>
          <p:cNvSpPr/>
          <p:nvPr/>
        </p:nvSpPr>
        <p:spPr>
          <a:xfrm>
            <a:off x="1329635" y="-1472"/>
            <a:ext cx="10862400" cy="452100"/>
          </a:xfrm>
          <a:prstGeom prst="rect">
            <a:avLst/>
          </a:prstGeom>
          <a:solidFill>
            <a:srgbClr val="002060"/>
          </a:solidFill>
          <a:ln>
            <a:noFill/>
          </a:ln>
        </p:spPr>
        <p:txBody>
          <a:bodyPr anchorCtr="0" anchor="ctr" bIns="21400" lIns="42825" spcFirstLastPara="1" rIns="42825" wrap="square" tIns="21400">
            <a:noAutofit/>
          </a:bodyPr>
          <a:lstStyle/>
          <a:p>
            <a:pPr indent="0" lvl="0" marL="0" marR="0" rtl="0" algn="l">
              <a:lnSpc>
                <a:spcPct val="100000"/>
              </a:lnSpc>
              <a:spcBef>
                <a:spcPts val="0"/>
              </a:spcBef>
              <a:spcAft>
                <a:spcPts val="0"/>
              </a:spcAft>
              <a:buClr>
                <a:srgbClr val="000000"/>
              </a:buClr>
              <a:buSzPts val="294"/>
              <a:buFont typeface="Arial"/>
              <a:buNone/>
            </a:pPr>
            <a:r>
              <a:rPr b="1" lang="en-US" sz="1800">
                <a:solidFill>
                  <a:srgbClr val="FFFFFF"/>
                </a:solidFill>
                <a:latin typeface="Times New Roman"/>
                <a:ea typeface="Times New Roman"/>
                <a:cs typeface="Times New Roman"/>
                <a:sym typeface="Times New Roman"/>
              </a:rPr>
              <a:t>  Statistical Filtering Methods </a:t>
            </a:r>
            <a:endParaRPr b="1" sz="1800" u="none" cap="none" strike="noStrike">
              <a:solidFill>
                <a:srgbClr val="FFFFFF"/>
              </a:solidFill>
              <a:latin typeface="Times New Roman"/>
              <a:ea typeface="Times New Roman"/>
              <a:cs typeface="Times New Roman"/>
              <a:sym typeface="Times New Roman"/>
            </a:endParaRPr>
          </a:p>
        </p:txBody>
      </p:sp>
      <p:sp>
        <p:nvSpPr>
          <p:cNvPr id="386" name="Google Shape;386;g33e27b3e0e6_0_19"/>
          <p:cNvSpPr/>
          <p:nvPr/>
        </p:nvSpPr>
        <p:spPr>
          <a:xfrm>
            <a:off x="1329635" y="6597352"/>
            <a:ext cx="10862400" cy="260700"/>
          </a:xfrm>
          <a:prstGeom prst="rect">
            <a:avLst/>
          </a:prstGeom>
          <a:solidFill>
            <a:srgbClr val="002060"/>
          </a:solidFill>
          <a:ln>
            <a:noFill/>
          </a:ln>
        </p:spPr>
        <p:txBody>
          <a:bodyPr anchorCtr="0" anchor="ctr" bIns="21400" lIns="42825" spcFirstLastPara="1" rIns="42825" wrap="square" tIns="21400">
            <a:noAutofit/>
          </a:bodyPr>
          <a:lstStyle/>
          <a:p>
            <a:pPr indent="0" lvl="0" marL="0" marR="0" rtl="0" algn="l">
              <a:lnSpc>
                <a:spcPct val="100000"/>
              </a:lnSpc>
              <a:spcBef>
                <a:spcPts val="0"/>
              </a:spcBef>
              <a:spcAft>
                <a:spcPts val="0"/>
              </a:spcAft>
              <a:buClr>
                <a:srgbClr val="000000"/>
              </a:buClr>
              <a:buSzPts val="294"/>
              <a:buFont typeface="Arial"/>
              <a:buNone/>
            </a:pPr>
            <a:r>
              <a:t/>
            </a:r>
            <a:endParaRPr b="1" i="1" sz="294" u="none" cap="none" strike="noStrike">
              <a:solidFill>
                <a:srgbClr val="FFFFFF"/>
              </a:solidFill>
              <a:latin typeface="Calibri"/>
              <a:ea typeface="Calibri"/>
              <a:cs typeface="Calibri"/>
              <a:sym typeface="Calibri"/>
            </a:endParaRPr>
          </a:p>
        </p:txBody>
      </p:sp>
      <p:sp>
        <p:nvSpPr>
          <p:cNvPr id="387" name="Google Shape;387;g33e27b3e0e6_0_19"/>
          <p:cNvSpPr txBox="1"/>
          <p:nvPr>
            <p:ph idx="12" type="sldNum"/>
          </p:nvPr>
        </p:nvSpPr>
        <p:spPr>
          <a:xfrm>
            <a:off x="11386491" y="6556449"/>
            <a:ext cx="639600" cy="3267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sz="1800">
                <a:solidFill>
                  <a:schemeClr val="lt1"/>
                </a:solidFill>
              </a:rPr>
              <a:t>‹#›</a:t>
            </a:fld>
            <a:endParaRPr sz="1931">
              <a:solidFill>
                <a:schemeClr val="lt1"/>
              </a:solidFill>
            </a:endParaRPr>
          </a:p>
        </p:txBody>
      </p:sp>
      <p:sp>
        <p:nvSpPr>
          <p:cNvPr id="388" name="Google Shape;388;g33e27b3e0e6_0_19"/>
          <p:cNvSpPr/>
          <p:nvPr/>
        </p:nvSpPr>
        <p:spPr>
          <a:xfrm>
            <a:off x="3615675" y="-1475"/>
            <a:ext cx="4154700" cy="535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1" i="0" sz="1500" u="none" cap="none" strike="noStrike">
              <a:solidFill>
                <a:srgbClr val="000000"/>
              </a:solidFill>
              <a:latin typeface="Times New Roman"/>
              <a:ea typeface="Times New Roman"/>
              <a:cs typeface="Times New Roman"/>
              <a:sym typeface="Times New Roman"/>
            </a:endParaRPr>
          </a:p>
        </p:txBody>
      </p:sp>
      <p:sp>
        <p:nvSpPr>
          <p:cNvPr id="389" name="Google Shape;389;g33e27b3e0e6_0_19"/>
          <p:cNvSpPr/>
          <p:nvPr/>
        </p:nvSpPr>
        <p:spPr>
          <a:xfrm>
            <a:off x="0" y="-1472"/>
            <a:ext cx="1329600" cy="452100"/>
          </a:xfrm>
          <a:prstGeom prst="rect">
            <a:avLst/>
          </a:prstGeom>
          <a:solidFill>
            <a:srgbClr val="C000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00"/>
              <a:buFont typeface="Arial"/>
              <a:buNone/>
            </a:pPr>
            <a:r>
              <a:rPr b="1" lang="en-US">
                <a:solidFill>
                  <a:schemeClr val="dk1"/>
                </a:solidFill>
              </a:rPr>
              <a:t>ECSE 695</a:t>
            </a:r>
            <a:endParaRPr b="1" i="0" sz="1400" u="none" cap="none" strike="noStrike">
              <a:solidFill>
                <a:schemeClr val="dk1"/>
              </a:solidFill>
              <a:latin typeface="Arial"/>
              <a:ea typeface="Arial"/>
              <a:cs typeface="Arial"/>
              <a:sym typeface="Arial"/>
            </a:endParaRPr>
          </a:p>
        </p:txBody>
      </p:sp>
      <p:sp>
        <p:nvSpPr>
          <p:cNvPr id="390" name="Google Shape;390;g33e27b3e0e6_0_19"/>
          <p:cNvSpPr txBox="1"/>
          <p:nvPr/>
        </p:nvSpPr>
        <p:spPr>
          <a:xfrm>
            <a:off x="0" y="855128"/>
            <a:ext cx="7506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p:txBody>
      </p:sp>
      <p:pic>
        <p:nvPicPr>
          <p:cNvPr descr="A blue letter with white background&#10;&#10;Description automatically generated" id="391" name="Google Shape;391;g33e27b3e0e6_0_19"/>
          <p:cNvPicPr preferRelativeResize="0"/>
          <p:nvPr/>
        </p:nvPicPr>
        <p:blipFill rotWithShape="1">
          <a:blip r:embed="rId3">
            <a:alphaModFix/>
          </a:blip>
          <a:srcRect b="0" l="0" r="0" t="0"/>
          <a:stretch/>
        </p:blipFill>
        <p:spPr>
          <a:xfrm>
            <a:off x="0" y="6597352"/>
            <a:ext cx="1329635" cy="260648"/>
          </a:xfrm>
          <a:prstGeom prst="rect">
            <a:avLst/>
          </a:prstGeom>
          <a:noFill/>
          <a:ln>
            <a:noFill/>
          </a:ln>
        </p:spPr>
      </p:pic>
      <p:sp>
        <p:nvSpPr>
          <p:cNvPr id="392" name="Google Shape;392;g33e27b3e0e6_0_19"/>
          <p:cNvSpPr txBox="1"/>
          <p:nvPr/>
        </p:nvSpPr>
        <p:spPr>
          <a:xfrm>
            <a:off x="8022596" y="6222504"/>
            <a:ext cx="4079700" cy="307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t/>
            </a:r>
            <a:endParaRPr b="0" i="0" sz="1400" u="none" cap="none" strike="noStrike">
              <a:solidFill>
                <a:srgbClr val="000000"/>
              </a:solidFill>
              <a:latin typeface="Arial"/>
              <a:ea typeface="Arial"/>
              <a:cs typeface="Arial"/>
              <a:sym typeface="Arial"/>
            </a:endParaRPr>
          </a:p>
        </p:txBody>
      </p:sp>
      <p:sp>
        <p:nvSpPr>
          <p:cNvPr id="393" name="Google Shape;393;g33e27b3e0e6_0_19"/>
          <p:cNvSpPr txBox="1"/>
          <p:nvPr/>
        </p:nvSpPr>
        <p:spPr>
          <a:xfrm>
            <a:off x="7882801" y="533746"/>
            <a:ext cx="37719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t/>
            </a:r>
            <a:endParaRPr b="1"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C00000"/>
              </a:solidFill>
              <a:latin typeface="Arial"/>
              <a:ea typeface="Arial"/>
              <a:cs typeface="Arial"/>
              <a:sym typeface="Arial"/>
            </a:endParaRPr>
          </a:p>
        </p:txBody>
      </p:sp>
      <p:sp>
        <p:nvSpPr>
          <p:cNvPr id="394" name="Google Shape;394;g33e27b3e0e6_0_19"/>
          <p:cNvSpPr txBox="1"/>
          <p:nvPr/>
        </p:nvSpPr>
        <p:spPr>
          <a:xfrm>
            <a:off x="79000" y="450625"/>
            <a:ext cx="9950100" cy="1201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t/>
            </a:r>
            <a:endParaRPr b="1" sz="1100">
              <a:solidFill>
                <a:schemeClr val="dk1"/>
              </a:solidFill>
            </a:endParaRPr>
          </a:p>
          <a:p>
            <a:pPr indent="0" lvl="0" marL="0" rtl="0" algn="l">
              <a:lnSpc>
                <a:spcPct val="115000"/>
              </a:lnSpc>
              <a:spcBef>
                <a:spcPts val="1200"/>
              </a:spcBef>
              <a:spcAft>
                <a:spcPts val="0"/>
              </a:spcAft>
              <a:buNone/>
            </a:pPr>
            <a:r>
              <a:t/>
            </a:r>
            <a:endParaRPr b="1">
              <a:solidFill>
                <a:schemeClr val="dk1"/>
              </a:solidFill>
              <a:latin typeface="Times New Roman"/>
              <a:ea typeface="Times New Roman"/>
              <a:cs typeface="Times New Roman"/>
              <a:sym typeface="Times New Roman"/>
            </a:endParaRPr>
          </a:p>
          <a:p>
            <a:pPr indent="0" lvl="0" marL="0" rtl="0" algn="l">
              <a:lnSpc>
                <a:spcPct val="115000"/>
              </a:lnSpc>
              <a:spcBef>
                <a:spcPts val="1600"/>
              </a:spcBef>
              <a:spcAft>
                <a:spcPts val="1600"/>
              </a:spcAft>
              <a:buNone/>
            </a:pPr>
            <a:r>
              <a:t/>
            </a:r>
            <a:endParaRPr>
              <a:solidFill>
                <a:schemeClr val="dk1"/>
              </a:solidFill>
              <a:latin typeface="Times New Roman"/>
              <a:ea typeface="Times New Roman"/>
              <a:cs typeface="Times New Roman"/>
              <a:sym typeface="Times New Roman"/>
            </a:endParaRPr>
          </a:p>
        </p:txBody>
      </p:sp>
      <p:sp>
        <p:nvSpPr>
          <p:cNvPr id="395" name="Google Shape;395;g33e27b3e0e6_0_19"/>
          <p:cNvSpPr txBox="1"/>
          <p:nvPr/>
        </p:nvSpPr>
        <p:spPr>
          <a:xfrm>
            <a:off x="8134650" y="5405375"/>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396" name="Google Shape;396;g33e27b3e0e6_0_19"/>
          <p:cNvSpPr txBox="1"/>
          <p:nvPr/>
        </p:nvSpPr>
        <p:spPr>
          <a:xfrm>
            <a:off x="0" y="450625"/>
            <a:ext cx="3000000" cy="369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1800"/>
              </a:spcAft>
              <a:buNone/>
            </a:pPr>
            <a:r>
              <a:t/>
            </a:r>
            <a:endParaRPr sz="1200">
              <a:solidFill>
                <a:schemeClr val="dk1"/>
              </a:solidFill>
              <a:latin typeface="Times New Roman"/>
              <a:ea typeface="Times New Roman"/>
              <a:cs typeface="Times New Roman"/>
              <a:sym typeface="Times New Roman"/>
            </a:endParaRPr>
          </a:p>
        </p:txBody>
      </p:sp>
      <p:sp>
        <p:nvSpPr>
          <p:cNvPr id="397" name="Google Shape;397;g33e27b3e0e6_0_19"/>
          <p:cNvSpPr txBox="1"/>
          <p:nvPr/>
        </p:nvSpPr>
        <p:spPr>
          <a:xfrm>
            <a:off x="34300" y="581975"/>
            <a:ext cx="10039500" cy="3617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b="1" lang="en-US">
                <a:solidFill>
                  <a:schemeClr val="dk1"/>
                </a:solidFill>
                <a:latin typeface="Times New Roman"/>
                <a:ea typeface="Times New Roman"/>
                <a:cs typeface="Times New Roman"/>
                <a:sym typeface="Times New Roman"/>
              </a:rPr>
              <a:t>Key Features:</a:t>
            </a:r>
            <a:endParaRPr b="1">
              <a:solidFill>
                <a:schemeClr val="dk1"/>
              </a:solidFill>
              <a:latin typeface="Times New Roman"/>
              <a:ea typeface="Times New Roman"/>
              <a:cs typeface="Times New Roman"/>
              <a:sym typeface="Times New Roman"/>
            </a:endParaRPr>
          </a:p>
          <a:p>
            <a:pPr indent="-317500" lvl="0" marL="457200" rtl="0" algn="l">
              <a:lnSpc>
                <a:spcPct val="115000"/>
              </a:lnSpc>
              <a:spcBef>
                <a:spcPts val="120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Automatic adaptation to data distribution</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Configurable sensitivity threshold</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Self-reporting of filtering actions</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Preserves data integrity with minimal loss</a:t>
            </a:r>
            <a:endParaRPr>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b="1" lang="en-US">
                <a:solidFill>
                  <a:schemeClr val="dk1"/>
                </a:solidFill>
                <a:latin typeface="Times New Roman"/>
                <a:ea typeface="Times New Roman"/>
                <a:cs typeface="Times New Roman"/>
                <a:sym typeface="Times New Roman"/>
              </a:rPr>
              <a:t>Future Enhancement:</a:t>
            </a:r>
            <a:endParaRPr b="1">
              <a:solidFill>
                <a:schemeClr val="dk1"/>
              </a:solidFill>
              <a:latin typeface="Times New Roman"/>
              <a:ea typeface="Times New Roman"/>
              <a:cs typeface="Times New Roman"/>
              <a:sym typeface="Times New Roman"/>
            </a:endParaRPr>
          </a:p>
          <a:p>
            <a:pPr indent="-317500" lvl="0" marL="457200" rtl="0" algn="l">
              <a:lnSpc>
                <a:spcPct val="115000"/>
              </a:lnSpc>
              <a:spcBef>
                <a:spcPts val="120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Distribution-free approaches (percentile-based)</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IQR techniques for non-Gaussian distributions</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Adaptive threshold selection </a:t>
            </a:r>
            <a:endParaRPr>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1200"/>
              </a:spcAft>
              <a:buNone/>
            </a:pPr>
            <a:r>
              <a:t/>
            </a:r>
            <a:endParaRPr sz="1200">
              <a:solidFill>
                <a:schemeClr val="dk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g33e27b3e0e6_0_37"/>
          <p:cNvSpPr/>
          <p:nvPr/>
        </p:nvSpPr>
        <p:spPr>
          <a:xfrm>
            <a:off x="1329635" y="-1472"/>
            <a:ext cx="10862400" cy="452100"/>
          </a:xfrm>
          <a:prstGeom prst="rect">
            <a:avLst/>
          </a:prstGeom>
          <a:solidFill>
            <a:srgbClr val="002060"/>
          </a:solidFill>
          <a:ln>
            <a:noFill/>
          </a:ln>
        </p:spPr>
        <p:txBody>
          <a:bodyPr anchorCtr="0" anchor="ctr" bIns="21400" lIns="42825" spcFirstLastPara="1" rIns="42825" wrap="square" tIns="21400">
            <a:noAutofit/>
          </a:bodyPr>
          <a:lstStyle/>
          <a:p>
            <a:pPr indent="0" lvl="0" marL="0" marR="0" rtl="0" algn="l">
              <a:lnSpc>
                <a:spcPct val="100000"/>
              </a:lnSpc>
              <a:spcBef>
                <a:spcPts val="0"/>
              </a:spcBef>
              <a:spcAft>
                <a:spcPts val="0"/>
              </a:spcAft>
              <a:buClr>
                <a:srgbClr val="000000"/>
              </a:buClr>
              <a:buSzPts val="294"/>
              <a:buFont typeface="Arial"/>
              <a:buNone/>
            </a:pPr>
            <a:r>
              <a:rPr b="1" lang="en-US" sz="1800">
                <a:solidFill>
                  <a:srgbClr val="FFFFFF"/>
                </a:solidFill>
                <a:latin typeface="Times New Roman"/>
                <a:ea typeface="Times New Roman"/>
                <a:cs typeface="Times New Roman"/>
                <a:sym typeface="Times New Roman"/>
              </a:rPr>
              <a:t>System Execution Flow</a:t>
            </a:r>
            <a:endParaRPr b="1" sz="1800" u="none" cap="none" strike="noStrike">
              <a:solidFill>
                <a:srgbClr val="FFFFFF"/>
              </a:solidFill>
              <a:latin typeface="Times New Roman"/>
              <a:ea typeface="Times New Roman"/>
              <a:cs typeface="Times New Roman"/>
              <a:sym typeface="Times New Roman"/>
            </a:endParaRPr>
          </a:p>
        </p:txBody>
      </p:sp>
      <p:sp>
        <p:nvSpPr>
          <p:cNvPr id="404" name="Google Shape;404;g33e27b3e0e6_0_37"/>
          <p:cNvSpPr/>
          <p:nvPr/>
        </p:nvSpPr>
        <p:spPr>
          <a:xfrm>
            <a:off x="1329635" y="6597352"/>
            <a:ext cx="10862400" cy="260700"/>
          </a:xfrm>
          <a:prstGeom prst="rect">
            <a:avLst/>
          </a:prstGeom>
          <a:solidFill>
            <a:srgbClr val="002060"/>
          </a:solidFill>
          <a:ln>
            <a:noFill/>
          </a:ln>
        </p:spPr>
        <p:txBody>
          <a:bodyPr anchorCtr="0" anchor="ctr" bIns="21400" lIns="42825" spcFirstLastPara="1" rIns="42825" wrap="square" tIns="21400">
            <a:noAutofit/>
          </a:bodyPr>
          <a:lstStyle/>
          <a:p>
            <a:pPr indent="0" lvl="0" marL="0" marR="0" rtl="0" algn="l">
              <a:lnSpc>
                <a:spcPct val="100000"/>
              </a:lnSpc>
              <a:spcBef>
                <a:spcPts val="0"/>
              </a:spcBef>
              <a:spcAft>
                <a:spcPts val="0"/>
              </a:spcAft>
              <a:buClr>
                <a:srgbClr val="000000"/>
              </a:buClr>
              <a:buSzPts val="294"/>
              <a:buFont typeface="Arial"/>
              <a:buNone/>
            </a:pPr>
            <a:r>
              <a:t/>
            </a:r>
            <a:endParaRPr b="1" i="1" sz="294" u="none" cap="none" strike="noStrike">
              <a:solidFill>
                <a:srgbClr val="FFFFFF"/>
              </a:solidFill>
              <a:latin typeface="Calibri"/>
              <a:ea typeface="Calibri"/>
              <a:cs typeface="Calibri"/>
              <a:sym typeface="Calibri"/>
            </a:endParaRPr>
          </a:p>
        </p:txBody>
      </p:sp>
      <p:sp>
        <p:nvSpPr>
          <p:cNvPr id="405" name="Google Shape;405;g33e27b3e0e6_0_37"/>
          <p:cNvSpPr txBox="1"/>
          <p:nvPr>
            <p:ph idx="12" type="sldNum"/>
          </p:nvPr>
        </p:nvSpPr>
        <p:spPr>
          <a:xfrm>
            <a:off x="11386491" y="6556449"/>
            <a:ext cx="639600" cy="3267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sz="1800">
                <a:solidFill>
                  <a:schemeClr val="lt1"/>
                </a:solidFill>
              </a:rPr>
              <a:t>‹#›</a:t>
            </a:fld>
            <a:endParaRPr sz="1931">
              <a:solidFill>
                <a:schemeClr val="lt1"/>
              </a:solidFill>
            </a:endParaRPr>
          </a:p>
        </p:txBody>
      </p:sp>
      <p:sp>
        <p:nvSpPr>
          <p:cNvPr id="406" name="Google Shape;406;g33e27b3e0e6_0_37"/>
          <p:cNvSpPr/>
          <p:nvPr/>
        </p:nvSpPr>
        <p:spPr>
          <a:xfrm>
            <a:off x="3615675" y="-1475"/>
            <a:ext cx="4154700" cy="535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1" i="0" sz="1500" u="none" cap="none" strike="noStrike">
              <a:solidFill>
                <a:srgbClr val="000000"/>
              </a:solidFill>
              <a:latin typeface="Times New Roman"/>
              <a:ea typeface="Times New Roman"/>
              <a:cs typeface="Times New Roman"/>
              <a:sym typeface="Times New Roman"/>
            </a:endParaRPr>
          </a:p>
        </p:txBody>
      </p:sp>
      <p:sp>
        <p:nvSpPr>
          <p:cNvPr id="407" name="Google Shape;407;g33e27b3e0e6_0_37"/>
          <p:cNvSpPr/>
          <p:nvPr/>
        </p:nvSpPr>
        <p:spPr>
          <a:xfrm>
            <a:off x="0" y="-1472"/>
            <a:ext cx="1329600" cy="452100"/>
          </a:xfrm>
          <a:prstGeom prst="rect">
            <a:avLst/>
          </a:prstGeom>
          <a:solidFill>
            <a:srgbClr val="C000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00"/>
              <a:buFont typeface="Arial"/>
              <a:buNone/>
            </a:pPr>
            <a:r>
              <a:rPr b="1" lang="en-US">
                <a:solidFill>
                  <a:schemeClr val="dk1"/>
                </a:solidFill>
              </a:rPr>
              <a:t>ECSE 695</a:t>
            </a:r>
            <a:endParaRPr b="1" i="0" sz="1400" u="none" cap="none" strike="noStrike">
              <a:solidFill>
                <a:schemeClr val="dk1"/>
              </a:solidFill>
              <a:latin typeface="Arial"/>
              <a:ea typeface="Arial"/>
              <a:cs typeface="Arial"/>
              <a:sym typeface="Arial"/>
            </a:endParaRPr>
          </a:p>
        </p:txBody>
      </p:sp>
      <p:sp>
        <p:nvSpPr>
          <p:cNvPr id="408" name="Google Shape;408;g33e27b3e0e6_0_37"/>
          <p:cNvSpPr txBox="1"/>
          <p:nvPr/>
        </p:nvSpPr>
        <p:spPr>
          <a:xfrm>
            <a:off x="0" y="855128"/>
            <a:ext cx="7506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p:txBody>
      </p:sp>
      <p:pic>
        <p:nvPicPr>
          <p:cNvPr descr="A blue letter with white background&#10;&#10;Description automatically generated" id="409" name="Google Shape;409;g33e27b3e0e6_0_37"/>
          <p:cNvPicPr preferRelativeResize="0"/>
          <p:nvPr/>
        </p:nvPicPr>
        <p:blipFill rotWithShape="1">
          <a:blip r:embed="rId3">
            <a:alphaModFix/>
          </a:blip>
          <a:srcRect b="0" l="0" r="0" t="0"/>
          <a:stretch/>
        </p:blipFill>
        <p:spPr>
          <a:xfrm>
            <a:off x="0" y="6597352"/>
            <a:ext cx="1329635" cy="260648"/>
          </a:xfrm>
          <a:prstGeom prst="rect">
            <a:avLst/>
          </a:prstGeom>
          <a:noFill/>
          <a:ln>
            <a:noFill/>
          </a:ln>
        </p:spPr>
      </p:pic>
      <p:sp>
        <p:nvSpPr>
          <p:cNvPr id="410" name="Google Shape;410;g33e27b3e0e6_0_37"/>
          <p:cNvSpPr txBox="1"/>
          <p:nvPr/>
        </p:nvSpPr>
        <p:spPr>
          <a:xfrm>
            <a:off x="8022596" y="6222504"/>
            <a:ext cx="4079700" cy="307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t/>
            </a:r>
            <a:endParaRPr b="0" i="0" sz="1400" u="none" cap="none" strike="noStrike">
              <a:solidFill>
                <a:srgbClr val="000000"/>
              </a:solidFill>
              <a:latin typeface="Arial"/>
              <a:ea typeface="Arial"/>
              <a:cs typeface="Arial"/>
              <a:sym typeface="Arial"/>
            </a:endParaRPr>
          </a:p>
        </p:txBody>
      </p:sp>
      <p:sp>
        <p:nvSpPr>
          <p:cNvPr id="411" name="Google Shape;411;g33e27b3e0e6_0_37"/>
          <p:cNvSpPr txBox="1"/>
          <p:nvPr/>
        </p:nvSpPr>
        <p:spPr>
          <a:xfrm>
            <a:off x="7882801" y="533746"/>
            <a:ext cx="37719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t/>
            </a:r>
            <a:endParaRPr b="1"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C00000"/>
              </a:solidFill>
              <a:latin typeface="Arial"/>
              <a:ea typeface="Arial"/>
              <a:cs typeface="Arial"/>
              <a:sym typeface="Arial"/>
            </a:endParaRPr>
          </a:p>
        </p:txBody>
      </p:sp>
      <p:sp>
        <p:nvSpPr>
          <p:cNvPr id="412" name="Google Shape;412;g33e27b3e0e6_0_37"/>
          <p:cNvSpPr txBox="1"/>
          <p:nvPr/>
        </p:nvSpPr>
        <p:spPr>
          <a:xfrm>
            <a:off x="79000" y="450625"/>
            <a:ext cx="9950100" cy="1201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t/>
            </a:r>
            <a:endParaRPr b="1" sz="1100">
              <a:solidFill>
                <a:schemeClr val="dk1"/>
              </a:solidFill>
            </a:endParaRPr>
          </a:p>
          <a:p>
            <a:pPr indent="0" lvl="0" marL="0" rtl="0" algn="l">
              <a:lnSpc>
                <a:spcPct val="115000"/>
              </a:lnSpc>
              <a:spcBef>
                <a:spcPts val="1200"/>
              </a:spcBef>
              <a:spcAft>
                <a:spcPts val="0"/>
              </a:spcAft>
              <a:buNone/>
            </a:pPr>
            <a:r>
              <a:t/>
            </a:r>
            <a:endParaRPr b="1">
              <a:solidFill>
                <a:schemeClr val="dk1"/>
              </a:solidFill>
              <a:latin typeface="Times New Roman"/>
              <a:ea typeface="Times New Roman"/>
              <a:cs typeface="Times New Roman"/>
              <a:sym typeface="Times New Roman"/>
            </a:endParaRPr>
          </a:p>
          <a:p>
            <a:pPr indent="0" lvl="0" marL="0" rtl="0" algn="l">
              <a:lnSpc>
                <a:spcPct val="115000"/>
              </a:lnSpc>
              <a:spcBef>
                <a:spcPts val="1600"/>
              </a:spcBef>
              <a:spcAft>
                <a:spcPts val="1600"/>
              </a:spcAft>
              <a:buNone/>
            </a:pPr>
            <a:r>
              <a:t/>
            </a:r>
            <a:endParaRPr>
              <a:solidFill>
                <a:schemeClr val="dk1"/>
              </a:solidFill>
              <a:latin typeface="Times New Roman"/>
              <a:ea typeface="Times New Roman"/>
              <a:cs typeface="Times New Roman"/>
              <a:sym typeface="Times New Roman"/>
            </a:endParaRPr>
          </a:p>
        </p:txBody>
      </p:sp>
      <p:sp>
        <p:nvSpPr>
          <p:cNvPr id="413" name="Google Shape;413;g33e27b3e0e6_0_37"/>
          <p:cNvSpPr txBox="1"/>
          <p:nvPr/>
        </p:nvSpPr>
        <p:spPr>
          <a:xfrm>
            <a:off x="8134650" y="5405375"/>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414" name="Google Shape;414;g33e27b3e0e6_0_37"/>
          <p:cNvSpPr txBox="1"/>
          <p:nvPr/>
        </p:nvSpPr>
        <p:spPr>
          <a:xfrm>
            <a:off x="0" y="450625"/>
            <a:ext cx="3000000" cy="369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1800"/>
              </a:spcAft>
              <a:buNone/>
            </a:pPr>
            <a:r>
              <a:t/>
            </a:r>
            <a:endParaRPr sz="1200">
              <a:solidFill>
                <a:schemeClr val="dk1"/>
              </a:solidFill>
              <a:latin typeface="Times New Roman"/>
              <a:ea typeface="Times New Roman"/>
              <a:cs typeface="Times New Roman"/>
              <a:sym typeface="Times New Roman"/>
            </a:endParaRPr>
          </a:p>
        </p:txBody>
      </p:sp>
      <p:sp>
        <p:nvSpPr>
          <p:cNvPr id="415" name="Google Shape;415;g33e27b3e0e6_0_37"/>
          <p:cNvSpPr txBox="1"/>
          <p:nvPr/>
        </p:nvSpPr>
        <p:spPr>
          <a:xfrm>
            <a:off x="34300" y="581975"/>
            <a:ext cx="10039500" cy="5309700"/>
          </a:xfrm>
          <a:prstGeom prst="rect">
            <a:avLst/>
          </a:prstGeom>
          <a:noFill/>
          <a:ln>
            <a:noFill/>
          </a:ln>
        </p:spPr>
        <p:txBody>
          <a:bodyPr anchorCtr="0" anchor="t" bIns="91425" lIns="91425" spcFirstLastPara="1" rIns="91425" wrap="square" tIns="91425">
            <a:spAutoFit/>
          </a:bodyPr>
          <a:lstStyle/>
          <a:p>
            <a:pPr indent="-298450" lvl="0" marL="457200" rtl="0" algn="l">
              <a:lnSpc>
                <a:spcPct val="115000"/>
              </a:lnSpc>
              <a:spcBef>
                <a:spcPts val="1200"/>
              </a:spcBef>
              <a:spcAft>
                <a:spcPts val="0"/>
              </a:spcAft>
              <a:buClr>
                <a:schemeClr val="dk1"/>
              </a:buClr>
              <a:buSzPts val="1100"/>
              <a:buAutoNum type="arabicPeriod"/>
            </a:pPr>
            <a:r>
              <a:rPr b="1" lang="en-US" sz="1100">
                <a:solidFill>
                  <a:schemeClr val="dk1"/>
                </a:solidFill>
              </a:rPr>
              <a:t>Layer Printing:</a:t>
            </a:r>
            <a:endParaRPr b="1"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US" sz="1100">
                <a:solidFill>
                  <a:schemeClr val="dk1"/>
                </a:solidFill>
              </a:rPr>
              <a:t>Retrieve current layer G-code</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US" sz="1100">
                <a:solidFill>
                  <a:schemeClr val="dk1"/>
                </a:solidFill>
              </a:rPr>
              <a:t>Send commands via Sender module</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US" sz="1100">
                <a:solidFill>
                  <a:schemeClr val="dk1"/>
                </a:solidFill>
              </a:rPr>
              <a:t>Monitor position and status</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US" sz="1100">
                <a:solidFill>
                  <a:schemeClr val="dk1"/>
                </a:solidFill>
              </a:rPr>
              <a:t>Verify layer completion</a:t>
            </a:r>
            <a:endParaRPr sz="1100">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US" sz="1100">
                <a:solidFill>
                  <a:schemeClr val="dk1"/>
                </a:solidFill>
              </a:rPr>
              <a:t>Layer Scanning:</a:t>
            </a:r>
            <a:endParaRPr b="1"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US" sz="1100">
                <a:solidFill>
                  <a:schemeClr val="dk1"/>
                </a:solidFill>
              </a:rPr>
              <a:t>Calculate bounding box</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US" sz="1100">
                <a:solidFill>
                  <a:schemeClr val="dk1"/>
                </a:solidFill>
              </a:rPr>
              <a:t>Generate and execute scan path</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US" sz="1100">
                <a:solidFill>
                  <a:schemeClr val="dk1"/>
                </a:solidFill>
              </a:rPr>
              <a:t>Collect height profiles</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US" sz="1100">
                <a:solidFill>
                  <a:schemeClr val="dk1"/>
                </a:solidFill>
              </a:rPr>
              <a:t>Store measurement data</a:t>
            </a:r>
            <a:endParaRPr sz="1100">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US" sz="1100">
                <a:solidFill>
                  <a:schemeClr val="dk1"/>
                </a:solidFill>
              </a:rPr>
              <a:t>G-code Modification:</a:t>
            </a:r>
            <a:endParaRPr b="1"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US" sz="1100">
                <a:solidFill>
                  <a:schemeClr val="dk1"/>
                </a:solidFill>
              </a:rPr>
              <a:t>Process height data with filtering</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US" sz="1100">
                <a:solidFill>
                  <a:schemeClr val="dk1"/>
                </a:solidFill>
              </a:rPr>
              <a:t>Extract expected layer height</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US" sz="1100">
                <a:solidFill>
                  <a:schemeClr val="dk1"/>
                </a:solidFill>
              </a:rPr>
              <a:t>Calculate height deviation</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US" sz="1100">
                <a:solidFill>
                  <a:schemeClr val="dk1"/>
                </a:solidFill>
              </a:rPr>
              <a:t>Modify next layer Z-heights</a:t>
            </a:r>
            <a:endParaRPr sz="1100">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US" sz="1100">
                <a:solidFill>
                  <a:schemeClr val="dk1"/>
                </a:solidFill>
              </a:rPr>
              <a:t>Progress Management:</a:t>
            </a:r>
            <a:endParaRPr b="1"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US" sz="1100">
                <a:solidFill>
                  <a:schemeClr val="dk1"/>
                </a:solidFill>
              </a:rPr>
              <a:t>Update layer indices</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US" sz="1100">
                <a:solidFill>
                  <a:schemeClr val="dk1"/>
                </a:solidFill>
              </a:rPr>
              <a:t>Report progress information</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US" sz="1100">
                <a:solidFill>
                  <a:schemeClr val="dk1"/>
                </a:solidFill>
              </a:rPr>
              <a:t>Prepare for next layer or shutdown</a:t>
            </a:r>
            <a:endParaRPr sz="1100">
              <a:solidFill>
                <a:schemeClr val="dk1"/>
              </a:solidFill>
            </a:endParaRPr>
          </a:p>
          <a:p>
            <a:pPr indent="0" lvl="0" marL="0" rtl="0" algn="l">
              <a:lnSpc>
                <a:spcPct val="115000"/>
              </a:lnSpc>
              <a:spcBef>
                <a:spcPts val="1200"/>
              </a:spcBef>
              <a:spcAft>
                <a:spcPts val="0"/>
              </a:spcAft>
              <a:buNone/>
            </a:pPr>
            <a:r>
              <a:rPr b="1" lang="en-US" sz="1100">
                <a:solidFill>
                  <a:schemeClr val="dk1"/>
                </a:solidFill>
              </a:rPr>
              <a:t>Semi Closed-Loop Benefits:</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sz="1100">
                <a:solidFill>
                  <a:schemeClr val="dk1"/>
                </a:solidFill>
              </a:rPr>
              <a:t>Dynamic adaptation to process variations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Error prevention rather than detection</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Continuous quality improvement</a:t>
            </a:r>
            <a:endParaRPr sz="1100">
              <a:solidFill>
                <a:schemeClr val="dk1"/>
              </a:solidFill>
            </a:endParaRPr>
          </a:p>
          <a:p>
            <a:pPr indent="0" lvl="0" marL="0" rtl="0" algn="l">
              <a:lnSpc>
                <a:spcPct val="115000"/>
              </a:lnSpc>
              <a:spcBef>
                <a:spcPts val="1200"/>
              </a:spcBef>
              <a:spcAft>
                <a:spcPts val="1200"/>
              </a:spcAft>
              <a:buNone/>
            </a:pPr>
            <a:r>
              <a:t/>
            </a:r>
            <a:endParaRPr sz="1200">
              <a:solidFill>
                <a:schemeClr val="dk1"/>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g33e27b3e0e6_0_73"/>
          <p:cNvSpPr/>
          <p:nvPr/>
        </p:nvSpPr>
        <p:spPr>
          <a:xfrm>
            <a:off x="1329635" y="-1472"/>
            <a:ext cx="10862400" cy="452100"/>
          </a:xfrm>
          <a:prstGeom prst="rect">
            <a:avLst/>
          </a:prstGeom>
          <a:solidFill>
            <a:srgbClr val="002060"/>
          </a:solidFill>
          <a:ln>
            <a:noFill/>
          </a:ln>
        </p:spPr>
        <p:txBody>
          <a:bodyPr anchorCtr="0" anchor="ctr" bIns="21400" lIns="42825" spcFirstLastPara="1" rIns="42825" wrap="square" tIns="21400">
            <a:noAutofit/>
          </a:bodyPr>
          <a:lstStyle/>
          <a:p>
            <a:pPr indent="0" lvl="0" marL="0" marR="0" rtl="0" algn="l">
              <a:lnSpc>
                <a:spcPct val="100000"/>
              </a:lnSpc>
              <a:spcBef>
                <a:spcPts val="0"/>
              </a:spcBef>
              <a:spcAft>
                <a:spcPts val="0"/>
              </a:spcAft>
              <a:buClr>
                <a:srgbClr val="000000"/>
              </a:buClr>
              <a:buSzPts val="294"/>
              <a:buFont typeface="Arial"/>
              <a:buNone/>
            </a:pPr>
            <a:r>
              <a:rPr b="1" lang="en-US" sz="1800">
                <a:solidFill>
                  <a:srgbClr val="FFFFFF"/>
                </a:solidFill>
                <a:latin typeface="Times New Roman"/>
                <a:ea typeface="Times New Roman"/>
                <a:cs typeface="Times New Roman"/>
                <a:sym typeface="Times New Roman"/>
              </a:rPr>
              <a:t>Concurrent Operation</a:t>
            </a:r>
            <a:endParaRPr b="1" sz="1800" u="none" cap="none" strike="noStrike">
              <a:solidFill>
                <a:srgbClr val="FFFFFF"/>
              </a:solidFill>
              <a:latin typeface="Times New Roman"/>
              <a:ea typeface="Times New Roman"/>
              <a:cs typeface="Times New Roman"/>
              <a:sym typeface="Times New Roman"/>
            </a:endParaRPr>
          </a:p>
        </p:txBody>
      </p:sp>
      <p:sp>
        <p:nvSpPr>
          <p:cNvPr id="422" name="Google Shape;422;g33e27b3e0e6_0_73"/>
          <p:cNvSpPr/>
          <p:nvPr/>
        </p:nvSpPr>
        <p:spPr>
          <a:xfrm>
            <a:off x="1329635" y="6597352"/>
            <a:ext cx="10862400" cy="260700"/>
          </a:xfrm>
          <a:prstGeom prst="rect">
            <a:avLst/>
          </a:prstGeom>
          <a:solidFill>
            <a:srgbClr val="002060"/>
          </a:solidFill>
          <a:ln>
            <a:noFill/>
          </a:ln>
        </p:spPr>
        <p:txBody>
          <a:bodyPr anchorCtr="0" anchor="ctr" bIns="21400" lIns="42825" spcFirstLastPara="1" rIns="42825" wrap="square" tIns="21400">
            <a:noAutofit/>
          </a:bodyPr>
          <a:lstStyle/>
          <a:p>
            <a:pPr indent="0" lvl="0" marL="0" marR="0" rtl="0" algn="l">
              <a:lnSpc>
                <a:spcPct val="100000"/>
              </a:lnSpc>
              <a:spcBef>
                <a:spcPts val="0"/>
              </a:spcBef>
              <a:spcAft>
                <a:spcPts val="0"/>
              </a:spcAft>
              <a:buClr>
                <a:srgbClr val="000000"/>
              </a:buClr>
              <a:buSzPts val="294"/>
              <a:buFont typeface="Arial"/>
              <a:buNone/>
            </a:pPr>
            <a:r>
              <a:t/>
            </a:r>
            <a:endParaRPr b="1" i="1" sz="294" u="none" cap="none" strike="noStrike">
              <a:solidFill>
                <a:srgbClr val="FFFFFF"/>
              </a:solidFill>
              <a:latin typeface="Calibri"/>
              <a:ea typeface="Calibri"/>
              <a:cs typeface="Calibri"/>
              <a:sym typeface="Calibri"/>
            </a:endParaRPr>
          </a:p>
        </p:txBody>
      </p:sp>
      <p:sp>
        <p:nvSpPr>
          <p:cNvPr id="423" name="Google Shape;423;g33e27b3e0e6_0_73"/>
          <p:cNvSpPr txBox="1"/>
          <p:nvPr>
            <p:ph idx="12" type="sldNum"/>
          </p:nvPr>
        </p:nvSpPr>
        <p:spPr>
          <a:xfrm>
            <a:off x="11386491" y="6556449"/>
            <a:ext cx="639600" cy="3267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sz="1800">
                <a:solidFill>
                  <a:schemeClr val="lt1"/>
                </a:solidFill>
              </a:rPr>
              <a:t>‹#›</a:t>
            </a:fld>
            <a:endParaRPr sz="1931">
              <a:solidFill>
                <a:schemeClr val="lt1"/>
              </a:solidFill>
            </a:endParaRPr>
          </a:p>
        </p:txBody>
      </p:sp>
      <p:sp>
        <p:nvSpPr>
          <p:cNvPr id="424" name="Google Shape;424;g33e27b3e0e6_0_73"/>
          <p:cNvSpPr/>
          <p:nvPr/>
        </p:nvSpPr>
        <p:spPr>
          <a:xfrm>
            <a:off x="3615675" y="-1475"/>
            <a:ext cx="4154700" cy="535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1" i="0" sz="1500" u="none" cap="none" strike="noStrike">
              <a:solidFill>
                <a:srgbClr val="000000"/>
              </a:solidFill>
              <a:latin typeface="Times New Roman"/>
              <a:ea typeface="Times New Roman"/>
              <a:cs typeface="Times New Roman"/>
              <a:sym typeface="Times New Roman"/>
            </a:endParaRPr>
          </a:p>
        </p:txBody>
      </p:sp>
      <p:sp>
        <p:nvSpPr>
          <p:cNvPr id="425" name="Google Shape;425;g33e27b3e0e6_0_73"/>
          <p:cNvSpPr/>
          <p:nvPr/>
        </p:nvSpPr>
        <p:spPr>
          <a:xfrm>
            <a:off x="0" y="-1472"/>
            <a:ext cx="1329600" cy="452100"/>
          </a:xfrm>
          <a:prstGeom prst="rect">
            <a:avLst/>
          </a:prstGeom>
          <a:solidFill>
            <a:srgbClr val="C000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00"/>
              <a:buFont typeface="Arial"/>
              <a:buNone/>
            </a:pPr>
            <a:r>
              <a:rPr b="1" lang="en-US">
                <a:solidFill>
                  <a:schemeClr val="dk1"/>
                </a:solidFill>
              </a:rPr>
              <a:t>ECSE 695</a:t>
            </a:r>
            <a:endParaRPr b="1" i="0" sz="1400" u="none" cap="none" strike="noStrike">
              <a:solidFill>
                <a:schemeClr val="dk1"/>
              </a:solidFill>
              <a:latin typeface="Arial"/>
              <a:ea typeface="Arial"/>
              <a:cs typeface="Arial"/>
              <a:sym typeface="Arial"/>
            </a:endParaRPr>
          </a:p>
        </p:txBody>
      </p:sp>
      <p:sp>
        <p:nvSpPr>
          <p:cNvPr id="426" name="Google Shape;426;g33e27b3e0e6_0_73"/>
          <p:cNvSpPr txBox="1"/>
          <p:nvPr/>
        </p:nvSpPr>
        <p:spPr>
          <a:xfrm>
            <a:off x="0" y="855128"/>
            <a:ext cx="7506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p:txBody>
      </p:sp>
      <p:pic>
        <p:nvPicPr>
          <p:cNvPr descr="A blue letter with white background&#10;&#10;Description automatically generated" id="427" name="Google Shape;427;g33e27b3e0e6_0_73"/>
          <p:cNvPicPr preferRelativeResize="0"/>
          <p:nvPr/>
        </p:nvPicPr>
        <p:blipFill rotWithShape="1">
          <a:blip r:embed="rId3">
            <a:alphaModFix/>
          </a:blip>
          <a:srcRect b="0" l="0" r="0" t="0"/>
          <a:stretch/>
        </p:blipFill>
        <p:spPr>
          <a:xfrm>
            <a:off x="0" y="6597352"/>
            <a:ext cx="1329635" cy="260648"/>
          </a:xfrm>
          <a:prstGeom prst="rect">
            <a:avLst/>
          </a:prstGeom>
          <a:noFill/>
          <a:ln>
            <a:noFill/>
          </a:ln>
        </p:spPr>
      </p:pic>
      <p:sp>
        <p:nvSpPr>
          <p:cNvPr id="428" name="Google Shape;428;g33e27b3e0e6_0_73"/>
          <p:cNvSpPr txBox="1"/>
          <p:nvPr/>
        </p:nvSpPr>
        <p:spPr>
          <a:xfrm>
            <a:off x="8022596" y="6222504"/>
            <a:ext cx="4079700" cy="307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t/>
            </a:r>
            <a:endParaRPr b="0" i="0" sz="1400" u="none" cap="none" strike="noStrike">
              <a:solidFill>
                <a:srgbClr val="000000"/>
              </a:solidFill>
              <a:latin typeface="Arial"/>
              <a:ea typeface="Arial"/>
              <a:cs typeface="Arial"/>
              <a:sym typeface="Arial"/>
            </a:endParaRPr>
          </a:p>
        </p:txBody>
      </p:sp>
      <p:sp>
        <p:nvSpPr>
          <p:cNvPr id="429" name="Google Shape;429;g33e27b3e0e6_0_73"/>
          <p:cNvSpPr txBox="1"/>
          <p:nvPr/>
        </p:nvSpPr>
        <p:spPr>
          <a:xfrm>
            <a:off x="7882801" y="533746"/>
            <a:ext cx="37719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t/>
            </a:r>
            <a:endParaRPr b="1"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C00000"/>
              </a:solidFill>
              <a:latin typeface="Arial"/>
              <a:ea typeface="Arial"/>
              <a:cs typeface="Arial"/>
              <a:sym typeface="Arial"/>
            </a:endParaRPr>
          </a:p>
        </p:txBody>
      </p:sp>
      <p:sp>
        <p:nvSpPr>
          <p:cNvPr id="430" name="Google Shape;430;g33e27b3e0e6_0_73"/>
          <p:cNvSpPr txBox="1"/>
          <p:nvPr/>
        </p:nvSpPr>
        <p:spPr>
          <a:xfrm>
            <a:off x="79000" y="450625"/>
            <a:ext cx="9950100" cy="1201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t/>
            </a:r>
            <a:endParaRPr b="1" sz="1100">
              <a:solidFill>
                <a:schemeClr val="dk1"/>
              </a:solidFill>
            </a:endParaRPr>
          </a:p>
          <a:p>
            <a:pPr indent="0" lvl="0" marL="0" rtl="0" algn="l">
              <a:lnSpc>
                <a:spcPct val="115000"/>
              </a:lnSpc>
              <a:spcBef>
                <a:spcPts val="1200"/>
              </a:spcBef>
              <a:spcAft>
                <a:spcPts val="0"/>
              </a:spcAft>
              <a:buNone/>
            </a:pPr>
            <a:r>
              <a:t/>
            </a:r>
            <a:endParaRPr b="1">
              <a:solidFill>
                <a:schemeClr val="dk1"/>
              </a:solidFill>
              <a:latin typeface="Times New Roman"/>
              <a:ea typeface="Times New Roman"/>
              <a:cs typeface="Times New Roman"/>
              <a:sym typeface="Times New Roman"/>
            </a:endParaRPr>
          </a:p>
          <a:p>
            <a:pPr indent="0" lvl="0" marL="0" rtl="0" algn="l">
              <a:lnSpc>
                <a:spcPct val="115000"/>
              </a:lnSpc>
              <a:spcBef>
                <a:spcPts val="1600"/>
              </a:spcBef>
              <a:spcAft>
                <a:spcPts val="1600"/>
              </a:spcAft>
              <a:buNone/>
            </a:pPr>
            <a:r>
              <a:t/>
            </a:r>
            <a:endParaRPr>
              <a:solidFill>
                <a:schemeClr val="dk1"/>
              </a:solidFill>
              <a:latin typeface="Times New Roman"/>
              <a:ea typeface="Times New Roman"/>
              <a:cs typeface="Times New Roman"/>
              <a:sym typeface="Times New Roman"/>
            </a:endParaRPr>
          </a:p>
        </p:txBody>
      </p:sp>
      <p:sp>
        <p:nvSpPr>
          <p:cNvPr id="431" name="Google Shape;431;g33e27b3e0e6_0_73"/>
          <p:cNvSpPr txBox="1"/>
          <p:nvPr/>
        </p:nvSpPr>
        <p:spPr>
          <a:xfrm>
            <a:off x="8134650" y="5405375"/>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432" name="Google Shape;432;g33e27b3e0e6_0_73"/>
          <p:cNvSpPr txBox="1"/>
          <p:nvPr/>
        </p:nvSpPr>
        <p:spPr>
          <a:xfrm>
            <a:off x="0" y="450625"/>
            <a:ext cx="3000000" cy="369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1800"/>
              </a:spcAft>
              <a:buNone/>
            </a:pPr>
            <a:r>
              <a:t/>
            </a:r>
            <a:endParaRPr sz="1200">
              <a:solidFill>
                <a:schemeClr val="dk1"/>
              </a:solidFill>
              <a:latin typeface="Times New Roman"/>
              <a:ea typeface="Times New Roman"/>
              <a:cs typeface="Times New Roman"/>
              <a:sym typeface="Times New Roman"/>
            </a:endParaRPr>
          </a:p>
        </p:txBody>
      </p:sp>
      <p:sp>
        <p:nvSpPr>
          <p:cNvPr id="433" name="Google Shape;433;g33e27b3e0e6_0_73"/>
          <p:cNvSpPr txBox="1"/>
          <p:nvPr/>
        </p:nvSpPr>
        <p:spPr>
          <a:xfrm>
            <a:off x="34300" y="581975"/>
            <a:ext cx="10039500" cy="1908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600">
                <a:solidFill>
                  <a:schemeClr val="dk1"/>
                </a:solidFill>
                <a:latin typeface="Times New Roman"/>
                <a:ea typeface="Times New Roman"/>
                <a:cs typeface="Times New Roman"/>
                <a:sym typeface="Times New Roman"/>
              </a:rPr>
              <a:t>Benefits</a:t>
            </a:r>
            <a:r>
              <a:rPr lang="en-US" sz="1600">
                <a:solidFill>
                  <a:schemeClr val="dk1"/>
                </a:solidFill>
                <a:latin typeface="Times New Roman"/>
                <a:ea typeface="Times New Roman"/>
                <a:cs typeface="Times New Roman"/>
                <a:sym typeface="Times New Roman"/>
              </a:rPr>
              <a:t>:</a:t>
            </a:r>
            <a:endParaRPr sz="16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6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1600">
                <a:solidFill>
                  <a:schemeClr val="dk1"/>
                </a:solidFill>
                <a:latin typeface="Times New Roman"/>
                <a:ea typeface="Times New Roman"/>
                <a:cs typeface="Times New Roman"/>
                <a:sym typeface="Times New Roman"/>
              </a:rPr>
              <a:t>Concurrent scanner operation and machine movement</a:t>
            </a:r>
            <a:endParaRPr sz="16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1600">
                <a:solidFill>
                  <a:schemeClr val="dk1"/>
                </a:solidFill>
                <a:latin typeface="Times New Roman"/>
                <a:ea typeface="Times New Roman"/>
                <a:cs typeface="Times New Roman"/>
                <a:sym typeface="Times New Roman"/>
              </a:rPr>
              <a:t>Optimized scanning time and efficiency</a:t>
            </a:r>
            <a:endParaRPr sz="16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1600">
                <a:solidFill>
                  <a:schemeClr val="dk1"/>
                </a:solidFill>
                <a:latin typeface="Times New Roman"/>
                <a:ea typeface="Times New Roman"/>
                <a:cs typeface="Times New Roman"/>
                <a:sym typeface="Times New Roman"/>
              </a:rPr>
              <a:t>Adaptive timing based on scan path complexity</a:t>
            </a:r>
            <a:endParaRPr sz="16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1600">
                <a:solidFill>
                  <a:schemeClr val="dk1"/>
                </a:solidFill>
                <a:latin typeface="Times New Roman"/>
                <a:ea typeface="Times New Roman"/>
                <a:cs typeface="Times New Roman"/>
                <a:sym typeface="Times New Roman"/>
              </a:rPr>
              <a:t>Proper resource management and synchronization</a:t>
            </a:r>
            <a:endParaRPr sz="16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600">
              <a:solidFill>
                <a:schemeClr val="dk1"/>
              </a:solidFill>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g33e27b3e0e6_0_135"/>
          <p:cNvSpPr/>
          <p:nvPr/>
        </p:nvSpPr>
        <p:spPr>
          <a:xfrm>
            <a:off x="1329635" y="-1472"/>
            <a:ext cx="10862400" cy="452100"/>
          </a:xfrm>
          <a:prstGeom prst="rect">
            <a:avLst/>
          </a:prstGeom>
          <a:solidFill>
            <a:srgbClr val="002060"/>
          </a:solidFill>
          <a:ln>
            <a:noFill/>
          </a:ln>
        </p:spPr>
        <p:txBody>
          <a:bodyPr anchorCtr="0" anchor="ctr" bIns="21400" lIns="42825" spcFirstLastPara="1" rIns="42825" wrap="square" tIns="21400">
            <a:noAutofit/>
          </a:bodyPr>
          <a:lstStyle/>
          <a:p>
            <a:pPr indent="0" lvl="0" marL="0" marR="0" rtl="0" algn="l">
              <a:lnSpc>
                <a:spcPct val="100000"/>
              </a:lnSpc>
              <a:spcBef>
                <a:spcPts val="0"/>
              </a:spcBef>
              <a:spcAft>
                <a:spcPts val="0"/>
              </a:spcAft>
              <a:buClr>
                <a:srgbClr val="000000"/>
              </a:buClr>
              <a:buSzPts val="294"/>
              <a:buFont typeface="Arial"/>
              <a:buNone/>
            </a:pPr>
            <a:r>
              <a:rPr b="1" lang="en-US" sz="1800">
                <a:solidFill>
                  <a:srgbClr val="FFFFFF"/>
                </a:solidFill>
                <a:latin typeface="Times New Roman"/>
                <a:ea typeface="Times New Roman"/>
                <a:cs typeface="Times New Roman"/>
                <a:sym typeface="Times New Roman"/>
              </a:rPr>
              <a:t>Scan Path Optimization</a:t>
            </a:r>
            <a:endParaRPr b="1" sz="1800" u="none" cap="none" strike="noStrike">
              <a:solidFill>
                <a:srgbClr val="FFFFFF"/>
              </a:solidFill>
              <a:latin typeface="Times New Roman"/>
              <a:ea typeface="Times New Roman"/>
              <a:cs typeface="Times New Roman"/>
              <a:sym typeface="Times New Roman"/>
            </a:endParaRPr>
          </a:p>
        </p:txBody>
      </p:sp>
      <p:sp>
        <p:nvSpPr>
          <p:cNvPr id="440" name="Google Shape;440;g33e27b3e0e6_0_135"/>
          <p:cNvSpPr/>
          <p:nvPr/>
        </p:nvSpPr>
        <p:spPr>
          <a:xfrm>
            <a:off x="1329635" y="6597352"/>
            <a:ext cx="10862400" cy="260700"/>
          </a:xfrm>
          <a:prstGeom prst="rect">
            <a:avLst/>
          </a:prstGeom>
          <a:solidFill>
            <a:srgbClr val="002060"/>
          </a:solidFill>
          <a:ln>
            <a:noFill/>
          </a:ln>
        </p:spPr>
        <p:txBody>
          <a:bodyPr anchorCtr="0" anchor="ctr" bIns="21400" lIns="42825" spcFirstLastPara="1" rIns="42825" wrap="square" tIns="21400">
            <a:noAutofit/>
          </a:bodyPr>
          <a:lstStyle/>
          <a:p>
            <a:pPr indent="0" lvl="0" marL="0" marR="0" rtl="0" algn="l">
              <a:lnSpc>
                <a:spcPct val="100000"/>
              </a:lnSpc>
              <a:spcBef>
                <a:spcPts val="0"/>
              </a:spcBef>
              <a:spcAft>
                <a:spcPts val="0"/>
              </a:spcAft>
              <a:buClr>
                <a:srgbClr val="000000"/>
              </a:buClr>
              <a:buSzPts val="294"/>
              <a:buFont typeface="Arial"/>
              <a:buNone/>
            </a:pPr>
            <a:r>
              <a:t/>
            </a:r>
            <a:endParaRPr b="1" i="1" sz="294" u="none" cap="none" strike="noStrike">
              <a:solidFill>
                <a:srgbClr val="FFFFFF"/>
              </a:solidFill>
              <a:latin typeface="Calibri"/>
              <a:ea typeface="Calibri"/>
              <a:cs typeface="Calibri"/>
              <a:sym typeface="Calibri"/>
            </a:endParaRPr>
          </a:p>
        </p:txBody>
      </p:sp>
      <p:sp>
        <p:nvSpPr>
          <p:cNvPr id="441" name="Google Shape;441;g33e27b3e0e6_0_135"/>
          <p:cNvSpPr txBox="1"/>
          <p:nvPr>
            <p:ph idx="12" type="sldNum"/>
          </p:nvPr>
        </p:nvSpPr>
        <p:spPr>
          <a:xfrm>
            <a:off x="11386491" y="6556449"/>
            <a:ext cx="639600" cy="3267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sz="1800">
                <a:solidFill>
                  <a:schemeClr val="lt1"/>
                </a:solidFill>
              </a:rPr>
              <a:t>‹#›</a:t>
            </a:fld>
            <a:endParaRPr sz="1931">
              <a:solidFill>
                <a:schemeClr val="lt1"/>
              </a:solidFill>
            </a:endParaRPr>
          </a:p>
        </p:txBody>
      </p:sp>
      <p:sp>
        <p:nvSpPr>
          <p:cNvPr id="442" name="Google Shape;442;g33e27b3e0e6_0_135"/>
          <p:cNvSpPr/>
          <p:nvPr/>
        </p:nvSpPr>
        <p:spPr>
          <a:xfrm>
            <a:off x="3615675" y="-1475"/>
            <a:ext cx="4154700" cy="535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1" i="0" sz="1500" u="none" cap="none" strike="noStrike">
              <a:solidFill>
                <a:srgbClr val="000000"/>
              </a:solidFill>
              <a:latin typeface="Times New Roman"/>
              <a:ea typeface="Times New Roman"/>
              <a:cs typeface="Times New Roman"/>
              <a:sym typeface="Times New Roman"/>
            </a:endParaRPr>
          </a:p>
        </p:txBody>
      </p:sp>
      <p:sp>
        <p:nvSpPr>
          <p:cNvPr id="443" name="Google Shape;443;g33e27b3e0e6_0_135"/>
          <p:cNvSpPr/>
          <p:nvPr/>
        </p:nvSpPr>
        <p:spPr>
          <a:xfrm>
            <a:off x="0" y="-1472"/>
            <a:ext cx="1329600" cy="452100"/>
          </a:xfrm>
          <a:prstGeom prst="rect">
            <a:avLst/>
          </a:prstGeom>
          <a:solidFill>
            <a:srgbClr val="C000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00"/>
              <a:buFont typeface="Arial"/>
              <a:buNone/>
            </a:pPr>
            <a:r>
              <a:rPr b="1" lang="en-US">
                <a:solidFill>
                  <a:schemeClr val="dk1"/>
                </a:solidFill>
              </a:rPr>
              <a:t>ECSE 695</a:t>
            </a:r>
            <a:endParaRPr b="1" i="0" sz="1400" u="none" cap="none" strike="noStrike">
              <a:solidFill>
                <a:schemeClr val="dk1"/>
              </a:solidFill>
              <a:latin typeface="Arial"/>
              <a:ea typeface="Arial"/>
              <a:cs typeface="Arial"/>
              <a:sym typeface="Arial"/>
            </a:endParaRPr>
          </a:p>
        </p:txBody>
      </p:sp>
      <p:sp>
        <p:nvSpPr>
          <p:cNvPr id="444" name="Google Shape;444;g33e27b3e0e6_0_135"/>
          <p:cNvSpPr txBox="1"/>
          <p:nvPr/>
        </p:nvSpPr>
        <p:spPr>
          <a:xfrm>
            <a:off x="0" y="855128"/>
            <a:ext cx="7506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p:txBody>
      </p:sp>
      <p:pic>
        <p:nvPicPr>
          <p:cNvPr descr="A blue letter with white background&#10;&#10;Description automatically generated" id="445" name="Google Shape;445;g33e27b3e0e6_0_135"/>
          <p:cNvPicPr preferRelativeResize="0"/>
          <p:nvPr/>
        </p:nvPicPr>
        <p:blipFill rotWithShape="1">
          <a:blip r:embed="rId3">
            <a:alphaModFix/>
          </a:blip>
          <a:srcRect b="0" l="0" r="0" t="0"/>
          <a:stretch/>
        </p:blipFill>
        <p:spPr>
          <a:xfrm>
            <a:off x="0" y="6597352"/>
            <a:ext cx="1329635" cy="260648"/>
          </a:xfrm>
          <a:prstGeom prst="rect">
            <a:avLst/>
          </a:prstGeom>
          <a:noFill/>
          <a:ln>
            <a:noFill/>
          </a:ln>
        </p:spPr>
      </p:pic>
      <p:sp>
        <p:nvSpPr>
          <p:cNvPr id="446" name="Google Shape;446;g33e27b3e0e6_0_135"/>
          <p:cNvSpPr txBox="1"/>
          <p:nvPr/>
        </p:nvSpPr>
        <p:spPr>
          <a:xfrm>
            <a:off x="8022596" y="6222504"/>
            <a:ext cx="4079700" cy="307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t/>
            </a:r>
            <a:endParaRPr b="0" i="0" sz="1400" u="none" cap="none" strike="noStrike">
              <a:solidFill>
                <a:srgbClr val="000000"/>
              </a:solidFill>
              <a:latin typeface="Arial"/>
              <a:ea typeface="Arial"/>
              <a:cs typeface="Arial"/>
              <a:sym typeface="Arial"/>
            </a:endParaRPr>
          </a:p>
        </p:txBody>
      </p:sp>
      <p:sp>
        <p:nvSpPr>
          <p:cNvPr id="447" name="Google Shape;447;g33e27b3e0e6_0_135"/>
          <p:cNvSpPr txBox="1"/>
          <p:nvPr/>
        </p:nvSpPr>
        <p:spPr>
          <a:xfrm>
            <a:off x="7882801" y="533746"/>
            <a:ext cx="37719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t/>
            </a:r>
            <a:endParaRPr b="1"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C00000"/>
              </a:solidFill>
              <a:latin typeface="Arial"/>
              <a:ea typeface="Arial"/>
              <a:cs typeface="Arial"/>
              <a:sym typeface="Arial"/>
            </a:endParaRPr>
          </a:p>
        </p:txBody>
      </p:sp>
      <p:sp>
        <p:nvSpPr>
          <p:cNvPr id="448" name="Google Shape;448;g33e27b3e0e6_0_135"/>
          <p:cNvSpPr txBox="1"/>
          <p:nvPr/>
        </p:nvSpPr>
        <p:spPr>
          <a:xfrm>
            <a:off x="79000" y="450625"/>
            <a:ext cx="9950100" cy="1201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t/>
            </a:r>
            <a:endParaRPr b="1" sz="1100">
              <a:solidFill>
                <a:schemeClr val="dk1"/>
              </a:solidFill>
            </a:endParaRPr>
          </a:p>
          <a:p>
            <a:pPr indent="0" lvl="0" marL="0" rtl="0" algn="l">
              <a:lnSpc>
                <a:spcPct val="115000"/>
              </a:lnSpc>
              <a:spcBef>
                <a:spcPts val="1200"/>
              </a:spcBef>
              <a:spcAft>
                <a:spcPts val="0"/>
              </a:spcAft>
              <a:buNone/>
            </a:pPr>
            <a:r>
              <a:t/>
            </a:r>
            <a:endParaRPr b="1">
              <a:solidFill>
                <a:schemeClr val="dk1"/>
              </a:solidFill>
              <a:latin typeface="Times New Roman"/>
              <a:ea typeface="Times New Roman"/>
              <a:cs typeface="Times New Roman"/>
              <a:sym typeface="Times New Roman"/>
            </a:endParaRPr>
          </a:p>
          <a:p>
            <a:pPr indent="0" lvl="0" marL="0" rtl="0" algn="l">
              <a:lnSpc>
                <a:spcPct val="115000"/>
              </a:lnSpc>
              <a:spcBef>
                <a:spcPts val="1600"/>
              </a:spcBef>
              <a:spcAft>
                <a:spcPts val="1600"/>
              </a:spcAft>
              <a:buNone/>
            </a:pPr>
            <a:r>
              <a:t/>
            </a:r>
            <a:endParaRPr>
              <a:solidFill>
                <a:schemeClr val="dk1"/>
              </a:solidFill>
              <a:latin typeface="Times New Roman"/>
              <a:ea typeface="Times New Roman"/>
              <a:cs typeface="Times New Roman"/>
              <a:sym typeface="Times New Roman"/>
            </a:endParaRPr>
          </a:p>
        </p:txBody>
      </p:sp>
      <p:sp>
        <p:nvSpPr>
          <p:cNvPr id="449" name="Google Shape;449;g33e27b3e0e6_0_135"/>
          <p:cNvSpPr txBox="1"/>
          <p:nvPr/>
        </p:nvSpPr>
        <p:spPr>
          <a:xfrm>
            <a:off x="8134650" y="5405375"/>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450" name="Google Shape;450;g33e27b3e0e6_0_135"/>
          <p:cNvSpPr txBox="1"/>
          <p:nvPr/>
        </p:nvSpPr>
        <p:spPr>
          <a:xfrm>
            <a:off x="0" y="450625"/>
            <a:ext cx="3000000" cy="369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1800"/>
              </a:spcAft>
              <a:buNone/>
            </a:pPr>
            <a:r>
              <a:t/>
            </a:r>
            <a:endParaRPr sz="1200">
              <a:solidFill>
                <a:schemeClr val="dk1"/>
              </a:solidFill>
              <a:latin typeface="Times New Roman"/>
              <a:ea typeface="Times New Roman"/>
              <a:cs typeface="Times New Roman"/>
              <a:sym typeface="Times New Roman"/>
            </a:endParaRPr>
          </a:p>
        </p:txBody>
      </p:sp>
      <p:sp>
        <p:nvSpPr>
          <p:cNvPr id="451" name="Google Shape;451;g33e27b3e0e6_0_135"/>
          <p:cNvSpPr txBox="1"/>
          <p:nvPr/>
        </p:nvSpPr>
        <p:spPr>
          <a:xfrm>
            <a:off x="34300" y="581975"/>
            <a:ext cx="10039500" cy="2631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US" sz="1800">
                <a:solidFill>
                  <a:schemeClr val="dk1"/>
                </a:solidFill>
                <a:latin typeface="Times New Roman"/>
                <a:ea typeface="Times New Roman"/>
                <a:cs typeface="Times New Roman"/>
                <a:sym typeface="Times New Roman"/>
              </a:rPr>
              <a:t>Design Considerations:</a:t>
            </a:r>
            <a:endParaRPr b="1" sz="1800">
              <a:solidFill>
                <a:schemeClr val="dk1"/>
              </a:solidFill>
              <a:latin typeface="Times New Roman"/>
              <a:ea typeface="Times New Roman"/>
              <a:cs typeface="Times New Roman"/>
              <a:sym typeface="Times New Roman"/>
            </a:endParaRPr>
          </a:p>
          <a:p>
            <a:pPr indent="-323850" lvl="0" marL="457200" rtl="0" algn="l">
              <a:lnSpc>
                <a:spcPct val="115000"/>
              </a:lnSpc>
              <a:spcBef>
                <a:spcPts val="1200"/>
              </a:spcBef>
              <a:spcAft>
                <a:spcPts val="0"/>
              </a:spcAft>
              <a:buClr>
                <a:schemeClr val="dk1"/>
              </a:buClr>
              <a:buSzPts val="1500"/>
              <a:buFont typeface="Times New Roman"/>
              <a:buChar char="●"/>
            </a:pPr>
            <a:r>
              <a:rPr lang="en-US" sz="1500">
                <a:solidFill>
                  <a:schemeClr val="dk1"/>
                </a:solidFill>
                <a:latin typeface="Times New Roman"/>
                <a:ea typeface="Times New Roman"/>
                <a:cs typeface="Times New Roman"/>
                <a:sym typeface="Times New Roman"/>
              </a:rPr>
              <a:t>Complete coverage of printed area with safety margins</a:t>
            </a:r>
            <a:endParaRPr sz="1500">
              <a:solidFill>
                <a:schemeClr val="dk1"/>
              </a:solidFill>
              <a:latin typeface="Times New Roman"/>
              <a:ea typeface="Times New Roman"/>
              <a:cs typeface="Times New Roman"/>
              <a:sym typeface="Times New Roman"/>
            </a:endParaRPr>
          </a:p>
          <a:p>
            <a:pPr indent="-323850" lvl="0" marL="457200" rtl="0" algn="l">
              <a:lnSpc>
                <a:spcPct val="115000"/>
              </a:lnSpc>
              <a:spcBef>
                <a:spcPts val="0"/>
              </a:spcBef>
              <a:spcAft>
                <a:spcPts val="0"/>
              </a:spcAft>
              <a:buClr>
                <a:schemeClr val="dk1"/>
              </a:buClr>
              <a:buSzPts val="1500"/>
              <a:buFont typeface="Times New Roman"/>
              <a:buChar char="●"/>
            </a:pPr>
            <a:r>
              <a:rPr lang="en-US" sz="1500">
                <a:solidFill>
                  <a:schemeClr val="dk1"/>
                </a:solidFill>
                <a:latin typeface="Times New Roman"/>
                <a:ea typeface="Times New Roman"/>
                <a:cs typeface="Times New Roman"/>
                <a:sym typeface="Times New Roman"/>
              </a:rPr>
              <a:t>Two-phase Z movement for collision prevention</a:t>
            </a:r>
            <a:endParaRPr sz="1500">
              <a:solidFill>
                <a:schemeClr val="dk1"/>
              </a:solidFill>
              <a:latin typeface="Times New Roman"/>
              <a:ea typeface="Times New Roman"/>
              <a:cs typeface="Times New Roman"/>
              <a:sym typeface="Times New Roman"/>
            </a:endParaRPr>
          </a:p>
          <a:p>
            <a:pPr indent="-323850" lvl="0" marL="457200" rtl="0" algn="l">
              <a:lnSpc>
                <a:spcPct val="115000"/>
              </a:lnSpc>
              <a:spcBef>
                <a:spcPts val="0"/>
              </a:spcBef>
              <a:spcAft>
                <a:spcPts val="0"/>
              </a:spcAft>
              <a:buClr>
                <a:schemeClr val="dk1"/>
              </a:buClr>
              <a:buSzPts val="1500"/>
              <a:buFont typeface="Times New Roman"/>
              <a:buChar char="●"/>
            </a:pPr>
            <a:r>
              <a:rPr lang="en-US" sz="1500">
                <a:solidFill>
                  <a:schemeClr val="dk1"/>
                </a:solidFill>
                <a:latin typeface="Times New Roman"/>
                <a:ea typeface="Times New Roman"/>
                <a:cs typeface="Times New Roman"/>
                <a:sym typeface="Times New Roman"/>
              </a:rPr>
              <a:t>Optimized feed rates for scan quality</a:t>
            </a:r>
            <a:endParaRPr sz="1500">
              <a:solidFill>
                <a:schemeClr val="dk1"/>
              </a:solidFill>
              <a:latin typeface="Times New Roman"/>
              <a:ea typeface="Times New Roman"/>
              <a:cs typeface="Times New Roman"/>
              <a:sym typeface="Times New Roman"/>
            </a:endParaRPr>
          </a:p>
          <a:p>
            <a:pPr indent="-323850" lvl="0" marL="457200" rtl="0" algn="l">
              <a:lnSpc>
                <a:spcPct val="115000"/>
              </a:lnSpc>
              <a:spcBef>
                <a:spcPts val="0"/>
              </a:spcBef>
              <a:spcAft>
                <a:spcPts val="0"/>
              </a:spcAft>
              <a:buClr>
                <a:schemeClr val="dk1"/>
              </a:buClr>
              <a:buSzPts val="1500"/>
              <a:buFont typeface="Times New Roman"/>
              <a:buChar char="●"/>
            </a:pPr>
            <a:r>
              <a:rPr lang="en-US" sz="1500">
                <a:solidFill>
                  <a:schemeClr val="dk1"/>
                </a:solidFill>
                <a:latin typeface="Times New Roman"/>
                <a:ea typeface="Times New Roman"/>
                <a:cs typeface="Times New Roman"/>
                <a:sym typeface="Times New Roman"/>
              </a:rPr>
              <a:t>Documented G-code with comments</a:t>
            </a:r>
            <a:endParaRPr sz="1500">
              <a:solidFill>
                <a:schemeClr val="dk1"/>
              </a:solidFill>
              <a:latin typeface="Times New Roman"/>
              <a:ea typeface="Times New Roman"/>
              <a:cs typeface="Times New Roman"/>
              <a:sym typeface="Times New Roman"/>
            </a:endParaRPr>
          </a:p>
          <a:p>
            <a:pPr indent="-323850" lvl="0" marL="457200" rtl="0" algn="l">
              <a:lnSpc>
                <a:spcPct val="115000"/>
              </a:lnSpc>
              <a:spcBef>
                <a:spcPts val="0"/>
              </a:spcBef>
              <a:spcAft>
                <a:spcPts val="0"/>
              </a:spcAft>
              <a:buClr>
                <a:schemeClr val="dk1"/>
              </a:buClr>
              <a:buSzPts val="1500"/>
              <a:buFont typeface="Times New Roman"/>
              <a:buChar char="●"/>
            </a:pPr>
            <a:r>
              <a:rPr lang="en-US" sz="1500">
                <a:solidFill>
                  <a:schemeClr val="dk1"/>
                </a:solidFill>
                <a:latin typeface="Times New Roman"/>
                <a:ea typeface="Times New Roman"/>
                <a:cs typeface="Times New Roman"/>
                <a:sym typeface="Times New Roman"/>
              </a:rPr>
              <a:t>Dynamic generation based on layer geometry</a:t>
            </a:r>
            <a:endParaRPr sz="15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6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b="1" sz="1600">
              <a:solidFill>
                <a:schemeClr val="dk1"/>
              </a:solidFill>
              <a:latin typeface="Times New Roman"/>
              <a:ea typeface="Times New Roman"/>
              <a:cs typeface="Times New Roman"/>
              <a:sym typeface="Times New Roman"/>
            </a:endParaRPr>
          </a:p>
        </p:txBody>
      </p:sp>
      <p:sp>
        <p:nvSpPr>
          <p:cNvPr id="452" name="Google Shape;452;g33e27b3e0e6_0_135"/>
          <p:cNvSpPr txBox="1"/>
          <p:nvPr/>
        </p:nvSpPr>
        <p:spPr>
          <a:xfrm>
            <a:off x="171150" y="2760075"/>
            <a:ext cx="5062200" cy="1511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0"/>
              </a:spcAft>
              <a:buNone/>
            </a:pPr>
            <a:r>
              <a:rPr b="1" lang="en-US" sz="1800">
                <a:solidFill>
                  <a:schemeClr val="dk1"/>
                </a:solidFill>
                <a:latin typeface="Times New Roman"/>
                <a:ea typeface="Times New Roman"/>
                <a:cs typeface="Times New Roman"/>
                <a:sym typeface="Times New Roman"/>
              </a:rPr>
              <a:t>Path Execution:</a:t>
            </a:r>
            <a:endParaRPr b="1" sz="1800">
              <a:solidFill>
                <a:schemeClr val="dk1"/>
              </a:solidFill>
              <a:latin typeface="Times New Roman"/>
              <a:ea typeface="Times New Roman"/>
              <a:cs typeface="Times New Roman"/>
              <a:sym typeface="Times New Roman"/>
            </a:endParaRPr>
          </a:p>
          <a:p>
            <a:pPr indent="-323850" lvl="0" marL="457200" rtl="0" algn="l">
              <a:lnSpc>
                <a:spcPct val="115000"/>
              </a:lnSpc>
              <a:spcBef>
                <a:spcPts val="1800"/>
              </a:spcBef>
              <a:spcAft>
                <a:spcPts val="0"/>
              </a:spcAft>
              <a:buClr>
                <a:schemeClr val="dk1"/>
              </a:buClr>
              <a:buSzPts val="1500"/>
              <a:buFont typeface="Times New Roman"/>
              <a:buChar char="●"/>
            </a:pPr>
            <a:r>
              <a:rPr lang="en-US" sz="1500">
                <a:solidFill>
                  <a:schemeClr val="dk1"/>
                </a:solidFill>
                <a:latin typeface="Times New Roman"/>
                <a:ea typeface="Times New Roman"/>
                <a:cs typeface="Times New Roman"/>
                <a:sym typeface="Times New Roman"/>
              </a:rPr>
              <a:t>Coordinated with threading model</a:t>
            </a:r>
            <a:endParaRPr sz="1500">
              <a:solidFill>
                <a:schemeClr val="dk1"/>
              </a:solidFill>
              <a:latin typeface="Times New Roman"/>
              <a:ea typeface="Times New Roman"/>
              <a:cs typeface="Times New Roman"/>
              <a:sym typeface="Times New Roman"/>
            </a:endParaRPr>
          </a:p>
          <a:p>
            <a:pPr indent="-323850" lvl="0" marL="457200" rtl="0" algn="l">
              <a:lnSpc>
                <a:spcPct val="115000"/>
              </a:lnSpc>
              <a:spcBef>
                <a:spcPts val="0"/>
              </a:spcBef>
              <a:spcAft>
                <a:spcPts val="0"/>
              </a:spcAft>
              <a:buClr>
                <a:schemeClr val="dk1"/>
              </a:buClr>
              <a:buSzPts val="1500"/>
              <a:buFont typeface="Times New Roman"/>
              <a:buChar char="●"/>
            </a:pPr>
            <a:r>
              <a:rPr lang="en-US" sz="1500">
                <a:solidFill>
                  <a:schemeClr val="dk1"/>
                </a:solidFill>
                <a:latin typeface="Times New Roman"/>
                <a:ea typeface="Times New Roman"/>
                <a:cs typeface="Times New Roman"/>
                <a:sym typeface="Times New Roman"/>
              </a:rPr>
              <a:t>Real-time data collection during movement</a:t>
            </a:r>
            <a:endParaRPr sz="1500">
              <a:solidFill>
                <a:schemeClr val="dk1"/>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1"/>
              </a:buClr>
              <a:buSzPts val="1600"/>
              <a:buFont typeface="Times New Roman"/>
              <a:buChar char="●"/>
            </a:pPr>
            <a:r>
              <a:rPr lang="en-US" sz="1500">
                <a:solidFill>
                  <a:schemeClr val="dk1"/>
                </a:solidFill>
                <a:latin typeface="Times New Roman"/>
                <a:ea typeface="Times New Roman"/>
                <a:cs typeface="Times New Roman"/>
                <a:sym typeface="Times New Roman"/>
              </a:rPr>
              <a:t>Safe positioning before and after scanning</a:t>
            </a:r>
            <a:r>
              <a:rPr lang="en-US" sz="1600">
                <a:solidFill>
                  <a:schemeClr val="dk1"/>
                </a:solidFill>
                <a:latin typeface="Times New Roman"/>
                <a:ea typeface="Times New Roman"/>
                <a:cs typeface="Times New Roman"/>
                <a:sym typeface="Times New Roman"/>
              </a:rPr>
              <a:t> </a:t>
            </a:r>
            <a:endParaRPr sz="1600">
              <a:solidFill>
                <a:schemeClr val="dk1"/>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g33e27b3e0e6_0_176"/>
          <p:cNvSpPr/>
          <p:nvPr/>
        </p:nvSpPr>
        <p:spPr>
          <a:xfrm>
            <a:off x="1329635" y="-1472"/>
            <a:ext cx="10862400" cy="452100"/>
          </a:xfrm>
          <a:prstGeom prst="rect">
            <a:avLst/>
          </a:prstGeom>
          <a:solidFill>
            <a:srgbClr val="002060"/>
          </a:solidFill>
          <a:ln>
            <a:noFill/>
          </a:ln>
        </p:spPr>
        <p:txBody>
          <a:bodyPr anchorCtr="0" anchor="ctr" bIns="21400" lIns="42825" spcFirstLastPara="1" rIns="42825" wrap="square" tIns="21400">
            <a:noAutofit/>
          </a:bodyPr>
          <a:lstStyle/>
          <a:p>
            <a:pPr indent="0" lvl="0" marL="0" marR="0" rtl="0" algn="l">
              <a:lnSpc>
                <a:spcPct val="100000"/>
              </a:lnSpc>
              <a:spcBef>
                <a:spcPts val="0"/>
              </a:spcBef>
              <a:spcAft>
                <a:spcPts val="0"/>
              </a:spcAft>
              <a:buClr>
                <a:srgbClr val="000000"/>
              </a:buClr>
              <a:buSzPts val="294"/>
              <a:buFont typeface="Arial"/>
              <a:buNone/>
            </a:pPr>
            <a:r>
              <a:rPr b="1" lang="en-US" sz="1800">
                <a:solidFill>
                  <a:srgbClr val="FFFFFF"/>
                </a:solidFill>
                <a:latin typeface="Times New Roman"/>
                <a:ea typeface="Times New Roman"/>
                <a:cs typeface="Times New Roman"/>
                <a:sym typeface="Times New Roman"/>
              </a:rPr>
              <a:t>G Code Modification for Adaptive Control</a:t>
            </a:r>
            <a:endParaRPr b="1" sz="1800" u="none" cap="none" strike="noStrike">
              <a:solidFill>
                <a:srgbClr val="FFFFFF"/>
              </a:solidFill>
              <a:latin typeface="Times New Roman"/>
              <a:ea typeface="Times New Roman"/>
              <a:cs typeface="Times New Roman"/>
              <a:sym typeface="Times New Roman"/>
            </a:endParaRPr>
          </a:p>
        </p:txBody>
      </p:sp>
      <p:sp>
        <p:nvSpPr>
          <p:cNvPr id="459" name="Google Shape;459;g33e27b3e0e6_0_176"/>
          <p:cNvSpPr/>
          <p:nvPr/>
        </p:nvSpPr>
        <p:spPr>
          <a:xfrm>
            <a:off x="1329635" y="6597352"/>
            <a:ext cx="10862400" cy="260700"/>
          </a:xfrm>
          <a:prstGeom prst="rect">
            <a:avLst/>
          </a:prstGeom>
          <a:solidFill>
            <a:srgbClr val="002060"/>
          </a:solidFill>
          <a:ln>
            <a:noFill/>
          </a:ln>
        </p:spPr>
        <p:txBody>
          <a:bodyPr anchorCtr="0" anchor="ctr" bIns="21400" lIns="42825" spcFirstLastPara="1" rIns="42825" wrap="square" tIns="21400">
            <a:noAutofit/>
          </a:bodyPr>
          <a:lstStyle/>
          <a:p>
            <a:pPr indent="0" lvl="0" marL="0" marR="0" rtl="0" algn="l">
              <a:lnSpc>
                <a:spcPct val="100000"/>
              </a:lnSpc>
              <a:spcBef>
                <a:spcPts val="0"/>
              </a:spcBef>
              <a:spcAft>
                <a:spcPts val="0"/>
              </a:spcAft>
              <a:buClr>
                <a:srgbClr val="000000"/>
              </a:buClr>
              <a:buSzPts val="294"/>
              <a:buFont typeface="Arial"/>
              <a:buNone/>
            </a:pPr>
            <a:r>
              <a:t/>
            </a:r>
            <a:endParaRPr b="1" i="1" sz="294" u="none" cap="none" strike="noStrike">
              <a:solidFill>
                <a:srgbClr val="FFFFFF"/>
              </a:solidFill>
              <a:latin typeface="Calibri"/>
              <a:ea typeface="Calibri"/>
              <a:cs typeface="Calibri"/>
              <a:sym typeface="Calibri"/>
            </a:endParaRPr>
          </a:p>
        </p:txBody>
      </p:sp>
      <p:sp>
        <p:nvSpPr>
          <p:cNvPr id="460" name="Google Shape;460;g33e27b3e0e6_0_176"/>
          <p:cNvSpPr txBox="1"/>
          <p:nvPr>
            <p:ph idx="12" type="sldNum"/>
          </p:nvPr>
        </p:nvSpPr>
        <p:spPr>
          <a:xfrm>
            <a:off x="11386491" y="6556449"/>
            <a:ext cx="639600" cy="3267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sz="1800">
                <a:solidFill>
                  <a:schemeClr val="lt1"/>
                </a:solidFill>
              </a:rPr>
              <a:t>‹#›</a:t>
            </a:fld>
            <a:endParaRPr sz="1931">
              <a:solidFill>
                <a:schemeClr val="lt1"/>
              </a:solidFill>
            </a:endParaRPr>
          </a:p>
        </p:txBody>
      </p:sp>
      <p:sp>
        <p:nvSpPr>
          <p:cNvPr id="461" name="Google Shape;461;g33e27b3e0e6_0_176"/>
          <p:cNvSpPr/>
          <p:nvPr/>
        </p:nvSpPr>
        <p:spPr>
          <a:xfrm>
            <a:off x="3615675" y="-1475"/>
            <a:ext cx="4154700" cy="535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1" i="0" sz="1500" u="none" cap="none" strike="noStrike">
              <a:solidFill>
                <a:srgbClr val="000000"/>
              </a:solidFill>
              <a:latin typeface="Times New Roman"/>
              <a:ea typeface="Times New Roman"/>
              <a:cs typeface="Times New Roman"/>
              <a:sym typeface="Times New Roman"/>
            </a:endParaRPr>
          </a:p>
        </p:txBody>
      </p:sp>
      <p:sp>
        <p:nvSpPr>
          <p:cNvPr id="462" name="Google Shape;462;g33e27b3e0e6_0_176"/>
          <p:cNvSpPr/>
          <p:nvPr/>
        </p:nvSpPr>
        <p:spPr>
          <a:xfrm>
            <a:off x="0" y="-1472"/>
            <a:ext cx="1329600" cy="452100"/>
          </a:xfrm>
          <a:prstGeom prst="rect">
            <a:avLst/>
          </a:prstGeom>
          <a:solidFill>
            <a:srgbClr val="C000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00"/>
              <a:buFont typeface="Arial"/>
              <a:buNone/>
            </a:pPr>
            <a:r>
              <a:rPr b="1" lang="en-US">
                <a:solidFill>
                  <a:schemeClr val="dk1"/>
                </a:solidFill>
              </a:rPr>
              <a:t>ECSE 695</a:t>
            </a:r>
            <a:endParaRPr b="1" i="0" sz="1400" u="none" cap="none" strike="noStrike">
              <a:solidFill>
                <a:schemeClr val="dk1"/>
              </a:solidFill>
              <a:latin typeface="Arial"/>
              <a:ea typeface="Arial"/>
              <a:cs typeface="Arial"/>
              <a:sym typeface="Arial"/>
            </a:endParaRPr>
          </a:p>
        </p:txBody>
      </p:sp>
      <p:sp>
        <p:nvSpPr>
          <p:cNvPr id="463" name="Google Shape;463;g33e27b3e0e6_0_176"/>
          <p:cNvSpPr txBox="1"/>
          <p:nvPr/>
        </p:nvSpPr>
        <p:spPr>
          <a:xfrm>
            <a:off x="0" y="855128"/>
            <a:ext cx="7506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p:txBody>
      </p:sp>
      <p:pic>
        <p:nvPicPr>
          <p:cNvPr descr="A blue letter with white background&#10;&#10;Description automatically generated" id="464" name="Google Shape;464;g33e27b3e0e6_0_176"/>
          <p:cNvPicPr preferRelativeResize="0"/>
          <p:nvPr/>
        </p:nvPicPr>
        <p:blipFill rotWithShape="1">
          <a:blip r:embed="rId3">
            <a:alphaModFix/>
          </a:blip>
          <a:srcRect b="0" l="0" r="0" t="0"/>
          <a:stretch/>
        </p:blipFill>
        <p:spPr>
          <a:xfrm>
            <a:off x="0" y="6597352"/>
            <a:ext cx="1329635" cy="260648"/>
          </a:xfrm>
          <a:prstGeom prst="rect">
            <a:avLst/>
          </a:prstGeom>
          <a:noFill/>
          <a:ln>
            <a:noFill/>
          </a:ln>
        </p:spPr>
      </p:pic>
      <p:sp>
        <p:nvSpPr>
          <p:cNvPr id="465" name="Google Shape;465;g33e27b3e0e6_0_176"/>
          <p:cNvSpPr txBox="1"/>
          <p:nvPr/>
        </p:nvSpPr>
        <p:spPr>
          <a:xfrm>
            <a:off x="8022596" y="6222504"/>
            <a:ext cx="4079700" cy="307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t/>
            </a:r>
            <a:endParaRPr b="0" i="0" sz="1400" u="none" cap="none" strike="noStrike">
              <a:solidFill>
                <a:srgbClr val="000000"/>
              </a:solidFill>
              <a:latin typeface="Arial"/>
              <a:ea typeface="Arial"/>
              <a:cs typeface="Arial"/>
              <a:sym typeface="Arial"/>
            </a:endParaRPr>
          </a:p>
        </p:txBody>
      </p:sp>
      <p:sp>
        <p:nvSpPr>
          <p:cNvPr id="466" name="Google Shape;466;g33e27b3e0e6_0_176"/>
          <p:cNvSpPr txBox="1"/>
          <p:nvPr/>
        </p:nvSpPr>
        <p:spPr>
          <a:xfrm>
            <a:off x="7882801" y="533746"/>
            <a:ext cx="37719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t/>
            </a:r>
            <a:endParaRPr b="1"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C00000"/>
              </a:solidFill>
              <a:latin typeface="Arial"/>
              <a:ea typeface="Arial"/>
              <a:cs typeface="Arial"/>
              <a:sym typeface="Arial"/>
            </a:endParaRPr>
          </a:p>
        </p:txBody>
      </p:sp>
      <p:sp>
        <p:nvSpPr>
          <p:cNvPr id="467" name="Google Shape;467;g33e27b3e0e6_0_176"/>
          <p:cNvSpPr txBox="1"/>
          <p:nvPr/>
        </p:nvSpPr>
        <p:spPr>
          <a:xfrm>
            <a:off x="79000" y="450625"/>
            <a:ext cx="9950100" cy="1201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t/>
            </a:r>
            <a:endParaRPr b="1" sz="1100">
              <a:solidFill>
                <a:schemeClr val="dk1"/>
              </a:solidFill>
            </a:endParaRPr>
          </a:p>
          <a:p>
            <a:pPr indent="0" lvl="0" marL="0" rtl="0" algn="l">
              <a:lnSpc>
                <a:spcPct val="115000"/>
              </a:lnSpc>
              <a:spcBef>
                <a:spcPts val="1200"/>
              </a:spcBef>
              <a:spcAft>
                <a:spcPts val="0"/>
              </a:spcAft>
              <a:buNone/>
            </a:pPr>
            <a:r>
              <a:t/>
            </a:r>
            <a:endParaRPr b="1">
              <a:solidFill>
                <a:schemeClr val="dk1"/>
              </a:solidFill>
              <a:latin typeface="Times New Roman"/>
              <a:ea typeface="Times New Roman"/>
              <a:cs typeface="Times New Roman"/>
              <a:sym typeface="Times New Roman"/>
            </a:endParaRPr>
          </a:p>
          <a:p>
            <a:pPr indent="0" lvl="0" marL="0" rtl="0" algn="l">
              <a:lnSpc>
                <a:spcPct val="115000"/>
              </a:lnSpc>
              <a:spcBef>
                <a:spcPts val="1600"/>
              </a:spcBef>
              <a:spcAft>
                <a:spcPts val="1600"/>
              </a:spcAft>
              <a:buNone/>
            </a:pPr>
            <a:r>
              <a:t/>
            </a:r>
            <a:endParaRPr>
              <a:solidFill>
                <a:schemeClr val="dk1"/>
              </a:solidFill>
              <a:latin typeface="Times New Roman"/>
              <a:ea typeface="Times New Roman"/>
              <a:cs typeface="Times New Roman"/>
              <a:sym typeface="Times New Roman"/>
            </a:endParaRPr>
          </a:p>
        </p:txBody>
      </p:sp>
      <p:sp>
        <p:nvSpPr>
          <p:cNvPr id="468" name="Google Shape;468;g33e27b3e0e6_0_176"/>
          <p:cNvSpPr txBox="1"/>
          <p:nvPr/>
        </p:nvSpPr>
        <p:spPr>
          <a:xfrm>
            <a:off x="8134650" y="5405375"/>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469" name="Google Shape;469;g33e27b3e0e6_0_176"/>
          <p:cNvSpPr txBox="1"/>
          <p:nvPr/>
        </p:nvSpPr>
        <p:spPr>
          <a:xfrm>
            <a:off x="0" y="450625"/>
            <a:ext cx="3000000" cy="369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1800"/>
              </a:spcAft>
              <a:buNone/>
            </a:pPr>
            <a:r>
              <a:t/>
            </a:r>
            <a:endParaRPr sz="1200">
              <a:solidFill>
                <a:schemeClr val="dk1"/>
              </a:solidFill>
              <a:latin typeface="Times New Roman"/>
              <a:ea typeface="Times New Roman"/>
              <a:cs typeface="Times New Roman"/>
              <a:sym typeface="Times New Roman"/>
            </a:endParaRPr>
          </a:p>
        </p:txBody>
      </p:sp>
      <p:sp>
        <p:nvSpPr>
          <p:cNvPr id="470" name="Google Shape;470;g33e27b3e0e6_0_176"/>
          <p:cNvSpPr txBox="1"/>
          <p:nvPr/>
        </p:nvSpPr>
        <p:spPr>
          <a:xfrm>
            <a:off x="34300" y="581975"/>
            <a:ext cx="10039500" cy="2093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US" sz="1600">
                <a:solidFill>
                  <a:schemeClr val="dk1"/>
                </a:solidFill>
                <a:latin typeface="Times New Roman"/>
                <a:ea typeface="Times New Roman"/>
                <a:cs typeface="Times New Roman"/>
                <a:sym typeface="Times New Roman"/>
              </a:rPr>
              <a:t>Key Features:</a:t>
            </a:r>
            <a:endParaRPr b="1" sz="1600">
              <a:solidFill>
                <a:schemeClr val="dk1"/>
              </a:solidFill>
              <a:latin typeface="Times New Roman"/>
              <a:ea typeface="Times New Roman"/>
              <a:cs typeface="Times New Roman"/>
              <a:sym typeface="Times New Roman"/>
            </a:endParaRPr>
          </a:p>
          <a:p>
            <a:pPr indent="-330200" lvl="0" marL="457200" rtl="0" algn="l">
              <a:lnSpc>
                <a:spcPct val="115000"/>
              </a:lnSpc>
              <a:spcBef>
                <a:spcPts val="120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Precise Z-height correction with 0.001mm resolution</a:t>
            </a:r>
            <a:endParaRPr sz="1600">
              <a:solidFill>
                <a:schemeClr val="dk1"/>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Preservation of non-Z command parameters</a:t>
            </a:r>
            <a:endParaRPr sz="1600">
              <a:solidFill>
                <a:schemeClr val="dk1"/>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Safety limits to prevent machine errors</a:t>
            </a:r>
            <a:endParaRPr sz="1600">
              <a:solidFill>
                <a:schemeClr val="dk1"/>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Maintenance of G-code structure and comments </a:t>
            </a:r>
            <a:endParaRPr sz="16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200">
              <a:solidFill>
                <a:schemeClr val="dk1"/>
              </a:solidFill>
              <a:latin typeface="Times New Roman"/>
              <a:ea typeface="Times New Roman"/>
              <a:cs typeface="Times New Roman"/>
              <a:sym typeface="Times New Roman"/>
            </a:endParaRPr>
          </a:p>
        </p:txBody>
      </p:sp>
      <p:sp>
        <p:nvSpPr>
          <p:cNvPr id="471" name="Google Shape;471;g33e27b3e0e6_0_176"/>
          <p:cNvSpPr txBox="1"/>
          <p:nvPr/>
        </p:nvSpPr>
        <p:spPr>
          <a:xfrm>
            <a:off x="171150" y="2760075"/>
            <a:ext cx="5062200" cy="431100"/>
          </a:xfrm>
          <a:prstGeom prst="rect">
            <a:avLst/>
          </a:prstGeom>
          <a:noFill/>
          <a:ln>
            <a:noFill/>
          </a:ln>
        </p:spPr>
        <p:txBody>
          <a:bodyPr anchorCtr="0" anchor="t" bIns="91425" lIns="91425" spcFirstLastPara="1" rIns="91425" wrap="square" tIns="91425">
            <a:spAutoFit/>
          </a:bodyPr>
          <a:lstStyle/>
          <a:p>
            <a:pPr indent="0" lvl="0" marL="457200" rtl="0" algn="l">
              <a:lnSpc>
                <a:spcPct val="115000"/>
              </a:lnSpc>
              <a:spcBef>
                <a:spcPts val="1800"/>
              </a:spcBef>
              <a:spcAft>
                <a:spcPts val="1800"/>
              </a:spcAft>
              <a:buNone/>
            </a:pPr>
            <a:r>
              <a:t/>
            </a:r>
            <a:endParaRPr sz="1600">
              <a:solidFill>
                <a:schemeClr val="dk1"/>
              </a:solidFill>
              <a:latin typeface="Times New Roman"/>
              <a:ea typeface="Times New Roman"/>
              <a:cs typeface="Times New Roman"/>
              <a:sym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g33e27b3e0e6_0_203"/>
          <p:cNvSpPr/>
          <p:nvPr/>
        </p:nvSpPr>
        <p:spPr>
          <a:xfrm>
            <a:off x="1329635" y="-1472"/>
            <a:ext cx="10862400" cy="452100"/>
          </a:xfrm>
          <a:prstGeom prst="rect">
            <a:avLst/>
          </a:prstGeom>
          <a:solidFill>
            <a:srgbClr val="002060"/>
          </a:solidFill>
          <a:ln>
            <a:noFill/>
          </a:ln>
        </p:spPr>
        <p:txBody>
          <a:bodyPr anchorCtr="0" anchor="ctr" bIns="21400" lIns="42825" spcFirstLastPara="1" rIns="42825" wrap="square" tIns="21400">
            <a:noAutofit/>
          </a:bodyPr>
          <a:lstStyle/>
          <a:p>
            <a:pPr indent="0" lvl="0" marL="0" rtl="0" algn="l">
              <a:spcBef>
                <a:spcPts val="0"/>
              </a:spcBef>
              <a:spcAft>
                <a:spcPts val="0"/>
              </a:spcAft>
              <a:buClr>
                <a:schemeClr val="dk1"/>
              </a:buClr>
              <a:buSzPts val="1100"/>
              <a:buFont typeface="Arial"/>
              <a:buNone/>
            </a:pPr>
            <a:r>
              <a:t/>
            </a:r>
            <a:endParaRPr b="1" sz="1700">
              <a:solidFill>
                <a:schemeClr val="lt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b="1" lang="en-US" sz="1700">
                <a:solidFill>
                  <a:schemeClr val="lt1"/>
                </a:solidFill>
                <a:latin typeface="Times New Roman"/>
                <a:ea typeface="Times New Roman"/>
                <a:cs typeface="Times New Roman"/>
                <a:sym typeface="Times New Roman"/>
              </a:rPr>
              <a:t>System Integration Challenges &amp; Solutions</a:t>
            </a:r>
            <a:br>
              <a:rPr b="1" lang="en-US" sz="1700">
                <a:solidFill>
                  <a:schemeClr val="lt1"/>
                </a:solidFill>
                <a:latin typeface="Times New Roman"/>
                <a:ea typeface="Times New Roman"/>
                <a:cs typeface="Times New Roman"/>
                <a:sym typeface="Times New Roman"/>
              </a:rPr>
            </a:br>
            <a:endParaRPr b="1" sz="1700">
              <a:solidFill>
                <a:schemeClr val="lt1"/>
              </a:solidFill>
              <a:latin typeface="Times New Roman"/>
              <a:ea typeface="Times New Roman"/>
              <a:cs typeface="Times New Roman"/>
              <a:sym typeface="Times New Roman"/>
            </a:endParaRPr>
          </a:p>
          <a:p>
            <a:pPr indent="0" lvl="0" marL="0" rtl="0" algn="l">
              <a:spcBef>
                <a:spcPts val="0"/>
              </a:spcBef>
              <a:spcAft>
                <a:spcPts val="0"/>
              </a:spcAft>
              <a:buClr>
                <a:srgbClr val="000000"/>
              </a:buClr>
              <a:buSzPts val="294"/>
              <a:buFont typeface="Arial"/>
              <a:buNone/>
            </a:pPr>
            <a:r>
              <a:t/>
            </a:r>
            <a:endParaRPr/>
          </a:p>
        </p:txBody>
      </p:sp>
      <p:sp>
        <p:nvSpPr>
          <p:cNvPr id="478" name="Google Shape;478;g33e27b3e0e6_0_203"/>
          <p:cNvSpPr/>
          <p:nvPr/>
        </p:nvSpPr>
        <p:spPr>
          <a:xfrm>
            <a:off x="1329635" y="6597352"/>
            <a:ext cx="10862400" cy="260700"/>
          </a:xfrm>
          <a:prstGeom prst="rect">
            <a:avLst/>
          </a:prstGeom>
          <a:solidFill>
            <a:srgbClr val="002060"/>
          </a:solidFill>
          <a:ln>
            <a:noFill/>
          </a:ln>
        </p:spPr>
        <p:txBody>
          <a:bodyPr anchorCtr="0" anchor="ctr" bIns="21400" lIns="42825" spcFirstLastPara="1" rIns="42825" wrap="square" tIns="21400">
            <a:noAutofit/>
          </a:bodyPr>
          <a:lstStyle/>
          <a:p>
            <a:pPr indent="0" lvl="0" marL="0" marR="0" rtl="0" algn="l">
              <a:lnSpc>
                <a:spcPct val="100000"/>
              </a:lnSpc>
              <a:spcBef>
                <a:spcPts val="0"/>
              </a:spcBef>
              <a:spcAft>
                <a:spcPts val="0"/>
              </a:spcAft>
              <a:buClr>
                <a:srgbClr val="000000"/>
              </a:buClr>
              <a:buSzPts val="294"/>
              <a:buFont typeface="Arial"/>
              <a:buNone/>
            </a:pPr>
            <a:r>
              <a:t/>
            </a:r>
            <a:endParaRPr b="1" i="1" sz="294" u="none" cap="none" strike="noStrike">
              <a:solidFill>
                <a:srgbClr val="FFFFFF"/>
              </a:solidFill>
              <a:latin typeface="Calibri"/>
              <a:ea typeface="Calibri"/>
              <a:cs typeface="Calibri"/>
              <a:sym typeface="Calibri"/>
            </a:endParaRPr>
          </a:p>
        </p:txBody>
      </p:sp>
      <p:sp>
        <p:nvSpPr>
          <p:cNvPr id="479" name="Google Shape;479;g33e27b3e0e6_0_203"/>
          <p:cNvSpPr txBox="1"/>
          <p:nvPr>
            <p:ph idx="12" type="sldNum"/>
          </p:nvPr>
        </p:nvSpPr>
        <p:spPr>
          <a:xfrm>
            <a:off x="11386491" y="6556449"/>
            <a:ext cx="639600" cy="3267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sz="1800">
                <a:solidFill>
                  <a:schemeClr val="lt1"/>
                </a:solidFill>
              </a:rPr>
              <a:t>‹#›</a:t>
            </a:fld>
            <a:endParaRPr sz="1931">
              <a:solidFill>
                <a:schemeClr val="lt1"/>
              </a:solidFill>
            </a:endParaRPr>
          </a:p>
        </p:txBody>
      </p:sp>
      <p:sp>
        <p:nvSpPr>
          <p:cNvPr id="480" name="Google Shape;480;g33e27b3e0e6_0_203"/>
          <p:cNvSpPr/>
          <p:nvPr/>
        </p:nvSpPr>
        <p:spPr>
          <a:xfrm>
            <a:off x="3615675" y="-1475"/>
            <a:ext cx="4154700" cy="535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1" i="0" sz="1500" u="none" cap="none" strike="noStrike">
              <a:solidFill>
                <a:srgbClr val="000000"/>
              </a:solidFill>
              <a:latin typeface="Times New Roman"/>
              <a:ea typeface="Times New Roman"/>
              <a:cs typeface="Times New Roman"/>
              <a:sym typeface="Times New Roman"/>
            </a:endParaRPr>
          </a:p>
        </p:txBody>
      </p:sp>
      <p:sp>
        <p:nvSpPr>
          <p:cNvPr id="481" name="Google Shape;481;g33e27b3e0e6_0_203"/>
          <p:cNvSpPr/>
          <p:nvPr/>
        </p:nvSpPr>
        <p:spPr>
          <a:xfrm>
            <a:off x="0" y="-1472"/>
            <a:ext cx="1329600" cy="452100"/>
          </a:xfrm>
          <a:prstGeom prst="rect">
            <a:avLst/>
          </a:prstGeom>
          <a:solidFill>
            <a:srgbClr val="C000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00"/>
              <a:buFont typeface="Arial"/>
              <a:buNone/>
            </a:pPr>
            <a:r>
              <a:rPr b="1" lang="en-US">
                <a:solidFill>
                  <a:schemeClr val="dk1"/>
                </a:solidFill>
              </a:rPr>
              <a:t>ECSE 695</a:t>
            </a:r>
            <a:endParaRPr b="1" i="0" sz="1400" u="none" cap="none" strike="noStrike">
              <a:solidFill>
                <a:schemeClr val="dk1"/>
              </a:solidFill>
              <a:latin typeface="Arial"/>
              <a:ea typeface="Arial"/>
              <a:cs typeface="Arial"/>
              <a:sym typeface="Arial"/>
            </a:endParaRPr>
          </a:p>
        </p:txBody>
      </p:sp>
      <p:sp>
        <p:nvSpPr>
          <p:cNvPr id="482" name="Google Shape;482;g33e27b3e0e6_0_203"/>
          <p:cNvSpPr txBox="1"/>
          <p:nvPr/>
        </p:nvSpPr>
        <p:spPr>
          <a:xfrm>
            <a:off x="0" y="855128"/>
            <a:ext cx="7506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p:txBody>
      </p:sp>
      <p:pic>
        <p:nvPicPr>
          <p:cNvPr descr="A blue letter with white background&#10;&#10;Description automatically generated" id="483" name="Google Shape;483;g33e27b3e0e6_0_203"/>
          <p:cNvPicPr preferRelativeResize="0"/>
          <p:nvPr/>
        </p:nvPicPr>
        <p:blipFill rotWithShape="1">
          <a:blip r:embed="rId3">
            <a:alphaModFix/>
          </a:blip>
          <a:srcRect b="0" l="0" r="0" t="0"/>
          <a:stretch/>
        </p:blipFill>
        <p:spPr>
          <a:xfrm>
            <a:off x="0" y="6597352"/>
            <a:ext cx="1329635" cy="260648"/>
          </a:xfrm>
          <a:prstGeom prst="rect">
            <a:avLst/>
          </a:prstGeom>
          <a:noFill/>
          <a:ln>
            <a:noFill/>
          </a:ln>
        </p:spPr>
      </p:pic>
      <p:sp>
        <p:nvSpPr>
          <p:cNvPr id="484" name="Google Shape;484;g33e27b3e0e6_0_203"/>
          <p:cNvSpPr txBox="1"/>
          <p:nvPr/>
        </p:nvSpPr>
        <p:spPr>
          <a:xfrm>
            <a:off x="8022596" y="6222504"/>
            <a:ext cx="4079700" cy="307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t/>
            </a:r>
            <a:endParaRPr b="0" i="0" sz="1400" u="none" cap="none" strike="noStrike">
              <a:solidFill>
                <a:srgbClr val="000000"/>
              </a:solidFill>
              <a:latin typeface="Arial"/>
              <a:ea typeface="Arial"/>
              <a:cs typeface="Arial"/>
              <a:sym typeface="Arial"/>
            </a:endParaRPr>
          </a:p>
        </p:txBody>
      </p:sp>
      <p:sp>
        <p:nvSpPr>
          <p:cNvPr id="485" name="Google Shape;485;g33e27b3e0e6_0_203"/>
          <p:cNvSpPr txBox="1"/>
          <p:nvPr/>
        </p:nvSpPr>
        <p:spPr>
          <a:xfrm>
            <a:off x="7882801" y="533746"/>
            <a:ext cx="37719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t/>
            </a:r>
            <a:endParaRPr b="1"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C00000"/>
              </a:solidFill>
              <a:latin typeface="Arial"/>
              <a:ea typeface="Arial"/>
              <a:cs typeface="Arial"/>
              <a:sym typeface="Arial"/>
            </a:endParaRPr>
          </a:p>
        </p:txBody>
      </p:sp>
      <p:sp>
        <p:nvSpPr>
          <p:cNvPr id="486" name="Google Shape;486;g33e27b3e0e6_0_203"/>
          <p:cNvSpPr txBox="1"/>
          <p:nvPr/>
        </p:nvSpPr>
        <p:spPr>
          <a:xfrm>
            <a:off x="79000" y="450625"/>
            <a:ext cx="9950100" cy="1201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t/>
            </a:r>
            <a:endParaRPr b="1" sz="1100">
              <a:solidFill>
                <a:schemeClr val="dk1"/>
              </a:solidFill>
            </a:endParaRPr>
          </a:p>
          <a:p>
            <a:pPr indent="0" lvl="0" marL="0" rtl="0" algn="l">
              <a:lnSpc>
                <a:spcPct val="115000"/>
              </a:lnSpc>
              <a:spcBef>
                <a:spcPts val="1200"/>
              </a:spcBef>
              <a:spcAft>
                <a:spcPts val="0"/>
              </a:spcAft>
              <a:buNone/>
            </a:pPr>
            <a:r>
              <a:t/>
            </a:r>
            <a:endParaRPr b="1">
              <a:solidFill>
                <a:schemeClr val="dk1"/>
              </a:solidFill>
              <a:latin typeface="Times New Roman"/>
              <a:ea typeface="Times New Roman"/>
              <a:cs typeface="Times New Roman"/>
              <a:sym typeface="Times New Roman"/>
            </a:endParaRPr>
          </a:p>
          <a:p>
            <a:pPr indent="0" lvl="0" marL="0" rtl="0" algn="l">
              <a:lnSpc>
                <a:spcPct val="115000"/>
              </a:lnSpc>
              <a:spcBef>
                <a:spcPts val="1600"/>
              </a:spcBef>
              <a:spcAft>
                <a:spcPts val="1600"/>
              </a:spcAft>
              <a:buNone/>
            </a:pPr>
            <a:r>
              <a:t/>
            </a:r>
            <a:endParaRPr>
              <a:solidFill>
                <a:schemeClr val="dk1"/>
              </a:solidFill>
              <a:latin typeface="Times New Roman"/>
              <a:ea typeface="Times New Roman"/>
              <a:cs typeface="Times New Roman"/>
              <a:sym typeface="Times New Roman"/>
            </a:endParaRPr>
          </a:p>
        </p:txBody>
      </p:sp>
      <p:sp>
        <p:nvSpPr>
          <p:cNvPr id="487" name="Google Shape;487;g33e27b3e0e6_0_203"/>
          <p:cNvSpPr txBox="1"/>
          <p:nvPr/>
        </p:nvSpPr>
        <p:spPr>
          <a:xfrm>
            <a:off x="8134650" y="5405375"/>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488" name="Google Shape;488;g33e27b3e0e6_0_203"/>
          <p:cNvSpPr txBox="1"/>
          <p:nvPr/>
        </p:nvSpPr>
        <p:spPr>
          <a:xfrm>
            <a:off x="0" y="450625"/>
            <a:ext cx="3000000" cy="369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1800"/>
              </a:spcAft>
              <a:buNone/>
            </a:pPr>
            <a:r>
              <a:t/>
            </a:r>
            <a:endParaRPr sz="1200">
              <a:solidFill>
                <a:schemeClr val="dk1"/>
              </a:solidFill>
              <a:latin typeface="Times New Roman"/>
              <a:ea typeface="Times New Roman"/>
              <a:cs typeface="Times New Roman"/>
              <a:sym typeface="Times New Roman"/>
            </a:endParaRPr>
          </a:p>
        </p:txBody>
      </p:sp>
      <p:sp>
        <p:nvSpPr>
          <p:cNvPr id="489" name="Google Shape;489;g33e27b3e0e6_0_203"/>
          <p:cNvSpPr txBox="1"/>
          <p:nvPr/>
        </p:nvSpPr>
        <p:spPr>
          <a:xfrm>
            <a:off x="34300" y="581975"/>
            <a:ext cx="10039500" cy="3808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700"/>
              </a:spcBef>
              <a:spcAft>
                <a:spcPts val="0"/>
              </a:spcAft>
              <a:buNone/>
            </a:pPr>
            <a:r>
              <a:rPr b="1" lang="en-US" sz="1700">
                <a:solidFill>
                  <a:schemeClr val="dk1"/>
                </a:solidFill>
                <a:latin typeface="Times New Roman"/>
                <a:ea typeface="Times New Roman"/>
                <a:cs typeface="Times New Roman"/>
                <a:sym typeface="Times New Roman"/>
              </a:rPr>
              <a:t>Laser Scanner Challenges:</a:t>
            </a:r>
            <a:endParaRPr b="1" sz="1700">
              <a:solidFill>
                <a:schemeClr val="dk1"/>
              </a:solidFill>
              <a:latin typeface="Times New Roman"/>
              <a:ea typeface="Times New Roman"/>
              <a:cs typeface="Times New Roman"/>
              <a:sym typeface="Times New Roman"/>
            </a:endParaRPr>
          </a:p>
          <a:p>
            <a:pPr indent="-336550" lvl="0" marL="457200" rtl="0" algn="l">
              <a:lnSpc>
                <a:spcPct val="115000"/>
              </a:lnSpc>
              <a:spcBef>
                <a:spcPts val="1700"/>
              </a:spcBef>
              <a:spcAft>
                <a:spcPts val="0"/>
              </a:spcAft>
              <a:buClr>
                <a:schemeClr val="dk1"/>
              </a:buClr>
              <a:buSzPts val="1700"/>
              <a:buFont typeface="Times New Roman"/>
              <a:buChar char="●"/>
            </a:pPr>
            <a:r>
              <a:rPr lang="en-US" sz="1700">
                <a:solidFill>
                  <a:schemeClr val="dk1"/>
                </a:solidFill>
                <a:latin typeface="Times New Roman"/>
                <a:ea typeface="Times New Roman"/>
                <a:cs typeface="Times New Roman"/>
                <a:sym typeface="Times New Roman"/>
              </a:rPr>
              <a:t>Data streaming buffer overflow issues</a:t>
            </a:r>
            <a:endParaRPr sz="1700">
              <a:solidFill>
                <a:schemeClr val="dk1"/>
              </a:solidFill>
              <a:latin typeface="Times New Roman"/>
              <a:ea typeface="Times New Roman"/>
              <a:cs typeface="Times New Roman"/>
              <a:sym typeface="Times New Roman"/>
            </a:endParaRPr>
          </a:p>
          <a:p>
            <a:pPr indent="-336550" lvl="0" marL="457200" rtl="0" algn="l">
              <a:lnSpc>
                <a:spcPct val="115000"/>
              </a:lnSpc>
              <a:spcBef>
                <a:spcPts val="0"/>
              </a:spcBef>
              <a:spcAft>
                <a:spcPts val="0"/>
              </a:spcAft>
              <a:buClr>
                <a:schemeClr val="dk1"/>
              </a:buClr>
              <a:buSzPts val="1700"/>
              <a:buFont typeface="Times New Roman"/>
              <a:buChar char="●"/>
            </a:pPr>
            <a:r>
              <a:rPr lang="en-US" sz="1700">
                <a:solidFill>
                  <a:schemeClr val="dk1"/>
                </a:solidFill>
                <a:latin typeface="Times New Roman"/>
                <a:ea typeface="Times New Roman"/>
                <a:cs typeface="Times New Roman"/>
                <a:sym typeface="Times New Roman"/>
              </a:rPr>
              <a:t>Initial setup with network and API</a:t>
            </a:r>
            <a:endParaRPr sz="1700">
              <a:solidFill>
                <a:schemeClr val="dk1"/>
              </a:solidFill>
              <a:latin typeface="Times New Roman"/>
              <a:ea typeface="Times New Roman"/>
              <a:cs typeface="Times New Roman"/>
              <a:sym typeface="Times New Roman"/>
            </a:endParaRPr>
          </a:p>
          <a:p>
            <a:pPr indent="-336550" lvl="0" marL="457200" rtl="0" algn="l">
              <a:lnSpc>
                <a:spcPct val="115000"/>
              </a:lnSpc>
              <a:spcBef>
                <a:spcPts val="0"/>
              </a:spcBef>
              <a:spcAft>
                <a:spcPts val="0"/>
              </a:spcAft>
              <a:buClr>
                <a:schemeClr val="dk1"/>
              </a:buClr>
              <a:buSzPts val="1700"/>
              <a:buFont typeface="Times New Roman"/>
              <a:buChar char="●"/>
            </a:pPr>
            <a:r>
              <a:rPr lang="en-US" sz="1700">
                <a:solidFill>
                  <a:schemeClr val="dk1"/>
                </a:solidFill>
                <a:latin typeface="Times New Roman"/>
                <a:ea typeface="Times New Roman"/>
                <a:cs typeface="Times New Roman"/>
                <a:sym typeface="Times New Roman"/>
              </a:rPr>
              <a:t>Verification of measurement reliability</a:t>
            </a:r>
            <a:endParaRPr sz="1700">
              <a:solidFill>
                <a:schemeClr val="dk1"/>
              </a:solidFill>
              <a:latin typeface="Times New Roman"/>
              <a:ea typeface="Times New Roman"/>
              <a:cs typeface="Times New Roman"/>
              <a:sym typeface="Times New Roman"/>
            </a:endParaRPr>
          </a:p>
          <a:p>
            <a:pPr indent="-336550" lvl="0" marL="457200" rtl="0" algn="l">
              <a:lnSpc>
                <a:spcPct val="115000"/>
              </a:lnSpc>
              <a:spcBef>
                <a:spcPts val="0"/>
              </a:spcBef>
              <a:spcAft>
                <a:spcPts val="0"/>
              </a:spcAft>
              <a:buClr>
                <a:schemeClr val="dk1"/>
              </a:buClr>
              <a:buSzPts val="1700"/>
              <a:buFont typeface="Times New Roman"/>
              <a:buChar char="●"/>
            </a:pPr>
            <a:r>
              <a:rPr lang="en-US" sz="1700">
                <a:solidFill>
                  <a:schemeClr val="dk1"/>
                </a:solidFill>
                <a:latin typeface="Times New Roman"/>
                <a:ea typeface="Times New Roman"/>
                <a:cs typeface="Times New Roman"/>
                <a:sym typeface="Times New Roman"/>
              </a:rPr>
              <a:t>Solution: Buffer clearing strategy and threading model</a:t>
            </a:r>
            <a:endParaRPr sz="1700">
              <a:solidFill>
                <a:schemeClr val="dk1"/>
              </a:solidFill>
              <a:latin typeface="Times New Roman"/>
              <a:ea typeface="Times New Roman"/>
              <a:cs typeface="Times New Roman"/>
              <a:sym typeface="Times New Roman"/>
            </a:endParaRPr>
          </a:p>
          <a:p>
            <a:pPr indent="0" lvl="0" marL="0" rtl="0" algn="l">
              <a:lnSpc>
                <a:spcPct val="115000"/>
              </a:lnSpc>
              <a:spcBef>
                <a:spcPts val="1700"/>
              </a:spcBef>
              <a:spcAft>
                <a:spcPts val="0"/>
              </a:spcAft>
              <a:buNone/>
            </a:pPr>
            <a:r>
              <a:rPr b="1" lang="en-US" sz="1700">
                <a:solidFill>
                  <a:schemeClr val="dk1"/>
                </a:solidFill>
                <a:latin typeface="Times New Roman"/>
                <a:ea typeface="Times New Roman"/>
                <a:cs typeface="Times New Roman"/>
                <a:sym typeface="Times New Roman"/>
              </a:rPr>
              <a:t>Duet Controller Communication:</a:t>
            </a:r>
            <a:endParaRPr b="1" sz="1700">
              <a:solidFill>
                <a:schemeClr val="dk1"/>
              </a:solidFill>
              <a:latin typeface="Times New Roman"/>
              <a:ea typeface="Times New Roman"/>
              <a:cs typeface="Times New Roman"/>
              <a:sym typeface="Times New Roman"/>
            </a:endParaRPr>
          </a:p>
          <a:p>
            <a:pPr indent="-336550" lvl="0" marL="457200" rtl="0" algn="l">
              <a:lnSpc>
                <a:spcPct val="115000"/>
              </a:lnSpc>
              <a:spcBef>
                <a:spcPts val="1700"/>
              </a:spcBef>
              <a:spcAft>
                <a:spcPts val="0"/>
              </a:spcAft>
              <a:buClr>
                <a:schemeClr val="dk1"/>
              </a:buClr>
              <a:buSzPts val="1700"/>
              <a:buFont typeface="Times New Roman"/>
              <a:buChar char="●"/>
            </a:pPr>
            <a:r>
              <a:rPr lang="en-US" sz="1700">
                <a:solidFill>
                  <a:schemeClr val="dk1"/>
                </a:solidFill>
                <a:latin typeface="Times New Roman"/>
                <a:ea typeface="Times New Roman"/>
                <a:cs typeface="Times New Roman"/>
                <a:sym typeface="Times New Roman"/>
              </a:rPr>
              <a:t>API limitations with status updates</a:t>
            </a:r>
            <a:endParaRPr sz="1700">
              <a:solidFill>
                <a:schemeClr val="dk1"/>
              </a:solidFill>
              <a:latin typeface="Times New Roman"/>
              <a:ea typeface="Times New Roman"/>
              <a:cs typeface="Times New Roman"/>
              <a:sym typeface="Times New Roman"/>
            </a:endParaRPr>
          </a:p>
          <a:p>
            <a:pPr indent="-336550" lvl="0" marL="457200" rtl="0" algn="l">
              <a:lnSpc>
                <a:spcPct val="115000"/>
              </a:lnSpc>
              <a:spcBef>
                <a:spcPts val="0"/>
              </a:spcBef>
              <a:spcAft>
                <a:spcPts val="0"/>
              </a:spcAft>
              <a:buClr>
                <a:schemeClr val="dk1"/>
              </a:buClr>
              <a:buSzPts val="1700"/>
              <a:buFont typeface="Times New Roman"/>
              <a:buChar char="●"/>
            </a:pPr>
            <a:r>
              <a:rPr lang="en-US" sz="1700">
                <a:solidFill>
                  <a:schemeClr val="dk1"/>
                </a:solidFill>
                <a:latin typeface="Times New Roman"/>
                <a:ea typeface="Times New Roman"/>
                <a:cs typeface="Times New Roman"/>
                <a:sym typeface="Times New Roman"/>
              </a:rPr>
              <a:t>Manual implementation of key requests</a:t>
            </a:r>
            <a:endParaRPr sz="1700">
              <a:solidFill>
                <a:schemeClr val="dk1"/>
              </a:solidFill>
              <a:latin typeface="Times New Roman"/>
              <a:ea typeface="Times New Roman"/>
              <a:cs typeface="Times New Roman"/>
              <a:sym typeface="Times New Roman"/>
            </a:endParaRPr>
          </a:p>
          <a:p>
            <a:pPr indent="-336550" lvl="0" marL="457200" rtl="0" algn="l">
              <a:lnSpc>
                <a:spcPct val="115000"/>
              </a:lnSpc>
              <a:spcBef>
                <a:spcPts val="0"/>
              </a:spcBef>
              <a:spcAft>
                <a:spcPts val="0"/>
              </a:spcAft>
              <a:buClr>
                <a:schemeClr val="dk1"/>
              </a:buClr>
              <a:buSzPts val="1700"/>
              <a:buFont typeface="Times New Roman"/>
              <a:buChar char="●"/>
            </a:pPr>
            <a:r>
              <a:rPr lang="en-US" sz="1700">
                <a:solidFill>
                  <a:schemeClr val="dk1"/>
                </a:solidFill>
                <a:latin typeface="Times New Roman"/>
                <a:ea typeface="Times New Roman"/>
                <a:cs typeface="Times New Roman"/>
                <a:sym typeface="Times New Roman"/>
              </a:rPr>
              <a:t>Empty JSON response handling</a:t>
            </a:r>
            <a:endParaRPr sz="1700">
              <a:solidFill>
                <a:schemeClr val="dk1"/>
              </a:solidFill>
              <a:latin typeface="Times New Roman"/>
              <a:ea typeface="Times New Roman"/>
              <a:cs typeface="Times New Roman"/>
              <a:sym typeface="Times New Roman"/>
            </a:endParaRPr>
          </a:p>
          <a:p>
            <a:pPr indent="-336550" lvl="0" marL="457200" rtl="0" algn="l">
              <a:lnSpc>
                <a:spcPct val="115000"/>
              </a:lnSpc>
              <a:spcBef>
                <a:spcPts val="0"/>
              </a:spcBef>
              <a:spcAft>
                <a:spcPts val="0"/>
              </a:spcAft>
              <a:buClr>
                <a:schemeClr val="dk1"/>
              </a:buClr>
              <a:buSzPts val="1700"/>
              <a:buFont typeface="Times New Roman"/>
              <a:buChar char="●"/>
            </a:pPr>
            <a:r>
              <a:rPr lang="en-US" sz="1700">
                <a:solidFill>
                  <a:schemeClr val="dk1"/>
                </a:solidFill>
                <a:latin typeface="Times New Roman"/>
                <a:ea typeface="Times New Roman"/>
                <a:cs typeface="Times New Roman"/>
                <a:sym typeface="Times New Roman"/>
              </a:rPr>
              <a:t>Solution: Custom request implementation and workarounds</a:t>
            </a:r>
            <a:endParaRPr sz="1700">
              <a:solidFill>
                <a:schemeClr val="dk1"/>
              </a:solidFill>
              <a:latin typeface="Times New Roman"/>
              <a:ea typeface="Times New Roman"/>
              <a:cs typeface="Times New Roman"/>
              <a:sym typeface="Times New Roman"/>
            </a:endParaRPr>
          </a:p>
        </p:txBody>
      </p:sp>
      <p:sp>
        <p:nvSpPr>
          <p:cNvPr id="490" name="Google Shape;490;g33e27b3e0e6_0_203"/>
          <p:cNvSpPr txBox="1"/>
          <p:nvPr/>
        </p:nvSpPr>
        <p:spPr>
          <a:xfrm>
            <a:off x="171150" y="2760075"/>
            <a:ext cx="5062200" cy="431100"/>
          </a:xfrm>
          <a:prstGeom prst="rect">
            <a:avLst/>
          </a:prstGeom>
          <a:noFill/>
          <a:ln>
            <a:noFill/>
          </a:ln>
        </p:spPr>
        <p:txBody>
          <a:bodyPr anchorCtr="0" anchor="t" bIns="91425" lIns="91425" spcFirstLastPara="1" rIns="91425" wrap="square" tIns="91425">
            <a:spAutoFit/>
          </a:bodyPr>
          <a:lstStyle/>
          <a:p>
            <a:pPr indent="0" lvl="0" marL="457200" rtl="0" algn="l">
              <a:lnSpc>
                <a:spcPct val="115000"/>
              </a:lnSpc>
              <a:spcBef>
                <a:spcPts val="1800"/>
              </a:spcBef>
              <a:spcAft>
                <a:spcPts val="1800"/>
              </a:spcAft>
              <a:buNone/>
            </a:pPr>
            <a:r>
              <a:t/>
            </a:r>
            <a:endParaRPr sz="1600">
              <a:solidFill>
                <a:schemeClr val="dk1"/>
              </a:solidFill>
              <a:latin typeface="Times New Roman"/>
              <a:ea typeface="Times New Roman"/>
              <a:cs typeface="Times New Roman"/>
              <a:sym typeface="Times New Roman"/>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g33e27b3e0e6_0_225"/>
          <p:cNvSpPr/>
          <p:nvPr/>
        </p:nvSpPr>
        <p:spPr>
          <a:xfrm>
            <a:off x="1329635" y="-1472"/>
            <a:ext cx="10862400" cy="452100"/>
          </a:xfrm>
          <a:prstGeom prst="rect">
            <a:avLst/>
          </a:prstGeom>
          <a:solidFill>
            <a:srgbClr val="002060"/>
          </a:solidFill>
          <a:ln>
            <a:noFill/>
          </a:ln>
        </p:spPr>
        <p:txBody>
          <a:bodyPr anchorCtr="0" anchor="ctr" bIns="21400" lIns="42825" spcFirstLastPara="1" rIns="42825" wrap="square" tIns="21400">
            <a:noAutofit/>
          </a:bodyPr>
          <a:lstStyle/>
          <a:p>
            <a:pPr indent="0" lvl="0" marL="0" rtl="0" algn="l">
              <a:spcBef>
                <a:spcPts val="0"/>
              </a:spcBef>
              <a:spcAft>
                <a:spcPts val="0"/>
              </a:spcAft>
              <a:buClr>
                <a:srgbClr val="000000"/>
              </a:buClr>
              <a:buSzPts val="294"/>
              <a:buFont typeface="Arial"/>
              <a:buNone/>
            </a:pPr>
            <a:r>
              <a:rPr b="1" lang="en-US" sz="1700">
                <a:solidFill>
                  <a:schemeClr val="lt1"/>
                </a:solidFill>
                <a:latin typeface="Times New Roman"/>
                <a:ea typeface="Times New Roman"/>
                <a:cs typeface="Times New Roman"/>
                <a:sym typeface="Times New Roman"/>
              </a:rPr>
              <a:t>System Integration Challenges </a:t>
            </a:r>
            <a:endParaRPr/>
          </a:p>
        </p:txBody>
      </p:sp>
      <p:sp>
        <p:nvSpPr>
          <p:cNvPr id="497" name="Google Shape;497;g33e27b3e0e6_0_225"/>
          <p:cNvSpPr/>
          <p:nvPr/>
        </p:nvSpPr>
        <p:spPr>
          <a:xfrm>
            <a:off x="1329635" y="6597352"/>
            <a:ext cx="10862400" cy="260700"/>
          </a:xfrm>
          <a:prstGeom prst="rect">
            <a:avLst/>
          </a:prstGeom>
          <a:solidFill>
            <a:srgbClr val="002060"/>
          </a:solidFill>
          <a:ln>
            <a:noFill/>
          </a:ln>
        </p:spPr>
        <p:txBody>
          <a:bodyPr anchorCtr="0" anchor="ctr" bIns="21400" lIns="42825" spcFirstLastPara="1" rIns="42825" wrap="square" tIns="21400">
            <a:noAutofit/>
          </a:bodyPr>
          <a:lstStyle/>
          <a:p>
            <a:pPr indent="0" lvl="0" marL="0" marR="0" rtl="0" algn="l">
              <a:lnSpc>
                <a:spcPct val="100000"/>
              </a:lnSpc>
              <a:spcBef>
                <a:spcPts val="0"/>
              </a:spcBef>
              <a:spcAft>
                <a:spcPts val="0"/>
              </a:spcAft>
              <a:buClr>
                <a:srgbClr val="000000"/>
              </a:buClr>
              <a:buSzPts val="294"/>
              <a:buFont typeface="Arial"/>
              <a:buNone/>
            </a:pPr>
            <a:r>
              <a:t/>
            </a:r>
            <a:endParaRPr b="1" i="1" sz="294" u="none" cap="none" strike="noStrike">
              <a:solidFill>
                <a:srgbClr val="FFFFFF"/>
              </a:solidFill>
              <a:latin typeface="Calibri"/>
              <a:ea typeface="Calibri"/>
              <a:cs typeface="Calibri"/>
              <a:sym typeface="Calibri"/>
            </a:endParaRPr>
          </a:p>
        </p:txBody>
      </p:sp>
      <p:sp>
        <p:nvSpPr>
          <p:cNvPr id="498" name="Google Shape;498;g33e27b3e0e6_0_225"/>
          <p:cNvSpPr txBox="1"/>
          <p:nvPr>
            <p:ph idx="12" type="sldNum"/>
          </p:nvPr>
        </p:nvSpPr>
        <p:spPr>
          <a:xfrm>
            <a:off x="11386491" y="6556449"/>
            <a:ext cx="639600" cy="3267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sz="1800">
                <a:solidFill>
                  <a:schemeClr val="lt1"/>
                </a:solidFill>
              </a:rPr>
              <a:t>‹#›</a:t>
            </a:fld>
            <a:endParaRPr sz="1931">
              <a:solidFill>
                <a:schemeClr val="lt1"/>
              </a:solidFill>
            </a:endParaRPr>
          </a:p>
        </p:txBody>
      </p:sp>
      <p:sp>
        <p:nvSpPr>
          <p:cNvPr id="499" name="Google Shape;499;g33e27b3e0e6_0_225"/>
          <p:cNvSpPr/>
          <p:nvPr/>
        </p:nvSpPr>
        <p:spPr>
          <a:xfrm>
            <a:off x="3615675" y="-1475"/>
            <a:ext cx="4154700" cy="535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1" i="0" sz="1500" u="none" cap="none" strike="noStrike">
              <a:solidFill>
                <a:srgbClr val="000000"/>
              </a:solidFill>
              <a:latin typeface="Times New Roman"/>
              <a:ea typeface="Times New Roman"/>
              <a:cs typeface="Times New Roman"/>
              <a:sym typeface="Times New Roman"/>
            </a:endParaRPr>
          </a:p>
        </p:txBody>
      </p:sp>
      <p:sp>
        <p:nvSpPr>
          <p:cNvPr id="500" name="Google Shape;500;g33e27b3e0e6_0_225"/>
          <p:cNvSpPr/>
          <p:nvPr/>
        </p:nvSpPr>
        <p:spPr>
          <a:xfrm>
            <a:off x="0" y="-1472"/>
            <a:ext cx="1329600" cy="452100"/>
          </a:xfrm>
          <a:prstGeom prst="rect">
            <a:avLst/>
          </a:prstGeom>
          <a:solidFill>
            <a:srgbClr val="C000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00"/>
              <a:buFont typeface="Arial"/>
              <a:buNone/>
            </a:pPr>
            <a:r>
              <a:rPr b="1" lang="en-US">
                <a:solidFill>
                  <a:schemeClr val="dk1"/>
                </a:solidFill>
              </a:rPr>
              <a:t>ECSE 695</a:t>
            </a:r>
            <a:endParaRPr b="1" i="0" sz="1400" u="none" cap="none" strike="noStrike">
              <a:solidFill>
                <a:schemeClr val="dk1"/>
              </a:solidFill>
              <a:latin typeface="Arial"/>
              <a:ea typeface="Arial"/>
              <a:cs typeface="Arial"/>
              <a:sym typeface="Arial"/>
            </a:endParaRPr>
          </a:p>
        </p:txBody>
      </p:sp>
      <p:sp>
        <p:nvSpPr>
          <p:cNvPr id="501" name="Google Shape;501;g33e27b3e0e6_0_225"/>
          <p:cNvSpPr txBox="1"/>
          <p:nvPr/>
        </p:nvSpPr>
        <p:spPr>
          <a:xfrm>
            <a:off x="0" y="855128"/>
            <a:ext cx="7506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p:txBody>
      </p:sp>
      <p:pic>
        <p:nvPicPr>
          <p:cNvPr descr="A blue letter with white background&#10;&#10;Description automatically generated" id="502" name="Google Shape;502;g33e27b3e0e6_0_225"/>
          <p:cNvPicPr preferRelativeResize="0"/>
          <p:nvPr/>
        </p:nvPicPr>
        <p:blipFill rotWithShape="1">
          <a:blip r:embed="rId3">
            <a:alphaModFix/>
          </a:blip>
          <a:srcRect b="0" l="0" r="0" t="0"/>
          <a:stretch/>
        </p:blipFill>
        <p:spPr>
          <a:xfrm>
            <a:off x="0" y="6597352"/>
            <a:ext cx="1329635" cy="260648"/>
          </a:xfrm>
          <a:prstGeom prst="rect">
            <a:avLst/>
          </a:prstGeom>
          <a:noFill/>
          <a:ln>
            <a:noFill/>
          </a:ln>
        </p:spPr>
      </p:pic>
      <p:sp>
        <p:nvSpPr>
          <p:cNvPr id="503" name="Google Shape;503;g33e27b3e0e6_0_225"/>
          <p:cNvSpPr txBox="1"/>
          <p:nvPr/>
        </p:nvSpPr>
        <p:spPr>
          <a:xfrm>
            <a:off x="8022596" y="6222504"/>
            <a:ext cx="4079700" cy="307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t/>
            </a:r>
            <a:endParaRPr b="0" i="0" sz="1400" u="none" cap="none" strike="noStrike">
              <a:solidFill>
                <a:srgbClr val="000000"/>
              </a:solidFill>
              <a:latin typeface="Arial"/>
              <a:ea typeface="Arial"/>
              <a:cs typeface="Arial"/>
              <a:sym typeface="Arial"/>
            </a:endParaRPr>
          </a:p>
        </p:txBody>
      </p:sp>
      <p:sp>
        <p:nvSpPr>
          <p:cNvPr id="504" name="Google Shape;504;g33e27b3e0e6_0_225"/>
          <p:cNvSpPr txBox="1"/>
          <p:nvPr/>
        </p:nvSpPr>
        <p:spPr>
          <a:xfrm>
            <a:off x="7882801" y="533746"/>
            <a:ext cx="37719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t/>
            </a:r>
            <a:endParaRPr b="1"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C00000"/>
              </a:solidFill>
              <a:latin typeface="Arial"/>
              <a:ea typeface="Arial"/>
              <a:cs typeface="Arial"/>
              <a:sym typeface="Arial"/>
            </a:endParaRPr>
          </a:p>
        </p:txBody>
      </p:sp>
      <p:sp>
        <p:nvSpPr>
          <p:cNvPr id="505" name="Google Shape;505;g33e27b3e0e6_0_225"/>
          <p:cNvSpPr txBox="1"/>
          <p:nvPr/>
        </p:nvSpPr>
        <p:spPr>
          <a:xfrm>
            <a:off x="79000" y="450625"/>
            <a:ext cx="9950100" cy="1201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t/>
            </a:r>
            <a:endParaRPr b="1" sz="1100">
              <a:solidFill>
                <a:schemeClr val="dk1"/>
              </a:solidFill>
            </a:endParaRPr>
          </a:p>
          <a:p>
            <a:pPr indent="0" lvl="0" marL="0" rtl="0" algn="l">
              <a:lnSpc>
                <a:spcPct val="115000"/>
              </a:lnSpc>
              <a:spcBef>
                <a:spcPts val="1200"/>
              </a:spcBef>
              <a:spcAft>
                <a:spcPts val="0"/>
              </a:spcAft>
              <a:buNone/>
            </a:pPr>
            <a:r>
              <a:t/>
            </a:r>
            <a:endParaRPr b="1">
              <a:solidFill>
                <a:schemeClr val="dk1"/>
              </a:solidFill>
              <a:latin typeface="Times New Roman"/>
              <a:ea typeface="Times New Roman"/>
              <a:cs typeface="Times New Roman"/>
              <a:sym typeface="Times New Roman"/>
            </a:endParaRPr>
          </a:p>
          <a:p>
            <a:pPr indent="0" lvl="0" marL="0" rtl="0" algn="l">
              <a:lnSpc>
                <a:spcPct val="115000"/>
              </a:lnSpc>
              <a:spcBef>
                <a:spcPts val="1600"/>
              </a:spcBef>
              <a:spcAft>
                <a:spcPts val="1600"/>
              </a:spcAft>
              <a:buNone/>
            </a:pPr>
            <a:r>
              <a:t/>
            </a:r>
            <a:endParaRPr>
              <a:solidFill>
                <a:schemeClr val="dk1"/>
              </a:solidFill>
              <a:latin typeface="Times New Roman"/>
              <a:ea typeface="Times New Roman"/>
              <a:cs typeface="Times New Roman"/>
              <a:sym typeface="Times New Roman"/>
            </a:endParaRPr>
          </a:p>
        </p:txBody>
      </p:sp>
      <p:sp>
        <p:nvSpPr>
          <p:cNvPr id="506" name="Google Shape;506;g33e27b3e0e6_0_225"/>
          <p:cNvSpPr txBox="1"/>
          <p:nvPr/>
        </p:nvSpPr>
        <p:spPr>
          <a:xfrm>
            <a:off x="8134650" y="5405375"/>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507" name="Google Shape;507;g33e27b3e0e6_0_225"/>
          <p:cNvSpPr txBox="1"/>
          <p:nvPr/>
        </p:nvSpPr>
        <p:spPr>
          <a:xfrm>
            <a:off x="0" y="450625"/>
            <a:ext cx="3000000" cy="369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1800"/>
              </a:spcAft>
              <a:buNone/>
            </a:pPr>
            <a:r>
              <a:t/>
            </a:r>
            <a:endParaRPr sz="1200">
              <a:solidFill>
                <a:schemeClr val="dk1"/>
              </a:solidFill>
              <a:latin typeface="Times New Roman"/>
              <a:ea typeface="Times New Roman"/>
              <a:cs typeface="Times New Roman"/>
              <a:sym typeface="Times New Roman"/>
            </a:endParaRPr>
          </a:p>
        </p:txBody>
      </p:sp>
      <p:sp>
        <p:nvSpPr>
          <p:cNvPr id="508" name="Google Shape;508;g33e27b3e0e6_0_225"/>
          <p:cNvSpPr txBox="1"/>
          <p:nvPr/>
        </p:nvSpPr>
        <p:spPr>
          <a:xfrm>
            <a:off x="34300" y="581975"/>
            <a:ext cx="10039500" cy="2227800"/>
          </a:xfrm>
          <a:prstGeom prst="rect">
            <a:avLst/>
          </a:prstGeom>
          <a:noFill/>
          <a:ln>
            <a:noFill/>
          </a:ln>
        </p:spPr>
        <p:txBody>
          <a:bodyPr anchorCtr="0" anchor="t" bIns="91425" lIns="91425" spcFirstLastPara="1" rIns="91425" wrap="square" tIns="91425">
            <a:spAutoFit/>
          </a:bodyPr>
          <a:lstStyle/>
          <a:p>
            <a:pPr indent="-349250" lvl="0" marL="457200" rtl="0" algn="l">
              <a:lnSpc>
                <a:spcPct val="115000"/>
              </a:lnSpc>
              <a:spcBef>
                <a:spcPts val="1700"/>
              </a:spcBef>
              <a:spcAft>
                <a:spcPts val="0"/>
              </a:spcAft>
              <a:buClr>
                <a:schemeClr val="dk1"/>
              </a:buClr>
              <a:buSzPts val="1900"/>
              <a:buFont typeface="Times New Roman"/>
              <a:buChar char="●"/>
            </a:pPr>
            <a:r>
              <a:rPr lang="en-US" sz="1900">
                <a:solidFill>
                  <a:schemeClr val="dk1"/>
                </a:solidFill>
                <a:latin typeface="Times New Roman"/>
                <a:ea typeface="Times New Roman"/>
                <a:cs typeface="Times New Roman"/>
                <a:sym typeface="Times New Roman"/>
              </a:rPr>
              <a:t>Timing between scanning and motion</a:t>
            </a:r>
            <a:endParaRPr sz="1900">
              <a:solidFill>
                <a:schemeClr val="dk1"/>
              </a:solidFill>
              <a:latin typeface="Times New Roman"/>
              <a:ea typeface="Times New Roman"/>
              <a:cs typeface="Times New Roman"/>
              <a:sym typeface="Times New Roman"/>
            </a:endParaRPr>
          </a:p>
          <a:p>
            <a:pPr indent="-349250" lvl="0" marL="457200" rtl="0" algn="l">
              <a:lnSpc>
                <a:spcPct val="115000"/>
              </a:lnSpc>
              <a:spcBef>
                <a:spcPts val="0"/>
              </a:spcBef>
              <a:spcAft>
                <a:spcPts val="0"/>
              </a:spcAft>
              <a:buClr>
                <a:schemeClr val="dk1"/>
              </a:buClr>
              <a:buSzPts val="1900"/>
              <a:buFont typeface="Times New Roman"/>
              <a:buChar char="●"/>
            </a:pPr>
            <a:r>
              <a:rPr lang="en-US" sz="1900">
                <a:solidFill>
                  <a:schemeClr val="dk1"/>
                </a:solidFill>
                <a:latin typeface="Times New Roman"/>
                <a:ea typeface="Times New Roman"/>
                <a:cs typeface="Times New Roman"/>
                <a:sym typeface="Times New Roman"/>
              </a:rPr>
              <a:t>Command execution verification</a:t>
            </a:r>
            <a:endParaRPr sz="1900">
              <a:solidFill>
                <a:schemeClr val="dk1"/>
              </a:solidFill>
              <a:latin typeface="Times New Roman"/>
              <a:ea typeface="Times New Roman"/>
              <a:cs typeface="Times New Roman"/>
              <a:sym typeface="Times New Roman"/>
            </a:endParaRPr>
          </a:p>
          <a:p>
            <a:pPr indent="-349250" lvl="0" marL="457200" rtl="0" algn="l">
              <a:lnSpc>
                <a:spcPct val="115000"/>
              </a:lnSpc>
              <a:spcBef>
                <a:spcPts val="0"/>
              </a:spcBef>
              <a:spcAft>
                <a:spcPts val="0"/>
              </a:spcAft>
              <a:buClr>
                <a:schemeClr val="dk1"/>
              </a:buClr>
              <a:buSzPts val="1900"/>
              <a:buFont typeface="Times New Roman"/>
              <a:buChar char="●"/>
            </a:pPr>
            <a:r>
              <a:rPr lang="en-US" sz="1900">
                <a:solidFill>
                  <a:schemeClr val="dk1"/>
                </a:solidFill>
                <a:latin typeface="Times New Roman"/>
                <a:ea typeface="Times New Roman"/>
                <a:cs typeface="Times New Roman"/>
                <a:sym typeface="Times New Roman"/>
              </a:rPr>
              <a:t>Thread coordination challenges</a:t>
            </a:r>
            <a:endParaRPr sz="1900">
              <a:solidFill>
                <a:schemeClr val="dk1"/>
              </a:solidFill>
              <a:latin typeface="Times New Roman"/>
              <a:ea typeface="Times New Roman"/>
              <a:cs typeface="Times New Roman"/>
              <a:sym typeface="Times New Roman"/>
            </a:endParaRPr>
          </a:p>
          <a:p>
            <a:pPr indent="0" lvl="0" marL="0" rtl="0" algn="l">
              <a:lnSpc>
                <a:spcPct val="115000"/>
              </a:lnSpc>
              <a:spcBef>
                <a:spcPts val="1700"/>
              </a:spcBef>
              <a:spcAft>
                <a:spcPts val="0"/>
              </a:spcAft>
              <a:buClr>
                <a:schemeClr val="dk1"/>
              </a:buClr>
              <a:buSzPts val="1100"/>
              <a:buFont typeface="Arial"/>
              <a:buNone/>
            </a:pPr>
            <a:r>
              <a:rPr lang="en-US" sz="1900">
                <a:solidFill>
                  <a:schemeClr val="dk1"/>
                </a:solidFill>
                <a:latin typeface="Times New Roman"/>
                <a:ea typeface="Times New Roman"/>
                <a:cs typeface="Times New Roman"/>
                <a:sym typeface="Times New Roman"/>
              </a:rPr>
              <a:t>Solution: Robust threading model with proper sequencing</a:t>
            </a:r>
            <a:endParaRPr sz="1900">
              <a:solidFill>
                <a:schemeClr val="dk1"/>
              </a:solidFill>
              <a:latin typeface="Times New Roman"/>
              <a:ea typeface="Times New Roman"/>
              <a:cs typeface="Times New Roman"/>
              <a:sym typeface="Times New Roman"/>
            </a:endParaRPr>
          </a:p>
          <a:p>
            <a:pPr indent="0" lvl="0" marL="0" rtl="0" algn="l">
              <a:lnSpc>
                <a:spcPct val="115000"/>
              </a:lnSpc>
              <a:spcBef>
                <a:spcPts val="1700"/>
              </a:spcBef>
              <a:spcAft>
                <a:spcPts val="1700"/>
              </a:spcAft>
              <a:buNone/>
            </a:pPr>
            <a:r>
              <a:t/>
            </a:r>
            <a:endParaRPr b="1" sz="1700">
              <a:solidFill>
                <a:schemeClr val="dk1"/>
              </a:solidFill>
              <a:latin typeface="Times New Roman"/>
              <a:ea typeface="Times New Roman"/>
              <a:cs typeface="Times New Roman"/>
              <a:sym typeface="Times New Roman"/>
            </a:endParaRPr>
          </a:p>
        </p:txBody>
      </p:sp>
      <p:sp>
        <p:nvSpPr>
          <p:cNvPr id="509" name="Google Shape;509;g33e27b3e0e6_0_225"/>
          <p:cNvSpPr txBox="1"/>
          <p:nvPr/>
        </p:nvSpPr>
        <p:spPr>
          <a:xfrm>
            <a:off x="171150" y="2760075"/>
            <a:ext cx="5062200" cy="431100"/>
          </a:xfrm>
          <a:prstGeom prst="rect">
            <a:avLst/>
          </a:prstGeom>
          <a:noFill/>
          <a:ln>
            <a:noFill/>
          </a:ln>
        </p:spPr>
        <p:txBody>
          <a:bodyPr anchorCtr="0" anchor="t" bIns="91425" lIns="91425" spcFirstLastPara="1" rIns="91425" wrap="square" tIns="91425">
            <a:spAutoFit/>
          </a:bodyPr>
          <a:lstStyle/>
          <a:p>
            <a:pPr indent="0" lvl="0" marL="457200" rtl="0" algn="l">
              <a:lnSpc>
                <a:spcPct val="115000"/>
              </a:lnSpc>
              <a:spcBef>
                <a:spcPts val="1800"/>
              </a:spcBef>
              <a:spcAft>
                <a:spcPts val="1800"/>
              </a:spcAft>
              <a:buNone/>
            </a:pPr>
            <a:r>
              <a:t/>
            </a:r>
            <a:endParaRPr sz="1600">
              <a:solidFill>
                <a:schemeClr val="dk1"/>
              </a:solidFill>
              <a:latin typeface="Times New Roman"/>
              <a:ea typeface="Times New Roman"/>
              <a:cs typeface="Times New Roman"/>
              <a:sym typeface="Times New Roman"/>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4" name="Shape 514"/>
        <p:cNvGrpSpPr/>
        <p:nvPr/>
      </p:nvGrpSpPr>
      <p:grpSpPr>
        <a:xfrm>
          <a:off x="0" y="0"/>
          <a:ext cx="0" cy="0"/>
          <a:chOff x="0" y="0"/>
          <a:chExt cx="0" cy="0"/>
        </a:xfrm>
      </p:grpSpPr>
      <p:sp>
        <p:nvSpPr>
          <p:cNvPr id="515" name="Google Shape;515;g33e27b3e0e6_0_244"/>
          <p:cNvSpPr/>
          <p:nvPr/>
        </p:nvSpPr>
        <p:spPr>
          <a:xfrm>
            <a:off x="1329635" y="-1472"/>
            <a:ext cx="10862400" cy="452100"/>
          </a:xfrm>
          <a:prstGeom prst="rect">
            <a:avLst/>
          </a:prstGeom>
          <a:solidFill>
            <a:srgbClr val="002060"/>
          </a:solidFill>
          <a:ln>
            <a:noFill/>
          </a:ln>
        </p:spPr>
        <p:txBody>
          <a:bodyPr anchorCtr="0" anchor="ctr" bIns="21400" lIns="42825" spcFirstLastPara="1" rIns="42825" wrap="square" tIns="21400">
            <a:noAutofit/>
          </a:bodyPr>
          <a:lstStyle/>
          <a:p>
            <a:pPr indent="0" lvl="0" marL="0" rtl="0" algn="l">
              <a:spcBef>
                <a:spcPts val="0"/>
              </a:spcBef>
              <a:spcAft>
                <a:spcPts val="0"/>
              </a:spcAft>
              <a:buClr>
                <a:srgbClr val="000000"/>
              </a:buClr>
              <a:buSzPts val="294"/>
              <a:buFont typeface="Arial"/>
              <a:buNone/>
            </a:pPr>
            <a:r>
              <a:rPr b="1" lang="en-US" sz="1700">
                <a:solidFill>
                  <a:schemeClr val="lt1"/>
                </a:solidFill>
                <a:latin typeface="Times New Roman"/>
                <a:ea typeface="Times New Roman"/>
                <a:cs typeface="Times New Roman"/>
                <a:sym typeface="Times New Roman"/>
              </a:rPr>
              <a:t>Implementation Achievements</a:t>
            </a:r>
            <a:endParaRPr/>
          </a:p>
        </p:txBody>
      </p:sp>
      <p:sp>
        <p:nvSpPr>
          <p:cNvPr id="516" name="Google Shape;516;g33e27b3e0e6_0_244"/>
          <p:cNvSpPr/>
          <p:nvPr/>
        </p:nvSpPr>
        <p:spPr>
          <a:xfrm>
            <a:off x="1329635" y="6597352"/>
            <a:ext cx="10862400" cy="260700"/>
          </a:xfrm>
          <a:prstGeom prst="rect">
            <a:avLst/>
          </a:prstGeom>
          <a:solidFill>
            <a:srgbClr val="002060"/>
          </a:solidFill>
          <a:ln>
            <a:noFill/>
          </a:ln>
        </p:spPr>
        <p:txBody>
          <a:bodyPr anchorCtr="0" anchor="ctr" bIns="21400" lIns="42825" spcFirstLastPara="1" rIns="42825" wrap="square" tIns="21400">
            <a:noAutofit/>
          </a:bodyPr>
          <a:lstStyle/>
          <a:p>
            <a:pPr indent="0" lvl="0" marL="0" marR="0" rtl="0" algn="l">
              <a:lnSpc>
                <a:spcPct val="100000"/>
              </a:lnSpc>
              <a:spcBef>
                <a:spcPts val="0"/>
              </a:spcBef>
              <a:spcAft>
                <a:spcPts val="0"/>
              </a:spcAft>
              <a:buClr>
                <a:srgbClr val="000000"/>
              </a:buClr>
              <a:buSzPts val="294"/>
              <a:buFont typeface="Arial"/>
              <a:buNone/>
            </a:pPr>
            <a:r>
              <a:t/>
            </a:r>
            <a:endParaRPr b="1" i="1" sz="294" u="none" cap="none" strike="noStrike">
              <a:solidFill>
                <a:srgbClr val="FFFFFF"/>
              </a:solidFill>
              <a:latin typeface="Calibri"/>
              <a:ea typeface="Calibri"/>
              <a:cs typeface="Calibri"/>
              <a:sym typeface="Calibri"/>
            </a:endParaRPr>
          </a:p>
        </p:txBody>
      </p:sp>
      <p:sp>
        <p:nvSpPr>
          <p:cNvPr id="517" name="Google Shape;517;g33e27b3e0e6_0_244"/>
          <p:cNvSpPr txBox="1"/>
          <p:nvPr>
            <p:ph idx="12" type="sldNum"/>
          </p:nvPr>
        </p:nvSpPr>
        <p:spPr>
          <a:xfrm>
            <a:off x="11386491" y="6556449"/>
            <a:ext cx="639600" cy="3267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sz="1800">
                <a:solidFill>
                  <a:schemeClr val="lt1"/>
                </a:solidFill>
              </a:rPr>
              <a:t>‹#›</a:t>
            </a:fld>
            <a:endParaRPr sz="1931">
              <a:solidFill>
                <a:schemeClr val="lt1"/>
              </a:solidFill>
            </a:endParaRPr>
          </a:p>
        </p:txBody>
      </p:sp>
      <p:sp>
        <p:nvSpPr>
          <p:cNvPr id="518" name="Google Shape;518;g33e27b3e0e6_0_244"/>
          <p:cNvSpPr/>
          <p:nvPr/>
        </p:nvSpPr>
        <p:spPr>
          <a:xfrm>
            <a:off x="3615675" y="-1475"/>
            <a:ext cx="4154700" cy="535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1" i="0" sz="1500" u="none" cap="none" strike="noStrike">
              <a:solidFill>
                <a:srgbClr val="000000"/>
              </a:solidFill>
              <a:latin typeface="Times New Roman"/>
              <a:ea typeface="Times New Roman"/>
              <a:cs typeface="Times New Roman"/>
              <a:sym typeface="Times New Roman"/>
            </a:endParaRPr>
          </a:p>
        </p:txBody>
      </p:sp>
      <p:sp>
        <p:nvSpPr>
          <p:cNvPr id="519" name="Google Shape;519;g33e27b3e0e6_0_244"/>
          <p:cNvSpPr/>
          <p:nvPr/>
        </p:nvSpPr>
        <p:spPr>
          <a:xfrm>
            <a:off x="0" y="-1472"/>
            <a:ext cx="1329600" cy="452100"/>
          </a:xfrm>
          <a:prstGeom prst="rect">
            <a:avLst/>
          </a:prstGeom>
          <a:solidFill>
            <a:srgbClr val="C000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00"/>
              <a:buFont typeface="Arial"/>
              <a:buNone/>
            </a:pPr>
            <a:r>
              <a:rPr b="1" lang="en-US">
                <a:solidFill>
                  <a:schemeClr val="dk1"/>
                </a:solidFill>
              </a:rPr>
              <a:t>ECSE 695</a:t>
            </a:r>
            <a:endParaRPr b="1" i="0" sz="1400" u="none" cap="none" strike="noStrike">
              <a:solidFill>
                <a:schemeClr val="dk1"/>
              </a:solidFill>
              <a:latin typeface="Arial"/>
              <a:ea typeface="Arial"/>
              <a:cs typeface="Arial"/>
              <a:sym typeface="Arial"/>
            </a:endParaRPr>
          </a:p>
        </p:txBody>
      </p:sp>
      <p:sp>
        <p:nvSpPr>
          <p:cNvPr id="520" name="Google Shape;520;g33e27b3e0e6_0_244"/>
          <p:cNvSpPr txBox="1"/>
          <p:nvPr/>
        </p:nvSpPr>
        <p:spPr>
          <a:xfrm>
            <a:off x="0" y="855128"/>
            <a:ext cx="7506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p:txBody>
      </p:sp>
      <p:pic>
        <p:nvPicPr>
          <p:cNvPr descr="A blue letter with white background&#10;&#10;Description automatically generated" id="521" name="Google Shape;521;g33e27b3e0e6_0_244"/>
          <p:cNvPicPr preferRelativeResize="0"/>
          <p:nvPr/>
        </p:nvPicPr>
        <p:blipFill rotWithShape="1">
          <a:blip r:embed="rId3">
            <a:alphaModFix/>
          </a:blip>
          <a:srcRect b="0" l="0" r="0" t="0"/>
          <a:stretch/>
        </p:blipFill>
        <p:spPr>
          <a:xfrm>
            <a:off x="0" y="6597352"/>
            <a:ext cx="1329635" cy="260648"/>
          </a:xfrm>
          <a:prstGeom prst="rect">
            <a:avLst/>
          </a:prstGeom>
          <a:noFill/>
          <a:ln>
            <a:noFill/>
          </a:ln>
        </p:spPr>
      </p:pic>
      <p:sp>
        <p:nvSpPr>
          <p:cNvPr id="522" name="Google Shape;522;g33e27b3e0e6_0_244"/>
          <p:cNvSpPr txBox="1"/>
          <p:nvPr/>
        </p:nvSpPr>
        <p:spPr>
          <a:xfrm>
            <a:off x="8022596" y="6222504"/>
            <a:ext cx="4079700" cy="307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t/>
            </a:r>
            <a:endParaRPr b="0" i="0" sz="1400" u="none" cap="none" strike="noStrike">
              <a:solidFill>
                <a:srgbClr val="000000"/>
              </a:solidFill>
              <a:latin typeface="Arial"/>
              <a:ea typeface="Arial"/>
              <a:cs typeface="Arial"/>
              <a:sym typeface="Arial"/>
            </a:endParaRPr>
          </a:p>
        </p:txBody>
      </p:sp>
      <p:sp>
        <p:nvSpPr>
          <p:cNvPr id="523" name="Google Shape;523;g33e27b3e0e6_0_244"/>
          <p:cNvSpPr txBox="1"/>
          <p:nvPr/>
        </p:nvSpPr>
        <p:spPr>
          <a:xfrm>
            <a:off x="7882801" y="533746"/>
            <a:ext cx="37719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t/>
            </a:r>
            <a:endParaRPr b="1"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C00000"/>
              </a:solidFill>
              <a:latin typeface="Arial"/>
              <a:ea typeface="Arial"/>
              <a:cs typeface="Arial"/>
              <a:sym typeface="Arial"/>
            </a:endParaRPr>
          </a:p>
        </p:txBody>
      </p:sp>
      <p:sp>
        <p:nvSpPr>
          <p:cNvPr id="524" name="Google Shape;524;g33e27b3e0e6_0_244"/>
          <p:cNvSpPr txBox="1"/>
          <p:nvPr/>
        </p:nvSpPr>
        <p:spPr>
          <a:xfrm>
            <a:off x="79000" y="450625"/>
            <a:ext cx="9950100" cy="1201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t/>
            </a:r>
            <a:endParaRPr b="1" sz="1100">
              <a:solidFill>
                <a:schemeClr val="dk1"/>
              </a:solidFill>
            </a:endParaRPr>
          </a:p>
          <a:p>
            <a:pPr indent="0" lvl="0" marL="0" rtl="0" algn="l">
              <a:lnSpc>
                <a:spcPct val="115000"/>
              </a:lnSpc>
              <a:spcBef>
                <a:spcPts val="1200"/>
              </a:spcBef>
              <a:spcAft>
                <a:spcPts val="0"/>
              </a:spcAft>
              <a:buNone/>
            </a:pPr>
            <a:r>
              <a:t/>
            </a:r>
            <a:endParaRPr b="1">
              <a:solidFill>
                <a:schemeClr val="dk1"/>
              </a:solidFill>
              <a:latin typeface="Times New Roman"/>
              <a:ea typeface="Times New Roman"/>
              <a:cs typeface="Times New Roman"/>
              <a:sym typeface="Times New Roman"/>
            </a:endParaRPr>
          </a:p>
          <a:p>
            <a:pPr indent="0" lvl="0" marL="0" rtl="0" algn="l">
              <a:lnSpc>
                <a:spcPct val="115000"/>
              </a:lnSpc>
              <a:spcBef>
                <a:spcPts val="1600"/>
              </a:spcBef>
              <a:spcAft>
                <a:spcPts val="1600"/>
              </a:spcAft>
              <a:buNone/>
            </a:pPr>
            <a:r>
              <a:t/>
            </a:r>
            <a:endParaRPr>
              <a:solidFill>
                <a:schemeClr val="dk1"/>
              </a:solidFill>
              <a:latin typeface="Times New Roman"/>
              <a:ea typeface="Times New Roman"/>
              <a:cs typeface="Times New Roman"/>
              <a:sym typeface="Times New Roman"/>
            </a:endParaRPr>
          </a:p>
        </p:txBody>
      </p:sp>
      <p:sp>
        <p:nvSpPr>
          <p:cNvPr id="525" name="Google Shape;525;g33e27b3e0e6_0_244"/>
          <p:cNvSpPr txBox="1"/>
          <p:nvPr/>
        </p:nvSpPr>
        <p:spPr>
          <a:xfrm>
            <a:off x="8134650" y="5405375"/>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526" name="Google Shape;526;g33e27b3e0e6_0_244"/>
          <p:cNvSpPr txBox="1"/>
          <p:nvPr/>
        </p:nvSpPr>
        <p:spPr>
          <a:xfrm>
            <a:off x="0" y="450625"/>
            <a:ext cx="3000000" cy="369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1800"/>
              </a:spcAft>
              <a:buNone/>
            </a:pPr>
            <a:r>
              <a:t/>
            </a:r>
            <a:endParaRPr sz="1200">
              <a:solidFill>
                <a:schemeClr val="dk1"/>
              </a:solidFill>
              <a:latin typeface="Times New Roman"/>
              <a:ea typeface="Times New Roman"/>
              <a:cs typeface="Times New Roman"/>
              <a:sym typeface="Times New Roman"/>
            </a:endParaRPr>
          </a:p>
        </p:txBody>
      </p:sp>
      <p:sp>
        <p:nvSpPr>
          <p:cNvPr id="527" name="Google Shape;527;g33e27b3e0e6_0_244"/>
          <p:cNvSpPr txBox="1"/>
          <p:nvPr/>
        </p:nvSpPr>
        <p:spPr>
          <a:xfrm>
            <a:off x="34300" y="581975"/>
            <a:ext cx="10039500" cy="1000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700"/>
              </a:spcBef>
              <a:spcAft>
                <a:spcPts val="0"/>
              </a:spcAft>
              <a:buNone/>
            </a:pPr>
            <a:r>
              <a:t/>
            </a:r>
            <a:endParaRPr sz="1900">
              <a:solidFill>
                <a:schemeClr val="dk1"/>
              </a:solidFill>
              <a:latin typeface="Times New Roman"/>
              <a:ea typeface="Times New Roman"/>
              <a:cs typeface="Times New Roman"/>
              <a:sym typeface="Times New Roman"/>
            </a:endParaRPr>
          </a:p>
          <a:p>
            <a:pPr indent="0" lvl="0" marL="0" rtl="0" algn="l">
              <a:lnSpc>
                <a:spcPct val="115000"/>
              </a:lnSpc>
              <a:spcBef>
                <a:spcPts val="1700"/>
              </a:spcBef>
              <a:spcAft>
                <a:spcPts val="1700"/>
              </a:spcAft>
              <a:buNone/>
            </a:pPr>
            <a:r>
              <a:t/>
            </a:r>
            <a:endParaRPr b="1" sz="1700">
              <a:solidFill>
                <a:schemeClr val="dk1"/>
              </a:solidFill>
              <a:latin typeface="Times New Roman"/>
              <a:ea typeface="Times New Roman"/>
              <a:cs typeface="Times New Roman"/>
              <a:sym typeface="Times New Roman"/>
            </a:endParaRPr>
          </a:p>
        </p:txBody>
      </p:sp>
      <p:sp>
        <p:nvSpPr>
          <p:cNvPr id="528" name="Google Shape;528;g33e27b3e0e6_0_244"/>
          <p:cNvSpPr txBox="1"/>
          <p:nvPr/>
        </p:nvSpPr>
        <p:spPr>
          <a:xfrm>
            <a:off x="219375" y="651175"/>
            <a:ext cx="5062200" cy="5769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70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Hardware Integration:</a:t>
            </a:r>
            <a:endParaRPr sz="1600">
              <a:solidFill>
                <a:schemeClr val="dk1"/>
              </a:solidFill>
              <a:latin typeface="Times New Roman"/>
              <a:ea typeface="Times New Roman"/>
              <a:cs typeface="Times New Roman"/>
              <a:sym typeface="Times New Roman"/>
            </a:endParaRPr>
          </a:p>
          <a:p>
            <a:pPr indent="-330200" lvl="0" marL="457200" rtl="0" algn="l">
              <a:lnSpc>
                <a:spcPct val="115000"/>
              </a:lnSpc>
              <a:spcBef>
                <a:spcPts val="170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Successful mounting and configuration of Baumer OX200</a:t>
            </a:r>
            <a:endParaRPr sz="1600">
              <a:solidFill>
                <a:schemeClr val="dk1"/>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Duet 3 Mainboard 6HC configured for precision motion</a:t>
            </a:r>
            <a:endParaRPr sz="1600">
              <a:solidFill>
                <a:schemeClr val="dk1"/>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Verified mechanical stability for measurement</a:t>
            </a:r>
            <a:endParaRPr sz="1600">
              <a:solidFill>
                <a:schemeClr val="dk1"/>
              </a:solidFill>
              <a:latin typeface="Times New Roman"/>
              <a:ea typeface="Times New Roman"/>
              <a:cs typeface="Times New Roman"/>
              <a:sym typeface="Times New Roman"/>
            </a:endParaRPr>
          </a:p>
          <a:p>
            <a:pPr indent="0" lvl="0" marL="0" rtl="0" algn="l">
              <a:lnSpc>
                <a:spcPct val="115000"/>
              </a:lnSpc>
              <a:spcBef>
                <a:spcPts val="170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Software Components:</a:t>
            </a:r>
            <a:endParaRPr sz="1600">
              <a:solidFill>
                <a:schemeClr val="dk1"/>
              </a:solidFill>
              <a:latin typeface="Times New Roman"/>
              <a:ea typeface="Times New Roman"/>
              <a:cs typeface="Times New Roman"/>
              <a:sym typeface="Times New Roman"/>
            </a:endParaRPr>
          </a:p>
          <a:p>
            <a:pPr indent="-330200" lvl="0" marL="457200" rtl="0" algn="l">
              <a:lnSpc>
                <a:spcPct val="115000"/>
              </a:lnSpc>
              <a:spcBef>
                <a:spcPts val="170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G-code parsing and layer identification</a:t>
            </a:r>
            <a:endParaRPr sz="1600">
              <a:solidFill>
                <a:schemeClr val="dk1"/>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Laser scanner data acquisition</a:t>
            </a:r>
            <a:endParaRPr sz="1600">
              <a:solidFill>
                <a:schemeClr val="dk1"/>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Scan path generation algorithms</a:t>
            </a:r>
            <a:endParaRPr sz="1600">
              <a:solidFill>
                <a:schemeClr val="dk1"/>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Machine communication interface</a:t>
            </a:r>
            <a:endParaRPr sz="1600">
              <a:solidFill>
                <a:schemeClr val="dk1"/>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Threading model for concurrent operations</a:t>
            </a:r>
            <a:endParaRPr sz="1600">
              <a:solidFill>
                <a:schemeClr val="dk1"/>
              </a:solidFill>
              <a:latin typeface="Times New Roman"/>
              <a:ea typeface="Times New Roman"/>
              <a:cs typeface="Times New Roman"/>
              <a:sym typeface="Times New Roman"/>
            </a:endParaRPr>
          </a:p>
          <a:p>
            <a:pPr indent="0" lvl="0" marL="0" rtl="0" algn="l">
              <a:lnSpc>
                <a:spcPct val="115000"/>
              </a:lnSpc>
              <a:spcBef>
                <a:spcPts val="170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System Foundation:</a:t>
            </a:r>
            <a:endParaRPr sz="1600">
              <a:solidFill>
                <a:schemeClr val="dk1"/>
              </a:solidFill>
              <a:latin typeface="Times New Roman"/>
              <a:ea typeface="Times New Roman"/>
              <a:cs typeface="Times New Roman"/>
              <a:sym typeface="Times New Roman"/>
            </a:endParaRPr>
          </a:p>
          <a:p>
            <a:pPr indent="-330200" lvl="0" marL="457200" rtl="0" algn="l">
              <a:lnSpc>
                <a:spcPct val="115000"/>
              </a:lnSpc>
              <a:spcBef>
                <a:spcPts val="170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Modular architecture for future expansion</a:t>
            </a:r>
            <a:endParaRPr sz="1600">
              <a:solidFill>
                <a:schemeClr val="dk1"/>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Solid platform for semi closed-loop WAAM control</a:t>
            </a:r>
            <a:endParaRPr sz="1600">
              <a:solidFill>
                <a:schemeClr val="dk1"/>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Software framework with clean interfaces </a:t>
            </a:r>
            <a:endParaRPr sz="1600">
              <a:solidFill>
                <a:schemeClr val="dk1"/>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3" name="Shape 533"/>
        <p:cNvGrpSpPr/>
        <p:nvPr/>
      </p:nvGrpSpPr>
      <p:grpSpPr>
        <a:xfrm>
          <a:off x="0" y="0"/>
          <a:ext cx="0" cy="0"/>
          <a:chOff x="0" y="0"/>
          <a:chExt cx="0" cy="0"/>
        </a:xfrm>
      </p:grpSpPr>
      <p:sp>
        <p:nvSpPr>
          <p:cNvPr id="534" name="Google Shape;534;g33e27b3e0e6_0_271"/>
          <p:cNvSpPr/>
          <p:nvPr/>
        </p:nvSpPr>
        <p:spPr>
          <a:xfrm>
            <a:off x="1329635" y="-1472"/>
            <a:ext cx="10862400" cy="452100"/>
          </a:xfrm>
          <a:prstGeom prst="rect">
            <a:avLst/>
          </a:prstGeom>
          <a:solidFill>
            <a:srgbClr val="002060"/>
          </a:solidFill>
          <a:ln>
            <a:noFill/>
          </a:ln>
        </p:spPr>
        <p:txBody>
          <a:bodyPr anchorCtr="0" anchor="ctr" bIns="21400" lIns="42825" spcFirstLastPara="1" rIns="42825" wrap="square" tIns="21400">
            <a:noAutofit/>
          </a:bodyPr>
          <a:lstStyle/>
          <a:p>
            <a:pPr indent="0" lvl="0" marL="0" rtl="0" algn="l">
              <a:spcBef>
                <a:spcPts val="0"/>
              </a:spcBef>
              <a:spcAft>
                <a:spcPts val="0"/>
              </a:spcAft>
              <a:buClr>
                <a:srgbClr val="000000"/>
              </a:buClr>
              <a:buSzPts val="294"/>
              <a:buFont typeface="Arial"/>
              <a:buNone/>
            </a:pPr>
            <a:r>
              <a:rPr b="1" lang="en-US" sz="1700">
                <a:solidFill>
                  <a:schemeClr val="lt1"/>
                </a:solidFill>
                <a:latin typeface="Times New Roman"/>
                <a:ea typeface="Times New Roman"/>
                <a:cs typeface="Times New Roman"/>
                <a:sym typeface="Times New Roman"/>
              </a:rPr>
              <a:t>Implementation Achievements</a:t>
            </a:r>
            <a:endParaRPr/>
          </a:p>
        </p:txBody>
      </p:sp>
      <p:sp>
        <p:nvSpPr>
          <p:cNvPr id="535" name="Google Shape;535;g33e27b3e0e6_0_271"/>
          <p:cNvSpPr/>
          <p:nvPr/>
        </p:nvSpPr>
        <p:spPr>
          <a:xfrm>
            <a:off x="1329635" y="6597352"/>
            <a:ext cx="10862400" cy="260700"/>
          </a:xfrm>
          <a:prstGeom prst="rect">
            <a:avLst/>
          </a:prstGeom>
          <a:solidFill>
            <a:srgbClr val="002060"/>
          </a:solidFill>
          <a:ln>
            <a:noFill/>
          </a:ln>
        </p:spPr>
        <p:txBody>
          <a:bodyPr anchorCtr="0" anchor="ctr" bIns="21400" lIns="42825" spcFirstLastPara="1" rIns="42825" wrap="square" tIns="21400">
            <a:noAutofit/>
          </a:bodyPr>
          <a:lstStyle/>
          <a:p>
            <a:pPr indent="0" lvl="0" marL="0" marR="0" rtl="0" algn="l">
              <a:lnSpc>
                <a:spcPct val="100000"/>
              </a:lnSpc>
              <a:spcBef>
                <a:spcPts val="0"/>
              </a:spcBef>
              <a:spcAft>
                <a:spcPts val="0"/>
              </a:spcAft>
              <a:buClr>
                <a:srgbClr val="000000"/>
              </a:buClr>
              <a:buSzPts val="294"/>
              <a:buFont typeface="Arial"/>
              <a:buNone/>
            </a:pPr>
            <a:r>
              <a:t/>
            </a:r>
            <a:endParaRPr b="1" i="1" sz="294" u="none" cap="none" strike="noStrike">
              <a:solidFill>
                <a:srgbClr val="FFFFFF"/>
              </a:solidFill>
              <a:latin typeface="Calibri"/>
              <a:ea typeface="Calibri"/>
              <a:cs typeface="Calibri"/>
              <a:sym typeface="Calibri"/>
            </a:endParaRPr>
          </a:p>
        </p:txBody>
      </p:sp>
      <p:sp>
        <p:nvSpPr>
          <p:cNvPr id="536" name="Google Shape;536;g33e27b3e0e6_0_271"/>
          <p:cNvSpPr txBox="1"/>
          <p:nvPr>
            <p:ph idx="12" type="sldNum"/>
          </p:nvPr>
        </p:nvSpPr>
        <p:spPr>
          <a:xfrm>
            <a:off x="11386491" y="6556449"/>
            <a:ext cx="639600" cy="3267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sz="1800">
                <a:solidFill>
                  <a:schemeClr val="lt1"/>
                </a:solidFill>
              </a:rPr>
              <a:t>‹#›</a:t>
            </a:fld>
            <a:endParaRPr sz="1931">
              <a:solidFill>
                <a:schemeClr val="lt1"/>
              </a:solidFill>
            </a:endParaRPr>
          </a:p>
        </p:txBody>
      </p:sp>
      <p:sp>
        <p:nvSpPr>
          <p:cNvPr id="537" name="Google Shape;537;g33e27b3e0e6_0_271"/>
          <p:cNvSpPr/>
          <p:nvPr/>
        </p:nvSpPr>
        <p:spPr>
          <a:xfrm>
            <a:off x="3615675" y="-1475"/>
            <a:ext cx="4154700" cy="535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1" i="0" sz="1500" u="none" cap="none" strike="noStrike">
              <a:solidFill>
                <a:srgbClr val="000000"/>
              </a:solidFill>
              <a:latin typeface="Times New Roman"/>
              <a:ea typeface="Times New Roman"/>
              <a:cs typeface="Times New Roman"/>
              <a:sym typeface="Times New Roman"/>
            </a:endParaRPr>
          </a:p>
        </p:txBody>
      </p:sp>
      <p:sp>
        <p:nvSpPr>
          <p:cNvPr id="538" name="Google Shape;538;g33e27b3e0e6_0_271"/>
          <p:cNvSpPr/>
          <p:nvPr/>
        </p:nvSpPr>
        <p:spPr>
          <a:xfrm>
            <a:off x="0" y="-1472"/>
            <a:ext cx="1329600" cy="452100"/>
          </a:xfrm>
          <a:prstGeom prst="rect">
            <a:avLst/>
          </a:prstGeom>
          <a:solidFill>
            <a:srgbClr val="C000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00"/>
              <a:buFont typeface="Arial"/>
              <a:buNone/>
            </a:pPr>
            <a:r>
              <a:rPr b="1" lang="en-US">
                <a:solidFill>
                  <a:schemeClr val="dk1"/>
                </a:solidFill>
              </a:rPr>
              <a:t>ECSE 695</a:t>
            </a:r>
            <a:endParaRPr b="1" i="0" sz="1400" u="none" cap="none" strike="noStrike">
              <a:solidFill>
                <a:schemeClr val="dk1"/>
              </a:solidFill>
              <a:latin typeface="Arial"/>
              <a:ea typeface="Arial"/>
              <a:cs typeface="Arial"/>
              <a:sym typeface="Arial"/>
            </a:endParaRPr>
          </a:p>
        </p:txBody>
      </p:sp>
      <p:sp>
        <p:nvSpPr>
          <p:cNvPr id="539" name="Google Shape;539;g33e27b3e0e6_0_271"/>
          <p:cNvSpPr txBox="1"/>
          <p:nvPr/>
        </p:nvSpPr>
        <p:spPr>
          <a:xfrm>
            <a:off x="0" y="855128"/>
            <a:ext cx="7506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p:txBody>
      </p:sp>
      <p:pic>
        <p:nvPicPr>
          <p:cNvPr descr="A blue letter with white background&#10;&#10;Description automatically generated" id="540" name="Google Shape;540;g33e27b3e0e6_0_271"/>
          <p:cNvPicPr preferRelativeResize="0"/>
          <p:nvPr/>
        </p:nvPicPr>
        <p:blipFill rotWithShape="1">
          <a:blip r:embed="rId3">
            <a:alphaModFix/>
          </a:blip>
          <a:srcRect b="0" l="0" r="0" t="0"/>
          <a:stretch/>
        </p:blipFill>
        <p:spPr>
          <a:xfrm>
            <a:off x="0" y="6597352"/>
            <a:ext cx="1329635" cy="260648"/>
          </a:xfrm>
          <a:prstGeom prst="rect">
            <a:avLst/>
          </a:prstGeom>
          <a:noFill/>
          <a:ln>
            <a:noFill/>
          </a:ln>
        </p:spPr>
      </p:pic>
      <p:sp>
        <p:nvSpPr>
          <p:cNvPr id="541" name="Google Shape;541;g33e27b3e0e6_0_271"/>
          <p:cNvSpPr txBox="1"/>
          <p:nvPr/>
        </p:nvSpPr>
        <p:spPr>
          <a:xfrm>
            <a:off x="8022596" y="6222504"/>
            <a:ext cx="4079700" cy="307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t/>
            </a:r>
            <a:endParaRPr b="0" i="0" sz="1400" u="none" cap="none" strike="noStrike">
              <a:solidFill>
                <a:srgbClr val="000000"/>
              </a:solidFill>
              <a:latin typeface="Arial"/>
              <a:ea typeface="Arial"/>
              <a:cs typeface="Arial"/>
              <a:sym typeface="Arial"/>
            </a:endParaRPr>
          </a:p>
        </p:txBody>
      </p:sp>
      <p:sp>
        <p:nvSpPr>
          <p:cNvPr id="542" name="Google Shape;542;g33e27b3e0e6_0_271"/>
          <p:cNvSpPr txBox="1"/>
          <p:nvPr/>
        </p:nvSpPr>
        <p:spPr>
          <a:xfrm>
            <a:off x="7882801" y="533746"/>
            <a:ext cx="37719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t/>
            </a:r>
            <a:endParaRPr b="1"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C00000"/>
              </a:solidFill>
              <a:latin typeface="Arial"/>
              <a:ea typeface="Arial"/>
              <a:cs typeface="Arial"/>
              <a:sym typeface="Arial"/>
            </a:endParaRPr>
          </a:p>
        </p:txBody>
      </p:sp>
      <p:sp>
        <p:nvSpPr>
          <p:cNvPr id="543" name="Google Shape;543;g33e27b3e0e6_0_271"/>
          <p:cNvSpPr txBox="1"/>
          <p:nvPr/>
        </p:nvSpPr>
        <p:spPr>
          <a:xfrm>
            <a:off x="79000" y="450625"/>
            <a:ext cx="9950100" cy="1201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t/>
            </a:r>
            <a:endParaRPr b="1" sz="1100">
              <a:solidFill>
                <a:schemeClr val="dk1"/>
              </a:solidFill>
            </a:endParaRPr>
          </a:p>
          <a:p>
            <a:pPr indent="0" lvl="0" marL="0" rtl="0" algn="l">
              <a:lnSpc>
                <a:spcPct val="115000"/>
              </a:lnSpc>
              <a:spcBef>
                <a:spcPts val="1200"/>
              </a:spcBef>
              <a:spcAft>
                <a:spcPts val="0"/>
              </a:spcAft>
              <a:buNone/>
            </a:pPr>
            <a:r>
              <a:t/>
            </a:r>
            <a:endParaRPr b="1">
              <a:solidFill>
                <a:schemeClr val="dk1"/>
              </a:solidFill>
              <a:latin typeface="Times New Roman"/>
              <a:ea typeface="Times New Roman"/>
              <a:cs typeface="Times New Roman"/>
              <a:sym typeface="Times New Roman"/>
            </a:endParaRPr>
          </a:p>
          <a:p>
            <a:pPr indent="0" lvl="0" marL="0" rtl="0" algn="l">
              <a:lnSpc>
                <a:spcPct val="115000"/>
              </a:lnSpc>
              <a:spcBef>
                <a:spcPts val="1600"/>
              </a:spcBef>
              <a:spcAft>
                <a:spcPts val="1600"/>
              </a:spcAft>
              <a:buNone/>
            </a:pPr>
            <a:r>
              <a:t/>
            </a:r>
            <a:endParaRPr>
              <a:solidFill>
                <a:schemeClr val="dk1"/>
              </a:solidFill>
              <a:latin typeface="Times New Roman"/>
              <a:ea typeface="Times New Roman"/>
              <a:cs typeface="Times New Roman"/>
              <a:sym typeface="Times New Roman"/>
            </a:endParaRPr>
          </a:p>
        </p:txBody>
      </p:sp>
      <p:sp>
        <p:nvSpPr>
          <p:cNvPr id="544" name="Google Shape;544;g33e27b3e0e6_0_271"/>
          <p:cNvSpPr txBox="1"/>
          <p:nvPr/>
        </p:nvSpPr>
        <p:spPr>
          <a:xfrm>
            <a:off x="8134650" y="5405375"/>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545" name="Google Shape;545;g33e27b3e0e6_0_271"/>
          <p:cNvSpPr txBox="1"/>
          <p:nvPr/>
        </p:nvSpPr>
        <p:spPr>
          <a:xfrm>
            <a:off x="0" y="450625"/>
            <a:ext cx="3000000" cy="369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1800"/>
              </a:spcAft>
              <a:buNone/>
            </a:pPr>
            <a:r>
              <a:t/>
            </a:r>
            <a:endParaRPr sz="1200">
              <a:solidFill>
                <a:schemeClr val="dk1"/>
              </a:solidFill>
              <a:latin typeface="Times New Roman"/>
              <a:ea typeface="Times New Roman"/>
              <a:cs typeface="Times New Roman"/>
              <a:sym typeface="Times New Roman"/>
            </a:endParaRPr>
          </a:p>
        </p:txBody>
      </p:sp>
      <p:sp>
        <p:nvSpPr>
          <p:cNvPr id="546" name="Google Shape;546;g33e27b3e0e6_0_271"/>
          <p:cNvSpPr txBox="1"/>
          <p:nvPr/>
        </p:nvSpPr>
        <p:spPr>
          <a:xfrm>
            <a:off x="34300" y="581975"/>
            <a:ext cx="10039500" cy="1000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700"/>
              </a:spcBef>
              <a:spcAft>
                <a:spcPts val="0"/>
              </a:spcAft>
              <a:buNone/>
            </a:pPr>
            <a:r>
              <a:t/>
            </a:r>
            <a:endParaRPr sz="1900">
              <a:solidFill>
                <a:schemeClr val="dk1"/>
              </a:solidFill>
              <a:latin typeface="Times New Roman"/>
              <a:ea typeface="Times New Roman"/>
              <a:cs typeface="Times New Roman"/>
              <a:sym typeface="Times New Roman"/>
            </a:endParaRPr>
          </a:p>
          <a:p>
            <a:pPr indent="0" lvl="0" marL="0" rtl="0" algn="l">
              <a:lnSpc>
                <a:spcPct val="115000"/>
              </a:lnSpc>
              <a:spcBef>
                <a:spcPts val="1700"/>
              </a:spcBef>
              <a:spcAft>
                <a:spcPts val="1700"/>
              </a:spcAft>
              <a:buNone/>
            </a:pPr>
            <a:r>
              <a:t/>
            </a:r>
            <a:endParaRPr b="1" sz="1700">
              <a:solidFill>
                <a:schemeClr val="dk1"/>
              </a:solidFill>
              <a:latin typeface="Times New Roman"/>
              <a:ea typeface="Times New Roman"/>
              <a:cs typeface="Times New Roman"/>
              <a:sym typeface="Times New Roman"/>
            </a:endParaRPr>
          </a:p>
        </p:txBody>
      </p:sp>
      <p:sp>
        <p:nvSpPr>
          <p:cNvPr id="547" name="Google Shape;547;g33e27b3e0e6_0_271"/>
          <p:cNvSpPr txBox="1"/>
          <p:nvPr/>
        </p:nvSpPr>
        <p:spPr>
          <a:xfrm>
            <a:off x="219375" y="651175"/>
            <a:ext cx="5062200" cy="5882400"/>
          </a:xfrm>
          <a:prstGeom prst="rect">
            <a:avLst/>
          </a:prstGeom>
          <a:noFill/>
          <a:ln>
            <a:noFill/>
          </a:ln>
        </p:spPr>
        <p:txBody>
          <a:bodyPr anchorCtr="0" anchor="t" bIns="91425" lIns="91425" spcFirstLastPara="1" rIns="91425" wrap="square" tIns="91425">
            <a:spAutoFit/>
          </a:bodyPr>
          <a:lstStyle/>
          <a:p>
            <a:pPr indent="0" lvl="0" marL="0" rtl="0" algn="just">
              <a:spcBef>
                <a:spcPts val="1200"/>
              </a:spcBef>
              <a:spcAft>
                <a:spcPts val="0"/>
              </a:spcAft>
              <a:buClr>
                <a:schemeClr val="dk1"/>
              </a:buClr>
              <a:buSzPts val="1100"/>
              <a:buFont typeface="Arial"/>
              <a:buNone/>
            </a:pPr>
            <a:r>
              <a:rPr b="1" lang="en-US" sz="1500">
                <a:solidFill>
                  <a:schemeClr val="dk1"/>
                </a:solidFill>
                <a:latin typeface="Times New Roman"/>
                <a:ea typeface="Times New Roman"/>
                <a:cs typeface="Times New Roman"/>
                <a:sym typeface="Times New Roman"/>
              </a:rPr>
              <a:t>Several key contributions were made to the design and implementation of the system:</a:t>
            </a:r>
            <a:endParaRPr b="1" sz="1500">
              <a:solidFill>
                <a:schemeClr val="dk1"/>
              </a:solidFill>
              <a:latin typeface="Times New Roman"/>
              <a:ea typeface="Times New Roman"/>
              <a:cs typeface="Times New Roman"/>
              <a:sym typeface="Times New Roman"/>
            </a:endParaRPr>
          </a:p>
          <a:p>
            <a:pPr indent="-323850" lvl="0" marL="457200" rtl="0" algn="l">
              <a:spcBef>
                <a:spcPts val="1200"/>
              </a:spcBef>
              <a:spcAft>
                <a:spcPts val="0"/>
              </a:spcAft>
              <a:buClr>
                <a:schemeClr val="dk1"/>
              </a:buClr>
              <a:buSzPts val="1500"/>
              <a:buFont typeface="Times New Roman"/>
              <a:buChar char="●"/>
            </a:pPr>
            <a:r>
              <a:rPr lang="en-US" sz="1500">
                <a:solidFill>
                  <a:schemeClr val="dk1"/>
                </a:solidFill>
                <a:latin typeface="Times New Roman"/>
                <a:ea typeface="Times New Roman"/>
                <a:cs typeface="Times New Roman"/>
                <a:sym typeface="Times New Roman"/>
              </a:rPr>
              <a:t>Software Architecture: Designed and refined the modular software architecture that enables the integration of laser scanning, G-code processing, and adaptive control. This architecture provides the framework for current and future development.</a:t>
            </a:r>
            <a:endParaRPr sz="1500">
              <a:solidFill>
                <a:schemeClr val="dk1"/>
              </a:solidFill>
              <a:latin typeface="Times New Roman"/>
              <a:ea typeface="Times New Roman"/>
              <a:cs typeface="Times New Roman"/>
              <a:sym typeface="Times New Roman"/>
            </a:endParaRPr>
          </a:p>
          <a:p>
            <a:pPr indent="-323850" lvl="0" marL="457200" rtl="0" algn="l">
              <a:spcBef>
                <a:spcPts val="0"/>
              </a:spcBef>
              <a:spcAft>
                <a:spcPts val="0"/>
              </a:spcAft>
              <a:buClr>
                <a:schemeClr val="dk1"/>
              </a:buClr>
              <a:buSzPts val="1500"/>
              <a:buFont typeface="Times New Roman"/>
              <a:buChar char="●"/>
            </a:pPr>
            <a:r>
              <a:rPr lang="en-US" sz="1500">
                <a:solidFill>
                  <a:schemeClr val="dk1"/>
                </a:solidFill>
                <a:latin typeface="Times New Roman"/>
                <a:ea typeface="Times New Roman"/>
                <a:cs typeface="Times New Roman"/>
                <a:sym typeface="Times New Roman"/>
              </a:rPr>
              <a:t>Preprocessing and Data Handling: Developed the PreProcessor class and other modules for handling G-code files, including the layer-by-layer parsing system that enables targeted modifications.</a:t>
            </a:r>
            <a:endParaRPr sz="1500">
              <a:solidFill>
                <a:schemeClr val="dk1"/>
              </a:solidFill>
              <a:latin typeface="Times New Roman"/>
              <a:ea typeface="Times New Roman"/>
              <a:cs typeface="Times New Roman"/>
              <a:sym typeface="Times New Roman"/>
            </a:endParaRPr>
          </a:p>
          <a:p>
            <a:pPr indent="-323850" lvl="0" marL="457200" rtl="0" algn="l">
              <a:spcBef>
                <a:spcPts val="0"/>
              </a:spcBef>
              <a:spcAft>
                <a:spcPts val="0"/>
              </a:spcAft>
              <a:buClr>
                <a:schemeClr val="dk1"/>
              </a:buClr>
              <a:buSzPts val="1500"/>
              <a:buFont typeface="Times New Roman"/>
              <a:buChar char="●"/>
            </a:pPr>
            <a:r>
              <a:rPr lang="en-US" sz="1500">
                <a:solidFill>
                  <a:schemeClr val="dk1"/>
                </a:solidFill>
                <a:latin typeface="Times New Roman"/>
                <a:ea typeface="Times New Roman"/>
                <a:cs typeface="Times New Roman"/>
                <a:sym typeface="Times New Roman"/>
              </a:rPr>
              <a:t>Main Control Logic: Implemented the Main class that orchestrates the entire process flow, coordinating between preprocessing, scanning, and G-code execution.</a:t>
            </a:r>
            <a:endParaRPr sz="1500">
              <a:solidFill>
                <a:schemeClr val="dk1"/>
              </a:solidFill>
              <a:latin typeface="Times New Roman"/>
              <a:ea typeface="Times New Roman"/>
              <a:cs typeface="Times New Roman"/>
              <a:sym typeface="Times New Roman"/>
            </a:endParaRPr>
          </a:p>
          <a:p>
            <a:pPr indent="-323850" lvl="0" marL="457200" rtl="0" algn="l">
              <a:spcBef>
                <a:spcPts val="0"/>
              </a:spcBef>
              <a:spcAft>
                <a:spcPts val="0"/>
              </a:spcAft>
              <a:buClr>
                <a:schemeClr val="dk1"/>
              </a:buClr>
              <a:buSzPts val="1500"/>
              <a:buFont typeface="Times New Roman"/>
              <a:buChar char="●"/>
            </a:pPr>
            <a:r>
              <a:rPr lang="en-US" sz="1500">
                <a:solidFill>
                  <a:schemeClr val="dk1"/>
                </a:solidFill>
                <a:latin typeface="Times New Roman"/>
                <a:ea typeface="Times New Roman"/>
                <a:cs typeface="Times New Roman"/>
                <a:sym typeface="Times New Roman"/>
              </a:rPr>
              <a:t>Laser Data Streaming: Created the system for streaming and processing data from the Baumer laser scanner, including methods for handling data buffering and filtering.</a:t>
            </a:r>
            <a:endParaRPr sz="1500">
              <a:solidFill>
                <a:schemeClr val="dk1"/>
              </a:solidFill>
              <a:latin typeface="Times New Roman"/>
              <a:ea typeface="Times New Roman"/>
              <a:cs typeface="Times New Roman"/>
              <a:sym typeface="Times New Roman"/>
            </a:endParaRPr>
          </a:p>
          <a:p>
            <a:pPr indent="-323850" lvl="0" marL="457200" rtl="0" algn="l">
              <a:spcBef>
                <a:spcPts val="0"/>
              </a:spcBef>
              <a:spcAft>
                <a:spcPts val="0"/>
              </a:spcAft>
              <a:buClr>
                <a:schemeClr val="dk1"/>
              </a:buClr>
              <a:buSzPts val="1500"/>
              <a:buFont typeface="Times New Roman"/>
              <a:buChar char="●"/>
            </a:pPr>
            <a:r>
              <a:rPr lang="en-US" sz="1500">
                <a:solidFill>
                  <a:schemeClr val="dk1"/>
                </a:solidFill>
                <a:latin typeface="Times New Roman"/>
                <a:ea typeface="Times New Roman"/>
                <a:cs typeface="Times New Roman"/>
                <a:sym typeface="Times New Roman"/>
              </a:rPr>
              <a:t>PostProcessor Algorithm Design: Conceptualized and designed the PostProcessor algorithm for future researchers to implement, which handles the adaptive control based on measured deviations.</a:t>
            </a:r>
            <a:endParaRPr sz="1500">
              <a:solidFill>
                <a:schemeClr val="dk1"/>
              </a:solidFill>
              <a:latin typeface="Times New Roman"/>
              <a:ea typeface="Times New Roman"/>
              <a:cs typeface="Times New Roman"/>
              <a:sym typeface="Times New Roman"/>
            </a:endParaRPr>
          </a:p>
          <a:p>
            <a:pPr indent="0" lvl="0" marL="0" rtl="0" algn="l">
              <a:lnSpc>
                <a:spcPct val="115000"/>
              </a:lnSpc>
              <a:spcBef>
                <a:spcPts val="1700"/>
              </a:spcBef>
              <a:spcAft>
                <a:spcPts val="1700"/>
              </a:spcAft>
              <a:buNone/>
            </a:pPr>
            <a:r>
              <a:t/>
            </a:r>
            <a:endParaRPr sz="1600">
              <a:solidFill>
                <a:schemeClr val="dk1"/>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g33e27b3e0e6_0_309"/>
          <p:cNvSpPr/>
          <p:nvPr/>
        </p:nvSpPr>
        <p:spPr>
          <a:xfrm>
            <a:off x="1329635" y="-1472"/>
            <a:ext cx="10862400" cy="452100"/>
          </a:xfrm>
          <a:prstGeom prst="rect">
            <a:avLst/>
          </a:prstGeom>
          <a:solidFill>
            <a:srgbClr val="002060"/>
          </a:solidFill>
          <a:ln>
            <a:noFill/>
          </a:ln>
        </p:spPr>
        <p:txBody>
          <a:bodyPr anchorCtr="0" anchor="ctr" bIns="21400" lIns="42825" spcFirstLastPara="1" rIns="42825" wrap="square" tIns="21400">
            <a:noAutofit/>
          </a:bodyPr>
          <a:lstStyle/>
          <a:p>
            <a:pPr indent="0" lvl="0" marL="0" rtl="0" algn="l">
              <a:spcBef>
                <a:spcPts val="0"/>
              </a:spcBef>
              <a:spcAft>
                <a:spcPts val="0"/>
              </a:spcAft>
              <a:buClr>
                <a:srgbClr val="000000"/>
              </a:buClr>
              <a:buSzPts val="294"/>
              <a:buFont typeface="Arial"/>
              <a:buNone/>
            </a:pPr>
            <a:r>
              <a:rPr b="1" lang="en-US" sz="1700">
                <a:solidFill>
                  <a:schemeClr val="lt1"/>
                </a:solidFill>
                <a:latin typeface="Times New Roman"/>
                <a:ea typeface="Times New Roman"/>
                <a:cs typeface="Times New Roman"/>
                <a:sym typeface="Times New Roman"/>
              </a:rPr>
              <a:t>Future Directions </a:t>
            </a:r>
            <a:endParaRPr/>
          </a:p>
        </p:txBody>
      </p:sp>
      <p:sp>
        <p:nvSpPr>
          <p:cNvPr id="554" name="Google Shape;554;g33e27b3e0e6_0_309"/>
          <p:cNvSpPr/>
          <p:nvPr/>
        </p:nvSpPr>
        <p:spPr>
          <a:xfrm>
            <a:off x="1329635" y="6597352"/>
            <a:ext cx="10862400" cy="260700"/>
          </a:xfrm>
          <a:prstGeom prst="rect">
            <a:avLst/>
          </a:prstGeom>
          <a:solidFill>
            <a:srgbClr val="002060"/>
          </a:solidFill>
          <a:ln>
            <a:noFill/>
          </a:ln>
        </p:spPr>
        <p:txBody>
          <a:bodyPr anchorCtr="0" anchor="ctr" bIns="21400" lIns="42825" spcFirstLastPara="1" rIns="42825" wrap="square" tIns="21400">
            <a:noAutofit/>
          </a:bodyPr>
          <a:lstStyle/>
          <a:p>
            <a:pPr indent="0" lvl="0" marL="0" marR="0" rtl="0" algn="l">
              <a:lnSpc>
                <a:spcPct val="100000"/>
              </a:lnSpc>
              <a:spcBef>
                <a:spcPts val="0"/>
              </a:spcBef>
              <a:spcAft>
                <a:spcPts val="0"/>
              </a:spcAft>
              <a:buClr>
                <a:srgbClr val="000000"/>
              </a:buClr>
              <a:buSzPts val="294"/>
              <a:buFont typeface="Arial"/>
              <a:buNone/>
            </a:pPr>
            <a:r>
              <a:t/>
            </a:r>
            <a:endParaRPr b="1" i="1" sz="294" u="none" cap="none" strike="noStrike">
              <a:solidFill>
                <a:srgbClr val="FFFFFF"/>
              </a:solidFill>
              <a:latin typeface="Calibri"/>
              <a:ea typeface="Calibri"/>
              <a:cs typeface="Calibri"/>
              <a:sym typeface="Calibri"/>
            </a:endParaRPr>
          </a:p>
        </p:txBody>
      </p:sp>
      <p:sp>
        <p:nvSpPr>
          <p:cNvPr id="555" name="Google Shape;555;g33e27b3e0e6_0_309"/>
          <p:cNvSpPr txBox="1"/>
          <p:nvPr>
            <p:ph idx="12" type="sldNum"/>
          </p:nvPr>
        </p:nvSpPr>
        <p:spPr>
          <a:xfrm>
            <a:off x="11386491" y="6556449"/>
            <a:ext cx="639600" cy="3267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sz="1800">
                <a:solidFill>
                  <a:schemeClr val="lt1"/>
                </a:solidFill>
              </a:rPr>
              <a:t>‹#›</a:t>
            </a:fld>
            <a:endParaRPr sz="1931">
              <a:solidFill>
                <a:schemeClr val="lt1"/>
              </a:solidFill>
            </a:endParaRPr>
          </a:p>
        </p:txBody>
      </p:sp>
      <p:sp>
        <p:nvSpPr>
          <p:cNvPr id="556" name="Google Shape;556;g33e27b3e0e6_0_309"/>
          <p:cNvSpPr/>
          <p:nvPr/>
        </p:nvSpPr>
        <p:spPr>
          <a:xfrm>
            <a:off x="3615675" y="-1475"/>
            <a:ext cx="4154700" cy="535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1" i="0" sz="1500" u="none" cap="none" strike="noStrike">
              <a:solidFill>
                <a:srgbClr val="000000"/>
              </a:solidFill>
              <a:latin typeface="Times New Roman"/>
              <a:ea typeface="Times New Roman"/>
              <a:cs typeface="Times New Roman"/>
              <a:sym typeface="Times New Roman"/>
            </a:endParaRPr>
          </a:p>
        </p:txBody>
      </p:sp>
      <p:sp>
        <p:nvSpPr>
          <p:cNvPr id="557" name="Google Shape;557;g33e27b3e0e6_0_309"/>
          <p:cNvSpPr/>
          <p:nvPr/>
        </p:nvSpPr>
        <p:spPr>
          <a:xfrm>
            <a:off x="0" y="-1472"/>
            <a:ext cx="1329600" cy="452100"/>
          </a:xfrm>
          <a:prstGeom prst="rect">
            <a:avLst/>
          </a:prstGeom>
          <a:solidFill>
            <a:srgbClr val="C000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00"/>
              <a:buFont typeface="Arial"/>
              <a:buNone/>
            </a:pPr>
            <a:r>
              <a:rPr b="1" lang="en-US">
                <a:solidFill>
                  <a:schemeClr val="dk1"/>
                </a:solidFill>
              </a:rPr>
              <a:t>ECSE 695</a:t>
            </a:r>
            <a:endParaRPr b="1" i="0" sz="1400" u="none" cap="none" strike="noStrike">
              <a:solidFill>
                <a:schemeClr val="dk1"/>
              </a:solidFill>
              <a:latin typeface="Arial"/>
              <a:ea typeface="Arial"/>
              <a:cs typeface="Arial"/>
              <a:sym typeface="Arial"/>
            </a:endParaRPr>
          </a:p>
        </p:txBody>
      </p:sp>
      <p:sp>
        <p:nvSpPr>
          <p:cNvPr id="558" name="Google Shape;558;g33e27b3e0e6_0_309"/>
          <p:cNvSpPr txBox="1"/>
          <p:nvPr/>
        </p:nvSpPr>
        <p:spPr>
          <a:xfrm>
            <a:off x="0" y="855128"/>
            <a:ext cx="7506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p:txBody>
      </p:sp>
      <p:pic>
        <p:nvPicPr>
          <p:cNvPr descr="A blue letter with white background&#10;&#10;Description automatically generated" id="559" name="Google Shape;559;g33e27b3e0e6_0_309"/>
          <p:cNvPicPr preferRelativeResize="0"/>
          <p:nvPr/>
        </p:nvPicPr>
        <p:blipFill rotWithShape="1">
          <a:blip r:embed="rId3">
            <a:alphaModFix/>
          </a:blip>
          <a:srcRect b="0" l="0" r="0" t="0"/>
          <a:stretch/>
        </p:blipFill>
        <p:spPr>
          <a:xfrm>
            <a:off x="0" y="6597352"/>
            <a:ext cx="1329635" cy="260648"/>
          </a:xfrm>
          <a:prstGeom prst="rect">
            <a:avLst/>
          </a:prstGeom>
          <a:noFill/>
          <a:ln>
            <a:noFill/>
          </a:ln>
        </p:spPr>
      </p:pic>
      <p:sp>
        <p:nvSpPr>
          <p:cNvPr id="560" name="Google Shape;560;g33e27b3e0e6_0_309"/>
          <p:cNvSpPr txBox="1"/>
          <p:nvPr/>
        </p:nvSpPr>
        <p:spPr>
          <a:xfrm>
            <a:off x="8022596" y="6222504"/>
            <a:ext cx="4079700" cy="307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t/>
            </a:r>
            <a:endParaRPr b="0" i="0" sz="1400" u="none" cap="none" strike="noStrike">
              <a:solidFill>
                <a:srgbClr val="000000"/>
              </a:solidFill>
              <a:latin typeface="Arial"/>
              <a:ea typeface="Arial"/>
              <a:cs typeface="Arial"/>
              <a:sym typeface="Arial"/>
            </a:endParaRPr>
          </a:p>
        </p:txBody>
      </p:sp>
      <p:sp>
        <p:nvSpPr>
          <p:cNvPr id="561" name="Google Shape;561;g33e27b3e0e6_0_309"/>
          <p:cNvSpPr txBox="1"/>
          <p:nvPr/>
        </p:nvSpPr>
        <p:spPr>
          <a:xfrm>
            <a:off x="7882801" y="533746"/>
            <a:ext cx="37719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t/>
            </a:r>
            <a:endParaRPr b="1"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C00000"/>
              </a:solidFill>
              <a:latin typeface="Arial"/>
              <a:ea typeface="Arial"/>
              <a:cs typeface="Arial"/>
              <a:sym typeface="Arial"/>
            </a:endParaRPr>
          </a:p>
        </p:txBody>
      </p:sp>
      <p:sp>
        <p:nvSpPr>
          <p:cNvPr id="562" name="Google Shape;562;g33e27b3e0e6_0_309"/>
          <p:cNvSpPr txBox="1"/>
          <p:nvPr/>
        </p:nvSpPr>
        <p:spPr>
          <a:xfrm>
            <a:off x="79000" y="450625"/>
            <a:ext cx="9950100" cy="1201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t/>
            </a:r>
            <a:endParaRPr b="1" sz="1100">
              <a:solidFill>
                <a:schemeClr val="dk1"/>
              </a:solidFill>
            </a:endParaRPr>
          </a:p>
          <a:p>
            <a:pPr indent="0" lvl="0" marL="0" rtl="0" algn="l">
              <a:lnSpc>
                <a:spcPct val="115000"/>
              </a:lnSpc>
              <a:spcBef>
                <a:spcPts val="1200"/>
              </a:spcBef>
              <a:spcAft>
                <a:spcPts val="0"/>
              </a:spcAft>
              <a:buNone/>
            </a:pPr>
            <a:r>
              <a:t/>
            </a:r>
            <a:endParaRPr b="1">
              <a:solidFill>
                <a:schemeClr val="dk1"/>
              </a:solidFill>
              <a:latin typeface="Times New Roman"/>
              <a:ea typeface="Times New Roman"/>
              <a:cs typeface="Times New Roman"/>
              <a:sym typeface="Times New Roman"/>
            </a:endParaRPr>
          </a:p>
          <a:p>
            <a:pPr indent="0" lvl="0" marL="0" rtl="0" algn="l">
              <a:lnSpc>
                <a:spcPct val="115000"/>
              </a:lnSpc>
              <a:spcBef>
                <a:spcPts val="1600"/>
              </a:spcBef>
              <a:spcAft>
                <a:spcPts val="1600"/>
              </a:spcAft>
              <a:buNone/>
            </a:pPr>
            <a:r>
              <a:t/>
            </a:r>
            <a:endParaRPr>
              <a:solidFill>
                <a:schemeClr val="dk1"/>
              </a:solidFill>
              <a:latin typeface="Times New Roman"/>
              <a:ea typeface="Times New Roman"/>
              <a:cs typeface="Times New Roman"/>
              <a:sym typeface="Times New Roman"/>
            </a:endParaRPr>
          </a:p>
        </p:txBody>
      </p:sp>
      <p:sp>
        <p:nvSpPr>
          <p:cNvPr id="563" name="Google Shape;563;g33e27b3e0e6_0_309"/>
          <p:cNvSpPr txBox="1"/>
          <p:nvPr/>
        </p:nvSpPr>
        <p:spPr>
          <a:xfrm>
            <a:off x="8134650" y="5405375"/>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564" name="Google Shape;564;g33e27b3e0e6_0_309"/>
          <p:cNvSpPr txBox="1"/>
          <p:nvPr/>
        </p:nvSpPr>
        <p:spPr>
          <a:xfrm>
            <a:off x="0" y="450625"/>
            <a:ext cx="3000000" cy="369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1800"/>
              </a:spcAft>
              <a:buNone/>
            </a:pPr>
            <a:r>
              <a:t/>
            </a:r>
            <a:endParaRPr sz="1200">
              <a:solidFill>
                <a:schemeClr val="dk1"/>
              </a:solidFill>
              <a:latin typeface="Times New Roman"/>
              <a:ea typeface="Times New Roman"/>
              <a:cs typeface="Times New Roman"/>
              <a:sym typeface="Times New Roman"/>
            </a:endParaRPr>
          </a:p>
        </p:txBody>
      </p:sp>
      <p:sp>
        <p:nvSpPr>
          <p:cNvPr id="565" name="Google Shape;565;g33e27b3e0e6_0_309"/>
          <p:cNvSpPr txBox="1"/>
          <p:nvPr/>
        </p:nvSpPr>
        <p:spPr>
          <a:xfrm>
            <a:off x="34300" y="581975"/>
            <a:ext cx="10039500" cy="1000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700"/>
              </a:spcBef>
              <a:spcAft>
                <a:spcPts val="0"/>
              </a:spcAft>
              <a:buNone/>
            </a:pPr>
            <a:r>
              <a:t/>
            </a:r>
            <a:endParaRPr sz="1900">
              <a:solidFill>
                <a:schemeClr val="dk1"/>
              </a:solidFill>
              <a:latin typeface="Times New Roman"/>
              <a:ea typeface="Times New Roman"/>
              <a:cs typeface="Times New Roman"/>
              <a:sym typeface="Times New Roman"/>
            </a:endParaRPr>
          </a:p>
          <a:p>
            <a:pPr indent="0" lvl="0" marL="0" rtl="0" algn="l">
              <a:lnSpc>
                <a:spcPct val="115000"/>
              </a:lnSpc>
              <a:spcBef>
                <a:spcPts val="1700"/>
              </a:spcBef>
              <a:spcAft>
                <a:spcPts val="1700"/>
              </a:spcAft>
              <a:buNone/>
            </a:pPr>
            <a:r>
              <a:t/>
            </a:r>
            <a:endParaRPr b="1" sz="1700">
              <a:solidFill>
                <a:schemeClr val="dk1"/>
              </a:solidFill>
              <a:latin typeface="Times New Roman"/>
              <a:ea typeface="Times New Roman"/>
              <a:cs typeface="Times New Roman"/>
              <a:sym typeface="Times New Roman"/>
            </a:endParaRPr>
          </a:p>
        </p:txBody>
      </p:sp>
      <p:sp>
        <p:nvSpPr>
          <p:cNvPr id="566" name="Google Shape;566;g33e27b3e0e6_0_309"/>
          <p:cNvSpPr txBox="1"/>
          <p:nvPr/>
        </p:nvSpPr>
        <p:spPr>
          <a:xfrm>
            <a:off x="219375" y="651175"/>
            <a:ext cx="5062200" cy="4007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US" sz="1600">
                <a:solidFill>
                  <a:schemeClr val="dk1"/>
                </a:solidFill>
                <a:latin typeface="Times New Roman"/>
                <a:ea typeface="Times New Roman"/>
                <a:cs typeface="Times New Roman"/>
                <a:sym typeface="Times New Roman"/>
              </a:rPr>
              <a:t>Zone-Based Adaptive Control:</a:t>
            </a:r>
            <a:endParaRPr b="1" sz="1600">
              <a:solidFill>
                <a:schemeClr val="dk1"/>
              </a:solidFill>
              <a:latin typeface="Times New Roman"/>
              <a:ea typeface="Times New Roman"/>
              <a:cs typeface="Times New Roman"/>
              <a:sym typeface="Times New Roman"/>
            </a:endParaRPr>
          </a:p>
          <a:p>
            <a:pPr indent="-330200" lvl="0" marL="457200" rtl="0" algn="l">
              <a:lnSpc>
                <a:spcPct val="115000"/>
              </a:lnSpc>
              <a:spcBef>
                <a:spcPts val="120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Localized corrections for uneven deposition</a:t>
            </a:r>
            <a:endParaRPr sz="1600">
              <a:solidFill>
                <a:schemeClr val="dk1"/>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Spatial mapping of height variations</a:t>
            </a:r>
            <a:endParaRPr sz="1600">
              <a:solidFill>
                <a:schemeClr val="dk1"/>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Enhanced geometric accuracy for complex parts</a:t>
            </a:r>
            <a:endParaRPr sz="16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b="1" lang="en-US" sz="1600">
                <a:solidFill>
                  <a:schemeClr val="dk1"/>
                </a:solidFill>
                <a:latin typeface="Times New Roman"/>
                <a:ea typeface="Times New Roman"/>
                <a:cs typeface="Times New Roman"/>
                <a:sym typeface="Times New Roman"/>
              </a:rPr>
              <a:t>Machine Learning Integration:</a:t>
            </a:r>
            <a:endParaRPr b="1" sz="1600">
              <a:solidFill>
                <a:schemeClr val="dk1"/>
              </a:solidFill>
              <a:latin typeface="Times New Roman"/>
              <a:ea typeface="Times New Roman"/>
              <a:cs typeface="Times New Roman"/>
              <a:sym typeface="Times New Roman"/>
            </a:endParaRPr>
          </a:p>
          <a:p>
            <a:pPr indent="-330200" lvl="0" marL="457200" rtl="0" algn="l">
              <a:lnSpc>
                <a:spcPct val="115000"/>
              </a:lnSpc>
              <a:spcBef>
                <a:spcPts val="120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Predictive corrections based on historical data</a:t>
            </a:r>
            <a:endParaRPr sz="1600">
              <a:solidFill>
                <a:schemeClr val="dk1"/>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Pattern recognition for common deposition issues</a:t>
            </a:r>
            <a:endParaRPr sz="1600">
              <a:solidFill>
                <a:schemeClr val="dk1"/>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Optimization through reinforcement learning </a:t>
            </a:r>
            <a:endParaRPr sz="16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b="1" sz="12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b="1" sz="900">
              <a:solidFill>
                <a:schemeClr val="dk1"/>
              </a:solidFill>
              <a:latin typeface="Times New Roman"/>
              <a:ea typeface="Times New Roman"/>
              <a:cs typeface="Times New Roman"/>
              <a:sym typeface="Times New Roman"/>
            </a:endParaRPr>
          </a:p>
          <a:p>
            <a:pPr indent="0" lvl="0" marL="0" rtl="0" algn="l">
              <a:lnSpc>
                <a:spcPct val="115000"/>
              </a:lnSpc>
              <a:spcBef>
                <a:spcPts val="1700"/>
              </a:spcBef>
              <a:spcAft>
                <a:spcPts val="1700"/>
              </a:spcAft>
              <a:buNone/>
            </a:pPr>
            <a:r>
              <a:t/>
            </a:r>
            <a:endParaRPr sz="1600">
              <a:solidFill>
                <a:schemeClr val="dk1"/>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1" name="Shape 571"/>
        <p:cNvGrpSpPr/>
        <p:nvPr/>
      </p:nvGrpSpPr>
      <p:grpSpPr>
        <a:xfrm>
          <a:off x="0" y="0"/>
          <a:ext cx="0" cy="0"/>
          <a:chOff x="0" y="0"/>
          <a:chExt cx="0" cy="0"/>
        </a:xfrm>
      </p:grpSpPr>
      <p:sp>
        <p:nvSpPr>
          <p:cNvPr id="572" name="Google Shape;572;g33e27b3e0e6_0_328"/>
          <p:cNvSpPr/>
          <p:nvPr/>
        </p:nvSpPr>
        <p:spPr>
          <a:xfrm>
            <a:off x="1329635" y="-1472"/>
            <a:ext cx="10862400" cy="452100"/>
          </a:xfrm>
          <a:prstGeom prst="rect">
            <a:avLst/>
          </a:prstGeom>
          <a:solidFill>
            <a:srgbClr val="002060"/>
          </a:solidFill>
          <a:ln>
            <a:noFill/>
          </a:ln>
        </p:spPr>
        <p:txBody>
          <a:bodyPr anchorCtr="0" anchor="ctr" bIns="21400" lIns="42825" spcFirstLastPara="1" rIns="42825" wrap="square" tIns="21400">
            <a:noAutofit/>
          </a:bodyPr>
          <a:lstStyle/>
          <a:p>
            <a:pPr indent="0" lvl="0" marL="0" rtl="0" algn="l">
              <a:spcBef>
                <a:spcPts val="0"/>
              </a:spcBef>
              <a:spcAft>
                <a:spcPts val="0"/>
              </a:spcAft>
              <a:buClr>
                <a:srgbClr val="000000"/>
              </a:buClr>
              <a:buSzPts val="294"/>
              <a:buFont typeface="Arial"/>
              <a:buNone/>
            </a:pPr>
            <a:r>
              <a:rPr b="1" lang="en-US" sz="1700">
                <a:solidFill>
                  <a:schemeClr val="lt1"/>
                </a:solidFill>
                <a:latin typeface="Times New Roman"/>
                <a:ea typeface="Times New Roman"/>
                <a:cs typeface="Times New Roman"/>
                <a:sym typeface="Times New Roman"/>
              </a:rPr>
              <a:t>G-code Theory &amp; Command Reference</a:t>
            </a:r>
            <a:endParaRPr/>
          </a:p>
        </p:txBody>
      </p:sp>
      <p:sp>
        <p:nvSpPr>
          <p:cNvPr id="573" name="Google Shape;573;g33e27b3e0e6_0_328"/>
          <p:cNvSpPr/>
          <p:nvPr/>
        </p:nvSpPr>
        <p:spPr>
          <a:xfrm>
            <a:off x="1329635" y="6597352"/>
            <a:ext cx="10862400" cy="260700"/>
          </a:xfrm>
          <a:prstGeom prst="rect">
            <a:avLst/>
          </a:prstGeom>
          <a:solidFill>
            <a:srgbClr val="002060"/>
          </a:solidFill>
          <a:ln>
            <a:noFill/>
          </a:ln>
        </p:spPr>
        <p:txBody>
          <a:bodyPr anchorCtr="0" anchor="ctr" bIns="21400" lIns="42825" spcFirstLastPara="1" rIns="42825" wrap="square" tIns="21400">
            <a:noAutofit/>
          </a:bodyPr>
          <a:lstStyle/>
          <a:p>
            <a:pPr indent="0" lvl="0" marL="0" marR="0" rtl="0" algn="l">
              <a:lnSpc>
                <a:spcPct val="100000"/>
              </a:lnSpc>
              <a:spcBef>
                <a:spcPts val="0"/>
              </a:spcBef>
              <a:spcAft>
                <a:spcPts val="0"/>
              </a:spcAft>
              <a:buClr>
                <a:srgbClr val="000000"/>
              </a:buClr>
              <a:buSzPts val="294"/>
              <a:buFont typeface="Arial"/>
              <a:buNone/>
            </a:pPr>
            <a:r>
              <a:t/>
            </a:r>
            <a:endParaRPr b="1" i="1" sz="294" u="none" cap="none" strike="noStrike">
              <a:solidFill>
                <a:srgbClr val="FFFFFF"/>
              </a:solidFill>
              <a:latin typeface="Calibri"/>
              <a:ea typeface="Calibri"/>
              <a:cs typeface="Calibri"/>
              <a:sym typeface="Calibri"/>
            </a:endParaRPr>
          </a:p>
        </p:txBody>
      </p:sp>
      <p:sp>
        <p:nvSpPr>
          <p:cNvPr id="574" name="Google Shape;574;g33e27b3e0e6_0_328"/>
          <p:cNvSpPr txBox="1"/>
          <p:nvPr>
            <p:ph idx="12" type="sldNum"/>
          </p:nvPr>
        </p:nvSpPr>
        <p:spPr>
          <a:xfrm>
            <a:off x="11386491" y="6556449"/>
            <a:ext cx="639600" cy="3267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sz="1800">
                <a:solidFill>
                  <a:schemeClr val="lt1"/>
                </a:solidFill>
              </a:rPr>
              <a:t>‹#›</a:t>
            </a:fld>
            <a:endParaRPr sz="1931">
              <a:solidFill>
                <a:schemeClr val="lt1"/>
              </a:solidFill>
            </a:endParaRPr>
          </a:p>
        </p:txBody>
      </p:sp>
      <p:sp>
        <p:nvSpPr>
          <p:cNvPr id="575" name="Google Shape;575;g33e27b3e0e6_0_328"/>
          <p:cNvSpPr/>
          <p:nvPr/>
        </p:nvSpPr>
        <p:spPr>
          <a:xfrm>
            <a:off x="3615675" y="-1475"/>
            <a:ext cx="4154700" cy="535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1" i="0" sz="1500" u="none" cap="none" strike="noStrike">
              <a:solidFill>
                <a:srgbClr val="000000"/>
              </a:solidFill>
              <a:latin typeface="Times New Roman"/>
              <a:ea typeface="Times New Roman"/>
              <a:cs typeface="Times New Roman"/>
              <a:sym typeface="Times New Roman"/>
            </a:endParaRPr>
          </a:p>
        </p:txBody>
      </p:sp>
      <p:sp>
        <p:nvSpPr>
          <p:cNvPr id="576" name="Google Shape;576;g33e27b3e0e6_0_328"/>
          <p:cNvSpPr/>
          <p:nvPr/>
        </p:nvSpPr>
        <p:spPr>
          <a:xfrm>
            <a:off x="0" y="-1472"/>
            <a:ext cx="1329600" cy="452100"/>
          </a:xfrm>
          <a:prstGeom prst="rect">
            <a:avLst/>
          </a:prstGeom>
          <a:solidFill>
            <a:srgbClr val="C000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00"/>
              <a:buFont typeface="Arial"/>
              <a:buNone/>
            </a:pPr>
            <a:r>
              <a:rPr b="1" lang="en-US">
                <a:solidFill>
                  <a:schemeClr val="dk1"/>
                </a:solidFill>
              </a:rPr>
              <a:t>ECSE 695</a:t>
            </a:r>
            <a:endParaRPr b="1" i="0" sz="1400" u="none" cap="none" strike="noStrike">
              <a:solidFill>
                <a:schemeClr val="dk1"/>
              </a:solidFill>
              <a:latin typeface="Arial"/>
              <a:ea typeface="Arial"/>
              <a:cs typeface="Arial"/>
              <a:sym typeface="Arial"/>
            </a:endParaRPr>
          </a:p>
        </p:txBody>
      </p:sp>
      <p:sp>
        <p:nvSpPr>
          <p:cNvPr id="577" name="Google Shape;577;g33e27b3e0e6_0_328"/>
          <p:cNvSpPr txBox="1"/>
          <p:nvPr/>
        </p:nvSpPr>
        <p:spPr>
          <a:xfrm>
            <a:off x="0" y="855128"/>
            <a:ext cx="7506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p:txBody>
      </p:sp>
      <p:pic>
        <p:nvPicPr>
          <p:cNvPr descr="A blue letter with white background&#10;&#10;Description automatically generated" id="578" name="Google Shape;578;g33e27b3e0e6_0_328"/>
          <p:cNvPicPr preferRelativeResize="0"/>
          <p:nvPr/>
        </p:nvPicPr>
        <p:blipFill rotWithShape="1">
          <a:blip r:embed="rId3">
            <a:alphaModFix/>
          </a:blip>
          <a:srcRect b="0" l="0" r="0" t="0"/>
          <a:stretch/>
        </p:blipFill>
        <p:spPr>
          <a:xfrm>
            <a:off x="0" y="6597352"/>
            <a:ext cx="1329635" cy="260648"/>
          </a:xfrm>
          <a:prstGeom prst="rect">
            <a:avLst/>
          </a:prstGeom>
          <a:noFill/>
          <a:ln>
            <a:noFill/>
          </a:ln>
        </p:spPr>
      </p:pic>
      <p:sp>
        <p:nvSpPr>
          <p:cNvPr id="579" name="Google Shape;579;g33e27b3e0e6_0_328"/>
          <p:cNvSpPr txBox="1"/>
          <p:nvPr/>
        </p:nvSpPr>
        <p:spPr>
          <a:xfrm>
            <a:off x="8022596" y="6222504"/>
            <a:ext cx="4079700" cy="307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t/>
            </a:r>
            <a:endParaRPr b="0" i="0" sz="1400" u="none" cap="none" strike="noStrike">
              <a:solidFill>
                <a:srgbClr val="000000"/>
              </a:solidFill>
              <a:latin typeface="Arial"/>
              <a:ea typeface="Arial"/>
              <a:cs typeface="Arial"/>
              <a:sym typeface="Arial"/>
            </a:endParaRPr>
          </a:p>
        </p:txBody>
      </p:sp>
      <p:sp>
        <p:nvSpPr>
          <p:cNvPr id="580" name="Google Shape;580;g33e27b3e0e6_0_328"/>
          <p:cNvSpPr txBox="1"/>
          <p:nvPr/>
        </p:nvSpPr>
        <p:spPr>
          <a:xfrm>
            <a:off x="7882801" y="533746"/>
            <a:ext cx="37719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t/>
            </a:r>
            <a:endParaRPr b="1"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C00000"/>
              </a:solidFill>
              <a:latin typeface="Arial"/>
              <a:ea typeface="Arial"/>
              <a:cs typeface="Arial"/>
              <a:sym typeface="Arial"/>
            </a:endParaRPr>
          </a:p>
        </p:txBody>
      </p:sp>
      <p:sp>
        <p:nvSpPr>
          <p:cNvPr id="581" name="Google Shape;581;g33e27b3e0e6_0_328"/>
          <p:cNvSpPr txBox="1"/>
          <p:nvPr/>
        </p:nvSpPr>
        <p:spPr>
          <a:xfrm>
            <a:off x="79000" y="450625"/>
            <a:ext cx="9950100" cy="1201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t/>
            </a:r>
            <a:endParaRPr b="1" sz="1100">
              <a:solidFill>
                <a:schemeClr val="dk1"/>
              </a:solidFill>
            </a:endParaRPr>
          </a:p>
          <a:p>
            <a:pPr indent="0" lvl="0" marL="0" rtl="0" algn="l">
              <a:lnSpc>
                <a:spcPct val="115000"/>
              </a:lnSpc>
              <a:spcBef>
                <a:spcPts val="1200"/>
              </a:spcBef>
              <a:spcAft>
                <a:spcPts val="0"/>
              </a:spcAft>
              <a:buNone/>
            </a:pPr>
            <a:r>
              <a:t/>
            </a:r>
            <a:endParaRPr b="1">
              <a:solidFill>
                <a:schemeClr val="dk1"/>
              </a:solidFill>
              <a:latin typeface="Times New Roman"/>
              <a:ea typeface="Times New Roman"/>
              <a:cs typeface="Times New Roman"/>
              <a:sym typeface="Times New Roman"/>
            </a:endParaRPr>
          </a:p>
          <a:p>
            <a:pPr indent="0" lvl="0" marL="0" rtl="0" algn="l">
              <a:lnSpc>
                <a:spcPct val="115000"/>
              </a:lnSpc>
              <a:spcBef>
                <a:spcPts val="1600"/>
              </a:spcBef>
              <a:spcAft>
                <a:spcPts val="1600"/>
              </a:spcAft>
              <a:buNone/>
            </a:pPr>
            <a:r>
              <a:t/>
            </a:r>
            <a:endParaRPr>
              <a:solidFill>
                <a:schemeClr val="dk1"/>
              </a:solidFill>
              <a:latin typeface="Times New Roman"/>
              <a:ea typeface="Times New Roman"/>
              <a:cs typeface="Times New Roman"/>
              <a:sym typeface="Times New Roman"/>
            </a:endParaRPr>
          </a:p>
        </p:txBody>
      </p:sp>
      <p:sp>
        <p:nvSpPr>
          <p:cNvPr id="582" name="Google Shape;582;g33e27b3e0e6_0_328"/>
          <p:cNvSpPr txBox="1"/>
          <p:nvPr/>
        </p:nvSpPr>
        <p:spPr>
          <a:xfrm>
            <a:off x="8134650" y="5405375"/>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583" name="Google Shape;583;g33e27b3e0e6_0_328"/>
          <p:cNvSpPr txBox="1"/>
          <p:nvPr/>
        </p:nvSpPr>
        <p:spPr>
          <a:xfrm>
            <a:off x="0" y="450625"/>
            <a:ext cx="3000000" cy="369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1800"/>
              </a:spcAft>
              <a:buNone/>
            </a:pPr>
            <a:r>
              <a:t/>
            </a:r>
            <a:endParaRPr sz="1200">
              <a:solidFill>
                <a:schemeClr val="dk1"/>
              </a:solidFill>
              <a:latin typeface="Times New Roman"/>
              <a:ea typeface="Times New Roman"/>
              <a:cs typeface="Times New Roman"/>
              <a:sym typeface="Times New Roman"/>
            </a:endParaRPr>
          </a:p>
        </p:txBody>
      </p:sp>
      <p:sp>
        <p:nvSpPr>
          <p:cNvPr id="584" name="Google Shape;584;g33e27b3e0e6_0_328"/>
          <p:cNvSpPr txBox="1"/>
          <p:nvPr/>
        </p:nvSpPr>
        <p:spPr>
          <a:xfrm>
            <a:off x="34300" y="581975"/>
            <a:ext cx="10039500" cy="1000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700"/>
              </a:spcBef>
              <a:spcAft>
                <a:spcPts val="0"/>
              </a:spcAft>
              <a:buNone/>
            </a:pPr>
            <a:r>
              <a:t/>
            </a:r>
            <a:endParaRPr sz="1900">
              <a:solidFill>
                <a:schemeClr val="dk1"/>
              </a:solidFill>
              <a:latin typeface="Times New Roman"/>
              <a:ea typeface="Times New Roman"/>
              <a:cs typeface="Times New Roman"/>
              <a:sym typeface="Times New Roman"/>
            </a:endParaRPr>
          </a:p>
          <a:p>
            <a:pPr indent="0" lvl="0" marL="0" rtl="0" algn="l">
              <a:lnSpc>
                <a:spcPct val="115000"/>
              </a:lnSpc>
              <a:spcBef>
                <a:spcPts val="1700"/>
              </a:spcBef>
              <a:spcAft>
                <a:spcPts val="1700"/>
              </a:spcAft>
              <a:buNone/>
            </a:pPr>
            <a:r>
              <a:t/>
            </a:r>
            <a:endParaRPr b="1" sz="1700">
              <a:solidFill>
                <a:schemeClr val="dk1"/>
              </a:solidFill>
              <a:latin typeface="Times New Roman"/>
              <a:ea typeface="Times New Roman"/>
              <a:cs typeface="Times New Roman"/>
              <a:sym typeface="Times New Roman"/>
            </a:endParaRPr>
          </a:p>
        </p:txBody>
      </p:sp>
      <p:sp>
        <p:nvSpPr>
          <p:cNvPr id="585" name="Google Shape;585;g33e27b3e0e6_0_328"/>
          <p:cNvSpPr txBox="1"/>
          <p:nvPr/>
        </p:nvSpPr>
        <p:spPr>
          <a:xfrm>
            <a:off x="219375" y="663225"/>
            <a:ext cx="5062200" cy="7589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b="1" lang="en-US">
                <a:solidFill>
                  <a:schemeClr val="dk1"/>
                </a:solidFill>
                <a:latin typeface="Times New Roman"/>
                <a:ea typeface="Times New Roman"/>
                <a:cs typeface="Times New Roman"/>
                <a:sym typeface="Times New Roman"/>
              </a:rPr>
              <a:t> </a:t>
            </a:r>
            <a:r>
              <a:rPr lang="en-US">
                <a:solidFill>
                  <a:schemeClr val="dk1"/>
                </a:solidFill>
                <a:latin typeface="Times New Roman"/>
                <a:ea typeface="Times New Roman"/>
                <a:cs typeface="Times New Roman"/>
                <a:sym typeface="Times New Roman"/>
              </a:rPr>
              <a:t>Movement commands</a:t>
            </a:r>
            <a:endParaRPr>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latin typeface="Times New Roman"/>
                <a:ea typeface="Times New Roman"/>
                <a:cs typeface="Times New Roman"/>
                <a:sym typeface="Times New Roman"/>
              </a:rPr>
              <a:t>G0 X100 Y100 Z10     ; Rapid positioning</a:t>
            </a:r>
            <a:endParaRPr>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latin typeface="Times New Roman"/>
                <a:ea typeface="Times New Roman"/>
                <a:cs typeface="Times New Roman"/>
                <a:sym typeface="Times New Roman"/>
              </a:rPr>
              <a:t>G1 X200 Y100 Z10 F1000 ; Linear interpolation with feed rate</a:t>
            </a:r>
            <a:endParaRPr>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latin typeface="Times New Roman"/>
                <a:ea typeface="Times New Roman"/>
                <a:cs typeface="Times New Roman"/>
                <a:sym typeface="Times New Roman"/>
              </a:rPr>
              <a:t>; Coordinate system commands</a:t>
            </a:r>
            <a:endParaRPr>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latin typeface="Times New Roman"/>
                <a:ea typeface="Times New Roman"/>
                <a:cs typeface="Times New Roman"/>
                <a:sym typeface="Times New Roman"/>
              </a:rPr>
              <a:t>G90                  ; Set absolute positioning</a:t>
            </a:r>
            <a:endParaRPr>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latin typeface="Times New Roman"/>
                <a:ea typeface="Times New Roman"/>
                <a:cs typeface="Times New Roman"/>
                <a:sym typeface="Times New Roman"/>
              </a:rPr>
              <a:t>G91                  ; Set relative positioning</a:t>
            </a:r>
            <a:endParaRPr>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latin typeface="Times New Roman"/>
                <a:ea typeface="Times New Roman"/>
                <a:cs typeface="Times New Roman"/>
                <a:sym typeface="Times New Roman"/>
              </a:rPr>
              <a:t>; Layer markers</a:t>
            </a:r>
            <a:endParaRPr>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latin typeface="Times New Roman"/>
                <a:ea typeface="Times New Roman"/>
                <a:cs typeface="Times New Roman"/>
                <a:sym typeface="Times New Roman"/>
              </a:rPr>
              <a:t>;LAYER:0</a:t>
            </a:r>
            <a:endParaRPr>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latin typeface="Times New Roman"/>
                <a:ea typeface="Times New Roman"/>
                <a:cs typeface="Times New Roman"/>
                <a:sym typeface="Times New Roman"/>
              </a:rPr>
              <a:t>G1 X200 Y100 Z0</a:t>
            </a:r>
            <a:endParaRPr>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latin typeface="Times New Roman"/>
                <a:ea typeface="Times New Roman"/>
                <a:cs typeface="Times New Roman"/>
                <a:sym typeface="Times New Roman"/>
              </a:rPr>
              <a:t>G1 X100 Y100 Z0</a:t>
            </a:r>
            <a:endParaRPr>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latin typeface="Times New Roman"/>
                <a:ea typeface="Times New Roman"/>
                <a:cs typeface="Times New Roman"/>
                <a:sym typeface="Times New Roman"/>
              </a:rPr>
              <a:t>;LAYER:1</a:t>
            </a:r>
            <a:endParaRPr>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latin typeface="Times New Roman"/>
                <a:ea typeface="Times New Roman"/>
                <a:cs typeface="Times New Roman"/>
                <a:sym typeface="Times New Roman"/>
              </a:rPr>
              <a:t>G1 X100 Y100 Z10</a:t>
            </a:r>
            <a:endParaRPr>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latin typeface="Times New Roman"/>
                <a:ea typeface="Times New Roman"/>
                <a:cs typeface="Times New Roman"/>
                <a:sym typeface="Times New Roman"/>
              </a:rPr>
              <a:t>G1 X200 Y100 Z10</a:t>
            </a:r>
            <a:endParaRPr>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t/>
            </a:r>
            <a:endParaRPr b="1" sz="16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b="1" sz="12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b="1" sz="900">
              <a:solidFill>
                <a:schemeClr val="dk1"/>
              </a:solidFill>
              <a:latin typeface="Times New Roman"/>
              <a:ea typeface="Times New Roman"/>
              <a:cs typeface="Times New Roman"/>
              <a:sym typeface="Times New Roman"/>
            </a:endParaRPr>
          </a:p>
          <a:p>
            <a:pPr indent="0" lvl="0" marL="0" rtl="0" algn="l">
              <a:lnSpc>
                <a:spcPct val="115000"/>
              </a:lnSpc>
              <a:spcBef>
                <a:spcPts val="1700"/>
              </a:spcBef>
              <a:spcAft>
                <a:spcPts val="1700"/>
              </a:spcAft>
              <a:buNone/>
            </a:pPr>
            <a:r>
              <a:t/>
            </a:r>
            <a:endParaRPr sz="1600">
              <a:solidFill>
                <a:schemeClr val="dk1"/>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0" name="Shape 590"/>
        <p:cNvGrpSpPr/>
        <p:nvPr/>
      </p:nvGrpSpPr>
      <p:grpSpPr>
        <a:xfrm>
          <a:off x="0" y="0"/>
          <a:ext cx="0" cy="0"/>
          <a:chOff x="0" y="0"/>
          <a:chExt cx="0" cy="0"/>
        </a:xfrm>
      </p:grpSpPr>
      <p:sp>
        <p:nvSpPr>
          <p:cNvPr id="591" name="Google Shape;591;g33e27b3e0e6_0_366"/>
          <p:cNvSpPr/>
          <p:nvPr/>
        </p:nvSpPr>
        <p:spPr>
          <a:xfrm>
            <a:off x="1329635" y="-1472"/>
            <a:ext cx="10862400" cy="452100"/>
          </a:xfrm>
          <a:prstGeom prst="rect">
            <a:avLst/>
          </a:prstGeom>
          <a:solidFill>
            <a:srgbClr val="002060"/>
          </a:solidFill>
          <a:ln>
            <a:noFill/>
          </a:ln>
        </p:spPr>
        <p:txBody>
          <a:bodyPr anchorCtr="0" anchor="ctr" bIns="21400" lIns="42825" spcFirstLastPara="1" rIns="42825" wrap="square" tIns="21400">
            <a:noAutofit/>
          </a:bodyPr>
          <a:lstStyle/>
          <a:p>
            <a:pPr indent="0" lvl="0" marL="0" rtl="0" algn="l">
              <a:spcBef>
                <a:spcPts val="0"/>
              </a:spcBef>
              <a:spcAft>
                <a:spcPts val="0"/>
              </a:spcAft>
              <a:buClr>
                <a:srgbClr val="000000"/>
              </a:buClr>
              <a:buSzPts val="294"/>
              <a:buFont typeface="Arial"/>
              <a:buNone/>
            </a:pPr>
            <a:r>
              <a:rPr b="1" lang="en-US" sz="1700">
                <a:solidFill>
                  <a:schemeClr val="lt1"/>
                </a:solidFill>
                <a:latin typeface="Times New Roman"/>
                <a:ea typeface="Times New Roman"/>
                <a:cs typeface="Times New Roman"/>
                <a:sym typeface="Times New Roman"/>
              </a:rPr>
              <a:t>G-code Theory &amp; Command Reference</a:t>
            </a:r>
            <a:endParaRPr/>
          </a:p>
        </p:txBody>
      </p:sp>
      <p:sp>
        <p:nvSpPr>
          <p:cNvPr id="592" name="Google Shape;592;g33e27b3e0e6_0_366"/>
          <p:cNvSpPr/>
          <p:nvPr/>
        </p:nvSpPr>
        <p:spPr>
          <a:xfrm>
            <a:off x="1329635" y="6597352"/>
            <a:ext cx="10862400" cy="260700"/>
          </a:xfrm>
          <a:prstGeom prst="rect">
            <a:avLst/>
          </a:prstGeom>
          <a:solidFill>
            <a:srgbClr val="002060"/>
          </a:solidFill>
          <a:ln>
            <a:noFill/>
          </a:ln>
        </p:spPr>
        <p:txBody>
          <a:bodyPr anchorCtr="0" anchor="ctr" bIns="21400" lIns="42825" spcFirstLastPara="1" rIns="42825" wrap="square" tIns="21400">
            <a:noAutofit/>
          </a:bodyPr>
          <a:lstStyle/>
          <a:p>
            <a:pPr indent="0" lvl="0" marL="0" marR="0" rtl="0" algn="l">
              <a:lnSpc>
                <a:spcPct val="100000"/>
              </a:lnSpc>
              <a:spcBef>
                <a:spcPts val="0"/>
              </a:spcBef>
              <a:spcAft>
                <a:spcPts val="0"/>
              </a:spcAft>
              <a:buClr>
                <a:srgbClr val="000000"/>
              </a:buClr>
              <a:buSzPts val="294"/>
              <a:buFont typeface="Arial"/>
              <a:buNone/>
            </a:pPr>
            <a:r>
              <a:t/>
            </a:r>
            <a:endParaRPr b="1" i="1" sz="294" u="none" cap="none" strike="noStrike">
              <a:solidFill>
                <a:srgbClr val="FFFFFF"/>
              </a:solidFill>
              <a:latin typeface="Calibri"/>
              <a:ea typeface="Calibri"/>
              <a:cs typeface="Calibri"/>
              <a:sym typeface="Calibri"/>
            </a:endParaRPr>
          </a:p>
        </p:txBody>
      </p:sp>
      <p:sp>
        <p:nvSpPr>
          <p:cNvPr id="593" name="Google Shape;593;g33e27b3e0e6_0_366"/>
          <p:cNvSpPr txBox="1"/>
          <p:nvPr>
            <p:ph idx="12" type="sldNum"/>
          </p:nvPr>
        </p:nvSpPr>
        <p:spPr>
          <a:xfrm>
            <a:off x="11386491" y="6556449"/>
            <a:ext cx="639600" cy="3267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sz="1800">
                <a:solidFill>
                  <a:schemeClr val="lt1"/>
                </a:solidFill>
              </a:rPr>
              <a:t>‹#›</a:t>
            </a:fld>
            <a:endParaRPr sz="1931">
              <a:solidFill>
                <a:schemeClr val="lt1"/>
              </a:solidFill>
            </a:endParaRPr>
          </a:p>
        </p:txBody>
      </p:sp>
      <p:sp>
        <p:nvSpPr>
          <p:cNvPr id="594" name="Google Shape;594;g33e27b3e0e6_0_366"/>
          <p:cNvSpPr/>
          <p:nvPr/>
        </p:nvSpPr>
        <p:spPr>
          <a:xfrm>
            <a:off x="3615675" y="-1475"/>
            <a:ext cx="4154700" cy="535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1" i="0" sz="1500" u="none" cap="none" strike="noStrike">
              <a:solidFill>
                <a:srgbClr val="000000"/>
              </a:solidFill>
              <a:latin typeface="Times New Roman"/>
              <a:ea typeface="Times New Roman"/>
              <a:cs typeface="Times New Roman"/>
              <a:sym typeface="Times New Roman"/>
            </a:endParaRPr>
          </a:p>
        </p:txBody>
      </p:sp>
      <p:sp>
        <p:nvSpPr>
          <p:cNvPr id="595" name="Google Shape;595;g33e27b3e0e6_0_366"/>
          <p:cNvSpPr/>
          <p:nvPr/>
        </p:nvSpPr>
        <p:spPr>
          <a:xfrm>
            <a:off x="0" y="-1472"/>
            <a:ext cx="1329600" cy="452100"/>
          </a:xfrm>
          <a:prstGeom prst="rect">
            <a:avLst/>
          </a:prstGeom>
          <a:solidFill>
            <a:srgbClr val="C000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00"/>
              <a:buFont typeface="Arial"/>
              <a:buNone/>
            </a:pPr>
            <a:r>
              <a:rPr b="1" lang="en-US">
                <a:solidFill>
                  <a:schemeClr val="dk1"/>
                </a:solidFill>
              </a:rPr>
              <a:t>ECSE 695</a:t>
            </a:r>
            <a:endParaRPr b="1" i="0" sz="1400" u="none" cap="none" strike="noStrike">
              <a:solidFill>
                <a:schemeClr val="dk1"/>
              </a:solidFill>
              <a:latin typeface="Arial"/>
              <a:ea typeface="Arial"/>
              <a:cs typeface="Arial"/>
              <a:sym typeface="Arial"/>
            </a:endParaRPr>
          </a:p>
        </p:txBody>
      </p:sp>
      <p:sp>
        <p:nvSpPr>
          <p:cNvPr id="596" name="Google Shape;596;g33e27b3e0e6_0_366"/>
          <p:cNvSpPr txBox="1"/>
          <p:nvPr/>
        </p:nvSpPr>
        <p:spPr>
          <a:xfrm>
            <a:off x="0" y="855128"/>
            <a:ext cx="7506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p:txBody>
      </p:sp>
      <p:pic>
        <p:nvPicPr>
          <p:cNvPr descr="A blue letter with white background&#10;&#10;Description automatically generated" id="597" name="Google Shape;597;g33e27b3e0e6_0_366"/>
          <p:cNvPicPr preferRelativeResize="0"/>
          <p:nvPr/>
        </p:nvPicPr>
        <p:blipFill rotWithShape="1">
          <a:blip r:embed="rId3">
            <a:alphaModFix/>
          </a:blip>
          <a:srcRect b="0" l="0" r="0" t="0"/>
          <a:stretch/>
        </p:blipFill>
        <p:spPr>
          <a:xfrm>
            <a:off x="0" y="6597352"/>
            <a:ext cx="1329635" cy="260648"/>
          </a:xfrm>
          <a:prstGeom prst="rect">
            <a:avLst/>
          </a:prstGeom>
          <a:noFill/>
          <a:ln>
            <a:noFill/>
          </a:ln>
        </p:spPr>
      </p:pic>
      <p:sp>
        <p:nvSpPr>
          <p:cNvPr id="598" name="Google Shape;598;g33e27b3e0e6_0_366"/>
          <p:cNvSpPr txBox="1"/>
          <p:nvPr/>
        </p:nvSpPr>
        <p:spPr>
          <a:xfrm>
            <a:off x="8022596" y="6222504"/>
            <a:ext cx="4079700" cy="307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t/>
            </a:r>
            <a:endParaRPr b="0" i="0" sz="1400" u="none" cap="none" strike="noStrike">
              <a:solidFill>
                <a:srgbClr val="000000"/>
              </a:solidFill>
              <a:latin typeface="Arial"/>
              <a:ea typeface="Arial"/>
              <a:cs typeface="Arial"/>
              <a:sym typeface="Arial"/>
            </a:endParaRPr>
          </a:p>
        </p:txBody>
      </p:sp>
      <p:sp>
        <p:nvSpPr>
          <p:cNvPr id="599" name="Google Shape;599;g33e27b3e0e6_0_366"/>
          <p:cNvSpPr txBox="1"/>
          <p:nvPr/>
        </p:nvSpPr>
        <p:spPr>
          <a:xfrm>
            <a:off x="7882801" y="533746"/>
            <a:ext cx="37719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t/>
            </a:r>
            <a:endParaRPr b="1"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C00000"/>
              </a:solidFill>
              <a:latin typeface="Arial"/>
              <a:ea typeface="Arial"/>
              <a:cs typeface="Arial"/>
              <a:sym typeface="Arial"/>
            </a:endParaRPr>
          </a:p>
        </p:txBody>
      </p:sp>
      <p:sp>
        <p:nvSpPr>
          <p:cNvPr id="600" name="Google Shape;600;g33e27b3e0e6_0_366"/>
          <p:cNvSpPr txBox="1"/>
          <p:nvPr/>
        </p:nvSpPr>
        <p:spPr>
          <a:xfrm>
            <a:off x="79000" y="450625"/>
            <a:ext cx="9950100" cy="1201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t/>
            </a:r>
            <a:endParaRPr b="1" sz="1100">
              <a:solidFill>
                <a:schemeClr val="dk1"/>
              </a:solidFill>
            </a:endParaRPr>
          </a:p>
          <a:p>
            <a:pPr indent="0" lvl="0" marL="0" rtl="0" algn="l">
              <a:lnSpc>
                <a:spcPct val="115000"/>
              </a:lnSpc>
              <a:spcBef>
                <a:spcPts val="1200"/>
              </a:spcBef>
              <a:spcAft>
                <a:spcPts val="0"/>
              </a:spcAft>
              <a:buNone/>
            </a:pPr>
            <a:r>
              <a:t/>
            </a:r>
            <a:endParaRPr b="1">
              <a:solidFill>
                <a:schemeClr val="dk1"/>
              </a:solidFill>
              <a:latin typeface="Times New Roman"/>
              <a:ea typeface="Times New Roman"/>
              <a:cs typeface="Times New Roman"/>
              <a:sym typeface="Times New Roman"/>
            </a:endParaRPr>
          </a:p>
          <a:p>
            <a:pPr indent="0" lvl="0" marL="0" rtl="0" algn="l">
              <a:lnSpc>
                <a:spcPct val="115000"/>
              </a:lnSpc>
              <a:spcBef>
                <a:spcPts val="1600"/>
              </a:spcBef>
              <a:spcAft>
                <a:spcPts val="1600"/>
              </a:spcAft>
              <a:buNone/>
            </a:pPr>
            <a:r>
              <a:t/>
            </a:r>
            <a:endParaRPr>
              <a:solidFill>
                <a:schemeClr val="dk1"/>
              </a:solidFill>
              <a:latin typeface="Times New Roman"/>
              <a:ea typeface="Times New Roman"/>
              <a:cs typeface="Times New Roman"/>
              <a:sym typeface="Times New Roman"/>
            </a:endParaRPr>
          </a:p>
        </p:txBody>
      </p:sp>
      <p:sp>
        <p:nvSpPr>
          <p:cNvPr id="601" name="Google Shape;601;g33e27b3e0e6_0_366"/>
          <p:cNvSpPr txBox="1"/>
          <p:nvPr/>
        </p:nvSpPr>
        <p:spPr>
          <a:xfrm>
            <a:off x="8134650" y="5405375"/>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602" name="Google Shape;602;g33e27b3e0e6_0_366"/>
          <p:cNvSpPr txBox="1"/>
          <p:nvPr/>
        </p:nvSpPr>
        <p:spPr>
          <a:xfrm>
            <a:off x="0" y="450625"/>
            <a:ext cx="3000000" cy="369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1800"/>
              </a:spcAft>
              <a:buNone/>
            </a:pPr>
            <a:r>
              <a:t/>
            </a:r>
            <a:endParaRPr sz="1200">
              <a:solidFill>
                <a:schemeClr val="dk1"/>
              </a:solidFill>
              <a:latin typeface="Times New Roman"/>
              <a:ea typeface="Times New Roman"/>
              <a:cs typeface="Times New Roman"/>
              <a:sym typeface="Times New Roman"/>
            </a:endParaRPr>
          </a:p>
        </p:txBody>
      </p:sp>
      <p:sp>
        <p:nvSpPr>
          <p:cNvPr id="603" name="Google Shape;603;g33e27b3e0e6_0_366"/>
          <p:cNvSpPr txBox="1"/>
          <p:nvPr/>
        </p:nvSpPr>
        <p:spPr>
          <a:xfrm>
            <a:off x="34300" y="581975"/>
            <a:ext cx="10039500" cy="1000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700"/>
              </a:spcBef>
              <a:spcAft>
                <a:spcPts val="0"/>
              </a:spcAft>
              <a:buNone/>
            </a:pPr>
            <a:r>
              <a:t/>
            </a:r>
            <a:endParaRPr sz="1900">
              <a:solidFill>
                <a:schemeClr val="dk1"/>
              </a:solidFill>
              <a:latin typeface="Times New Roman"/>
              <a:ea typeface="Times New Roman"/>
              <a:cs typeface="Times New Roman"/>
              <a:sym typeface="Times New Roman"/>
            </a:endParaRPr>
          </a:p>
          <a:p>
            <a:pPr indent="0" lvl="0" marL="0" rtl="0" algn="l">
              <a:lnSpc>
                <a:spcPct val="115000"/>
              </a:lnSpc>
              <a:spcBef>
                <a:spcPts val="1700"/>
              </a:spcBef>
              <a:spcAft>
                <a:spcPts val="1700"/>
              </a:spcAft>
              <a:buNone/>
            </a:pPr>
            <a:r>
              <a:t/>
            </a:r>
            <a:endParaRPr b="1" sz="1700">
              <a:solidFill>
                <a:schemeClr val="dk1"/>
              </a:solidFill>
              <a:latin typeface="Times New Roman"/>
              <a:ea typeface="Times New Roman"/>
              <a:cs typeface="Times New Roman"/>
              <a:sym typeface="Times New Roman"/>
            </a:endParaRPr>
          </a:p>
        </p:txBody>
      </p:sp>
      <p:sp>
        <p:nvSpPr>
          <p:cNvPr id="604" name="Google Shape;604;g33e27b3e0e6_0_366"/>
          <p:cNvSpPr txBox="1"/>
          <p:nvPr/>
        </p:nvSpPr>
        <p:spPr>
          <a:xfrm>
            <a:off x="219375" y="663225"/>
            <a:ext cx="5062200" cy="3694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US" sz="1700">
                <a:solidFill>
                  <a:schemeClr val="dk1"/>
                </a:solidFill>
                <a:latin typeface="Times New Roman"/>
                <a:ea typeface="Times New Roman"/>
                <a:cs typeface="Times New Roman"/>
                <a:sym typeface="Times New Roman"/>
              </a:rPr>
              <a:t> </a:t>
            </a:r>
            <a:r>
              <a:rPr b="1" lang="en-US" sz="1700">
                <a:solidFill>
                  <a:schemeClr val="dk1"/>
                </a:solidFill>
                <a:latin typeface="Times New Roman"/>
                <a:ea typeface="Times New Roman"/>
                <a:cs typeface="Times New Roman"/>
                <a:sym typeface="Times New Roman"/>
              </a:rPr>
              <a:t>WAAM-Specific G-code:</a:t>
            </a:r>
            <a:endParaRPr b="1" sz="1700">
              <a:solidFill>
                <a:schemeClr val="dk1"/>
              </a:solidFill>
              <a:latin typeface="Times New Roman"/>
              <a:ea typeface="Times New Roman"/>
              <a:cs typeface="Times New Roman"/>
              <a:sym typeface="Times New Roman"/>
            </a:endParaRPr>
          </a:p>
          <a:p>
            <a:pPr indent="-336550" lvl="0" marL="457200" rtl="0" algn="l">
              <a:lnSpc>
                <a:spcPct val="115000"/>
              </a:lnSpc>
              <a:spcBef>
                <a:spcPts val="1200"/>
              </a:spcBef>
              <a:spcAft>
                <a:spcPts val="0"/>
              </a:spcAft>
              <a:buClr>
                <a:schemeClr val="dk1"/>
              </a:buClr>
              <a:buSzPts val="1700"/>
              <a:buFont typeface="Times New Roman"/>
              <a:buChar char="●"/>
            </a:pPr>
            <a:r>
              <a:rPr lang="en-US" sz="1700">
                <a:solidFill>
                  <a:schemeClr val="dk1"/>
                </a:solidFill>
                <a:latin typeface="Times New Roman"/>
                <a:ea typeface="Times New Roman"/>
                <a:cs typeface="Times New Roman"/>
                <a:sym typeface="Times New Roman"/>
              </a:rPr>
              <a:t>M42 P1 S1 ; Enable Welder (digital output control)</a:t>
            </a:r>
            <a:endParaRPr sz="1700">
              <a:solidFill>
                <a:schemeClr val="dk1"/>
              </a:solidFill>
              <a:latin typeface="Times New Roman"/>
              <a:ea typeface="Times New Roman"/>
              <a:cs typeface="Times New Roman"/>
              <a:sym typeface="Times New Roman"/>
            </a:endParaRPr>
          </a:p>
          <a:p>
            <a:pPr indent="-336550" lvl="0" marL="457200" rtl="0" algn="l">
              <a:lnSpc>
                <a:spcPct val="115000"/>
              </a:lnSpc>
              <a:spcBef>
                <a:spcPts val="0"/>
              </a:spcBef>
              <a:spcAft>
                <a:spcPts val="0"/>
              </a:spcAft>
              <a:buClr>
                <a:schemeClr val="dk1"/>
              </a:buClr>
              <a:buSzPts val="1700"/>
              <a:buFont typeface="Times New Roman"/>
              <a:buChar char="●"/>
            </a:pPr>
            <a:r>
              <a:rPr lang="en-US" sz="1700">
                <a:solidFill>
                  <a:schemeClr val="dk1"/>
                </a:solidFill>
                <a:latin typeface="Times New Roman"/>
                <a:ea typeface="Times New Roman"/>
                <a:cs typeface="Times New Roman"/>
                <a:sym typeface="Times New Roman"/>
              </a:rPr>
              <a:t>M42 P1 S0 ; Disable Welder</a:t>
            </a:r>
            <a:endParaRPr sz="1700">
              <a:solidFill>
                <a:schemeClr val="dk1"/>
              </a:solidFill>
              <a:latin typeface="Times New Roman"/>
              <a:ea typeface="Times New Roman"/>
              <a:cs typeface="Times New Roman"/>
              <a:sym typeface="Times New Roman"/>
            </a:endParaRPr>
          </a:p>
          <a:p>
            <a:pPr indent="-336550" lvl="0" marL="457200" rtl="0" algn="l">
              <a:lnSpc>
                <a:spcPct val="115000"/>
              </a:lnSpc>
              <a:spcBef>
                <a:spcPts val="0"/>
              </a:spcBef>
              <a:spcAft>
                <a:spcPts val="0"/>
              </a:spcAft>
              <a:buClr>
                <a:schemeClr val="dk1"/>
              </a:buClr>
              <a:buSzPts val="1700"/>
              <a:buFont typeface="Times New Roman"/>
              <a:buChar char="●"/>
            </a:pPr>
            <a:r>
              <a:rPr lang="en-US" sz="1700">
                <a:solidFill>
                  <a:schemeClr val="dk1"/>
                </a:solidFill>
                <a:latin typeface="Times New Roman"/>
                <a:ea typeface="Times New Roman"/>
                <a:cs typeface="Times New Roman"/>
                <a:sym typeface="Times New Roman"/>
              </a:rPr>
              <a:t>G4 P500 ; Pause for 500ms (stabilization)</a:t>
            </a:r>
            <a:endParaRPr sz="1700">
              <a:solidFill>
                <a:schemeClr val="dk1"/>
              </a:solidFill>
              <a:latin typeface="Times New Roman"/>
              <a:ea typeface="Times New Roman"/>
              <a:cs typeface="Times New Roman"/>
              <a:sym typeface="Times New Roman"/>
            </a:endParaRPr>
          </a:p>
          <a:p>
            <a:pPr indent="-336550" lvl="0" marL="457200" rtl="0" algn="l">
              <a:lnSpc>
                <a:spcPct val="115000"/>
              </a:lnSpc>
              <a:spcBef>
                <a:spcPts val="0"/>
              </a:spcBef>
              <a:spcAft>
                <a:spcPts val="0"/>
              </a:spcAft>
              <a:buClr>
                <a:schemeClr val="dk1"/>
              </a:buClr>
              <a:buSzPts val="1700"/>
              <a:buFont typeface="Times New Roman"/>
              <a:buChar char="●"/>
            </a:pPr>
            <a:r>
              <a:rPr lang="en-US" sz="1700">
                <a:solidFill>
                  <a:schemeClr val="dk1"/>
                </a:solidFill>
                <a:latin typeface="Times New Roman"/>
                <a:ea typeface="Times New Roman"/>
                <a:cs typeface="Times New Roman"/>
                <a:sym typeface="Times New Roman"/>
              </a:rPr>
              <a:t>M291 P"Weld On L0 B1" ; Display status </a:t>
            </a:r>
            <a:r>
              <a:rPr lang="en-US" sz="1700">
                <a:solidFill>
                  <a:schemeClr val="dk1"/>
                </a:solidFill>
                <a:latin typeface="Times New Roman"/>
                <a:ea typeface="Times New Roman"/>
                <a:cs typeface="Times New Roman"/>
                <a:sym typeface="Times New Roman"/>
              </a:rPr>
              <a:t>message</a:t>
            </a:r>
            <a:endParaRPr sz="17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t/>
            </a:r>
            <a:endParaRPr sz="17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b="1" sz="12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b="1" sz="900">
              <a:solidFill>
                <a:schemeClr val="dk1"/>
              </a:solidFill>
              <a:latin typeface="Times New Roman"/>
              <a:ea typeface="Times New Roman"/>
              <a:cs typeface="Times New Roman"/>
              <a:sym typeface="Times New Roman"/>
            </a:endParaRPr>
          </a:p>
          <a:p>
            <a:pPr indent="0" lvl="0" marL="0" rtl="0" algn="l">
              <a:lnSpc>
                <a:spcPct val="115000"/>
              </a:lnSpc>
              <a:spcBef>
                <a:spcPts val="1700"/>
              </a:spcBef>
              <a:spcAft>
                <a:spcPts val="1700"/>
              </a:spcAft>
              <a:buNone/>
            </a:pPr>
            <a:r>
              <a:t/>
            </a:r>
            <a:endParaRPr sz="1600">
              <a:solidFill>
                <a:schemeClr val="dk1"/>
              </a:solidFill>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9" name="Shape 609"/>
        <p:cNvGrpSpPr/>
        <p:nvPr/>
      </p:nvGrpSpPr>
      <p:grpSpPr>
        <a:xfrm>
          <a:off x="0" y="0"/>
          <a:ext cx="0" cy="0"/>
          <a:chOff x="0" y="0"/>
          <a:chExt cx="0" cy="0"/>
        </a:xfrm>
      </p:grpSpPr>
      <p:sp>
        <p:nvSpPr>
          <p:cNvPr id="610" name="Google Shape;610;g33e27b3e0e6_0_385"/>
          <p:cNvSpPr/>
          <p:nvPr/>
        </p:nvSpPr>
        <p:spPr>
          <a:xfrm>
            <a:off x="1329635" y="-1472"/>
            <a:ext cx="10862400" cy="452100"/>
          </a:xfrm>
          <a:prstGeom prst="rect">
            <a:avLst/>
          </a:prstGeom>
          <a:solidFill>
            <a:srgbClr val="002060"/>
          </a:solidFill>
          <a:ln>
            <a:noFill/>
          </a:ln>
        </p:spPr>
        <p:txBody>
          <a:bodyPr anchorCtr="0" anchor="ctr" bIns="21400" lIns="42825" spcFirstLastPara="1" rIns="42825" wrap="square" tIns="21400">
            <a:noAutofit/>
          </a:bodyPr>
          <a:lstStyle/>
          <a:p>
            <a:pPr indent="0" lvl="0" marL="0" rtl="0" algn="l">
              <a:spcBef>
                <a:spcPts val="0"/>
              </a:spcBef>
              <a:spcAft>
                <a:spcPts val="0"/>
              </a:spcAft>
              <a:buClr>
                <a:srgbClr val="000000"/>
              </a:buClr>
              <a:buSzPts val="294"/>
              <a:buFont typeface="Arial"/>
              <a:buNone/>
            </a:pPr>
            <a:r>
              <a:rPr b="1" lang="en-US" sz="1700">
                <a:solidFill>
                  <a:schemeClr val="lt1"/>
                </a:solidFill>
                <a:latin typeface="Times New Roman"/>
                <a:ea typeface="Times New Roman"/>
                <a:cs typeface="Times New Roman"/>
                <a:sym typeface="Times New Roman"/>
              </a:rPr>
              <a:t>Line-by-Line vs. Layer-by-Layer Processing</a:t>
            </a:r>
            <a:endParaRPr/>
          </a:p>
        </p:txBody>
      </p:sp>
      <p:sp>
        <p:nvSpPr>
          <p:cNvPr id="611" name="Google Shape;611;g33e27b3e0e6_0_385"/>
          <p:cNvSpPr/>
          <p:nvPr/>
        </p:nvSpPr>
        <p:spPr>
          <a:xfrm>
            <a:off x="1329635" y="6597352"/>
            <a:ext cx="10862400" cy="260700"/>
          </a:xfrm>
          <a:prstGeom prst="rect">
            <a:avLst/>
          </a:prstGeom>
          <a:solidFill>
            <a:srgbClr val="002060"/>
          </a:solidFill>
          <a:ln>
            <a:noFill/>
          </a:ln>
        </p:spPr>
        <p:txBody>
          <a:bodyPr anchorCtr="0" anchor="ctr" bIns="21400" lIns="42825" spcFirstLastPara="1" rIns="42825" wrap="square" tIns="21400">
            <a:noAutofit/>
          </a:bodyPr>
          <a:lstStyle/>
          <a:p>
            <a:pPr indent="0" lvl="0" marL="0" marR="0" rtl="0" algn="l">
              <a:lnSpc>
                <a:spcPct val="100000"/>
              </a:lnSpc>
              <a:spcBef>
                <a:spcPts val="0"/>
              </a:spcBef>
              <a:spcAft>
                <a:spcPts val="0"/>
              </a:spcAft>
              <a:buClr>
                <a:srgbClr val="000000"/>
              </a:buClr>
              <a:buSzPts val="294"/>
              <a:buFont typeface="Arial"/>
              <a:buNone/>
            </a:pPr>
            <a:r>
              <a:t/>
            </a:r>
            <a:endParaRPr b="1" i="1" sz="294" u="none" cap="none" strike="noStrike">
              <a:solidFill>
                <a:srgbClr val="FFFFFF"/>
              </a:solidFill>
              <a:latin typeface="Calibri"/>
              <a:ea typeface="Calibri"/>
              <a:cs typeface="Calibri"/>
              <a:sym typeface="Calibri"/>
            </a:endParaRPr>
          </a:p>
        </p:txBody>
      </p:sp>
      <p:sp>
        <p:nvSpPr>
          <p:cNvPr id="612" name="Google Shape;612;g33e27b3e0e6_0_385"/>
          <p:cNvSpPr txBox="1"/>
          <p:nvPr>
            <p:ph idx="12" type="sldNum"/>
          </p:nvPr>
        </p:nvSpPr>
        <p:spPr>
          <a:xfrm>
            <a:off x="11386491" y="6556449"/>
            <a:ext cx="639600" cy="3267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sz="1800">
                <a:solidFill>
                  <a:schemeClr val="lt1"/>
                </a:solidFill>
              </a:rPr>
              <a:t>‹#›</a:t>
            </a:fld>
            <a:endParaRPr sz="1931">
              <a:solidFill>
                <a:schemeClr val="lt1"/>
              </a:solidFill>
            </a:endParaRPr>
          </a:p>
        </p:txBody>
      </p:sp>
      <p:sp>
        <p:nvSpPr>
          <p:cNvPr id="613" name="Google Shape;613;g33e27b3e0e6_0_385"/>
          <p:cNvSpPr/>
          <p:nvPr/>
        </p:nvSpPr>
        <p:spPr>
          <a:xfrm>
            <a:off x="3615675" y="-1475"/>
            <a:ext cx="4154700" cy="535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1" i="0" sz="1500" u="none" cap="none" strike="noStrike">
              <a:solidFill>
                <a:srgbClr val="000000"/>
              </a:solidFill>
              <a:latin typeface="Times New Roman"/>
              <a:ea typeface="Times New Roman"/>
              <a:cs typeface="Times New Roman"/>
              <a:sym typeface="Times New Roman"/>
            </a:endParaRPr>
          </a:p>
        </p:txBody>
      </p:sp>
      <p:sp>
        <p:nvSpPr>
          <p:cNvPr id="614" name="Google Shape;614;g33e27b3e0e6_0_385"/>
          <p:cNvSpPr/>
          <p:nvPr/>
        </p:nvSpPr>
        <p:spPr>
          <a:xfrm>
            <a:off x="0" y="-1472"/>
            <a:ext cx="1329600" cy="452100"/>
          </a:xfrm>
          <a:prstGeom prst="rect">
            <a:avLst/>
          </a:prstGeom>
          <a:solidFill>
            <a:srgbClr val="C000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00"/>
              <a:buFont typeface="Arial"/>
              <a:buNone/>
            </a:pPr>
            <a:r>
              <a:rPr b="1" lang="en-US">
                <a:solidFill>
                  <a:schemeClr val="dk1"/>
                </a:solidFill>
              </a:rPr>
              <a:t>ECSE 695</a:t>
            </a:r>
            <a:endParaRPr b="1" i="0" sz="1400" u="none" cap="none" strike="noStrike">
              <a:solidFill>
                <a:schemeClr val="dk1"/>
              </a:solidFill>
              <a:latin typeface="Arial"/>
              <a:ea typeface="Arial"/>
              <a:cs typeface="Arial"/>
              <a:sym typeface="Arial"/>
            </a:endParaRPr>
          </a:p>
        </p:txBody>
      </p:sp>
      <p:sp>
        <p:nvSpPr>
          <p:cNvPr id="615" name="Google Shape;615;g33e27b3e0e6_0_385"/>
          <p:cNvSpPr txBox="1"/>
          <p:nvPr/>
        </p:nvSpPr>
        <p:spPr>
          <a:xfrm>
            <a:off x="0" y="855128"/>
            <a:ext cx="7506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p:txBody>
      </p:sp>
      <p:pic>
        <p:nvPicPr>
          <p:cNvPr descr="A blue letter with white background&#10;&#10;Description automatically generated" id="616" name="Google Shape;616;g33e27b3e0e6_0_385"/>
          <p:cNvPicPr preferRelativeResize="0"/>
          <p:nvPr/>
        </p:nvPicPr>
        <p:blipFill rotWithShape="1">
          <a:blip r:embed="rId3">
            <a:alphaModFix/>
          </a:blip>
          <a:srcRect b="0" l="0" r="0" t="0"/>
          <a:stretch/>
        </p:blipFill>
        <p:spPr>
          <a:xfrm>
            <a:off x="0" y="6597352"/>
            <a:ext cx="1329635" cy="260648"/>
          </a:xfrm>
          <a:prstGeom prst="rect">
            <a:avLst/>
          </a:prstGeom>
          <a:noFill/>
          <a:ln>
            <a:noFill/>
          </a:ln>
        </p:spPr>
      </p:pic>
      <p:sp>
        <p:nvSpPr>
          <p:cNvPr id="617" name="Google Shape;617;g33e27b3e0e6_0_385"/>
          <p:cNvSpPr txBox="1"/>
          <p:nvPr/>
        </p:nvSpPr>
        <p:spPr>
          <a:xfrm>
            <a:off x="8022596" y="6222504"/>
            <a:ext cx="4079700" cy="307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t/>
            </a:r>
            <a:endParaRPr b="0" i="0" sz="1400" u="none" cap="none" strike="noStrike">
              <a:solidFill>
                <a:srgbClr val="000000"/>
              </a:solidFill>
              <a:latin typeface="Arial"/>
              <a:ea typeface="Arial"/>
              <a:cs typeface="Arial"/>
              <a:sym typeface="Arial"/>
            </a:endParaRPr>
          </a:p>
        </p:txBody>
      </p:sp>
      <p:sp>
        <p:nvSpPr>
          <p:cNvPr id="618" name="Google Shape;618;g33e27b3e0e6_0_385"/>
          <p:cNvSpPr txBox="1"/>
          <p:nvPr/>
        </p:nvSpPr>
        <p:spPr>
          <a:xfrm>
            <a:off x="7882801" y="533746"/>
            <a:ext cx="37719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t/>
            </a:r>
            <a:endParaRPr b="1"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C00000"/>
              </a:solidFill>
              <a:latin typeface="Arial"/>
              <a:ea typeface="Arial"/>
              <a:cs typeface="Arial"/>
              <a:sym typeface="Arial"/>
            </a:endParaRPr>
          </a:p>
        </p:txBody>
      </p:sp>
      <p:sp>
        <p:nvSpPr>
          <p:cNvPr id="619" name="Google Shape;619;g33e27b3e0e6_0_385"/>
          <p:cNvSpPr txBox="1"/>
          <p:nvPr/>
        </p:nvSpPr>
        <p:spPr>
          <a:xfrm>
            <a:off x="79000" y="450625"/>
            <a:ext cx="9950100" cy="1201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t/>
            </a:r>
            <a:endParaRPr b="1" sz="1100">
              <a:solidFill>
                <a:schemeClr val="dk1"/>
              </a:solidFill>
            </a:endParaRPr>
          </a:p>
          <a:p>
            <a:pPr indent="0" lvl="0" marL="0" rtl="0" algn="l">
              <a:lnSpc>
                <a:spcPct val="115000"/>
              </a:lnSpc>
              <a:spcBef>
                <a:spcPts val="1200"/>
              </a:spcBef>
              <a:spcAft>
                <a:spcPts val="0"/>
              </a:spcAft>
              <a:buNone/>
            </a:pPr>
            <a:r>
              <a:t/>
            </a:r>
            <a:endParaRPr b="1">
              <a:solidFill>
                <a:schemeClr val="dk1"/>
              </a:solidFill>
              <a:latin typeface="Times New Roman"/>
              <a:ea typeface="Times New Roman"/>
              <a:cs typeface="Times New Roman"/>
              <a:sym typeface="Times New Roman"/>
            </a:endParaRPr>
          </a:p>
          <a:p>
            <a:pPr indent="0" lvl="0" marL="0" rtl="0" algn="l">
              <a:lnSpc>
                <a:spcPct val="115000"/>
              </a:lnSpc>
              <a:spcBef>
                <a:spcPts val="1600"/>
              </a:spcBef>
              <a:spcAft>
                <a:spcPts val="1600"/>
              </a:spcAft>
              <a:buNone/>
            </a:pPr>
            <a:r>
              <a:t/>
            </a:r>
            <a:endParaRPr>
              <a:solidFill>
                <a:schemeClr val="dk1"/>
              </a:solidFill>
              <a:latin typeface="Times New Roman"/>
              <a:ea typeface="Times New Roman"/>
              <a:cs typeface="Times New Roman"/>
              <a:sym typeface="Times New Roman"/>
            </a:endParaRPr>
          </a:p>
        </p:txBody>
      </p:sp>
      <p:sp>
        <p:nvSpPr>
          <p:cNvPr id="620" name="Google Shape;620;g33e27b3e0e6_0_385"/>
          <p:cNvSpPr txBox="1"/>
          <p:nvPr/>
        </p:nvSpPr>
        <p:spPr>
          <a:xfrm>
            <a:off x="8134650" y="5405375"/>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621" name="Google Shape;621;g33e27b3e0e6_0_385"/>
          <p:cNvSpPr txBox="1"/>
          <p:nvPr/>
        </p:nvSpPr>
        <p:spPr>
          <a:xfrm>
            <a:off x="0" y="450625"/>
            <a:ext cx="3000000" cy="369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1800"/>
              </a:spcAft>
              <a:buNone/>
            </a:pPr>
            <a:r>
              <a:t/>
            </a:r>
            <a:endParaRPr sz="1200">
              <a:solidFill>
                <a:schemeClr val="dk1"/>
              </a:solidFill>
              <a:latin typeface="Times New Roman"/>
              <a:ea typeface="Times New Roman"/>
              <a:cs typeface="Times New Roman"/>
              <a:sym typeface="Times New Roman"/>
            </a:endParaRPr>
          </a:p>
        </p:txBody>
      </p:sp>
      <p:sp>
        <p:nvSpPr>
          <p:cNvPr id="622" name="Google Shape;622;g33e27b3e0e6_0_385"/>
          <p:cNvSpPr txBox="1"/>
          <p:nvPr/>
        </p:nvSpPr>
        <p:spPr>
          <a:xfrm>
            <a:off x="34300" y="581975"/>
            <a:ext cx="10039500" cy="1000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700"/>
              </a:spcBef>
              <a:spcAft>
                <a:spcPts val="0"/>
              </a:spcAft>
              <a:buNone/>
            </a:pPr>
            <a:r>
              <a:t/>
            </a:r>
            <a:endParaRPr sz="1900">
              <a:solidFill>
                <a:schemeClr val="dk1"/>
              </a:solidFill>
              <a:latin typeface="Times New Roman"/>
              <a:ea typeface="Times New Roman"/>
              <a:cs typeface="Times New Roman"/>
              <a:sym typeface="Times New Roman"/>
            </a:endParaRPr>
          </a:p>
          <a:p>
            <a:pPr indent="0" lvl="0" marL="0" rtl="0" algn="l">
              <a:lnSpc>
                <a:spcPct val="115000"/>
              </a:lnSpc>
              <a:spcBef>
                <a:spcPts val="1700"/>
              </a:spcBef>
              <a:spcAft>
                <a:spcPts val="1700"/>
              </a:spcAft>
              <a:buNone/>
            </a:pPr>
            <a:r>
              <a:t/>
            </a:r>
            <a:endParaRPr b="1" sz="1700">
              <a:solidFill>
                <a:schemeClr val="dk1"/>
              </a:solidFill>
              <a:latin typeface="Times New Roman"/>
              <a:ea typeface="Times New Roman"/>
              <a:cs typeface="Times New Roman"/>
              <a:sym typeface="Times New Roman"/>
            </a:endParaRPr>
          </a:p>
        </p:txBody>
      </p:sp>
      <p:sp>
        <p:nvSpPr>
          <p:cNvPr id="623" name="Google Shape;623;g33e27b3e0e6_0_385"/>
          <p:cNvSpPr txBox="1"/>
          <p:nvPr/>
        </p:nvSpPr>
        <p:spPr>
          <a:xfrm>
            <a:off x="219375" y="663225"/>
            <a:ext cx="5062200" cy="3848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a:t>Line by Line Processing</a:t>
            </a:r>
            <a:endParaRPr b="1"/>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US"/>
              <a:t>def send_code_line(self, code_line):</a:t>
            </a:r>
            <a:endParaRPr/>
          </a:p>
          <a:p>
            <a:pPr indent="0" lvl="0" marL="0" rtl="0" algn="l">
              <a:spcBef>
                <a:spcPts val="0"/>
              </a:spcBef>
              <a:spcAft>
                <a:spcPts val="0"/>
              </a:spcAft>
              <a:buClr>
                <a:schemeClr val="dk1"/>
              </a:buClr>
              <a:buSzPts val="1100"/>
              <a:buFont typeface="Arial"/>
              <a:buNone/>
            </a:pPr>
            <a:r>
              <a:rPr lang="en-US"/>
              <a:t>    """Send a single G-code command and wait for completion"""</a:t>
            </a:r>
            <a:endParaRPr/>
          </a:p>
          <a:p>
            <a:pPr indent="0" lvl="0" marL="0" rtl="0" algn="l">
              <a:spcBef>
                <a:spcPts val="0"/>
              </a:spcBef>
              <a:spcAft>
                <a:spcPts val="0"/>
              </a:spcAft>
              <a:buClr>
                <a:schemeClr val="dk1"/>
              </a:buClr>
              <a:buSzPts val="1100"/>
              <a:buFont typeface="Arial"/>
              <a:buNone/>
            </a:pPr>
            <a:r>
              <a:rPr lang="en-US"/>
              <a:t>    self.printer.send_code(code_line)</a:t>
            </a:r>
            <a:endParaRPr/>
          </a:p>
          <a:p>
            <a:pPr indent="0" lvl="0" marL="0" rtl="0" algn="l">
              <a:spcBef>
                <a:spcPts val="0"/>
              </a:spcBef>
              <a:spcAft>
                <a:spcPts val="0"/>
              </a:spcAft>
              <a:buClr>
                <a:schemeClr val="dk1"/>
              </a:buClr>
              <a:buSzPts val="1100"/>
              <a:buFont typeface="Arial"/>
              <a:buNone/>
            </a:pPr>
            <a:r>
              <a:rPr lang="en-US"/>
              <a:t>    # Wait till idle before sending the next line</a:t>
            </a:r>
            <a:endParaRPr/>
          </a:p>
          <a:p>
            <a:pPr indent="0" lvl="0" marL="0" rtl="0" algn="l">
              <a:spcBef>
                <a:spcPts val="0"/>
              </a:spcBef>
              <a:spcAft>
                <a:spcPts val="0"/>
              </a:spcAft>
              <a:buClr>
                <a:schemeClr val="dk1"/>
              </a:buClr>
              <a:buSzPts val="1100"/>
              <a:buFont typeface="Arial"/>
              <a:buNone/>
            </a:pPr>
            <a:r>
              <a:rPr lang="en-US"/>
              <a:t>    while True:</a:t>
            </a:r>
            <a:endParaRPr/>
          </a:p>
          <a:p>
            <a:pPr indent="0" lvl="0" marL="0" rtl="0" algn="l">
              <a:spcBef>
                <a:spcPts val="0"/>
              </a:spcBef>
              <a:spcAft>
                <a:spcPts val="0"/>
              </a:spcAft>
              <a:buClr>
                <a:schemeClr val="dk1"/>
              </a:buClr>
              <a:buSzPts val="1100"/>
              <a:buFont typeface="Arial"/>
              <a:buNone/>
            </a:pPr>
            <a:r>
              <a:rPr lang="en-US"/>
              <a:t>        status = self.get_status()</a:t>
            </a:r>
            <a:endParaRPr/>
          </a:p>
          <a:p>
            <a:pPr indent="0" lvl="0" marL="0" rtl="0" algn="l">
              <a:spcBef>
                <a:spcPts val="0"/>
              </a:spcBef>
              <a:spcAft>
                <a:spcPts val="0"/>
              </a:spcAft>
              <a:buClr>
                <a:schemeClr val="dk1"/>
              </a:buClr>
              <a:buSzPts val="1100"/>
              <a:buFont typeface="Arial"/>
              <a:buNone/>
            </a:pPr>
            <a:r>
              <a:rPr lang="en-US"/>
              <a:t>        if status.lower() == "idle":</a:t>
            </a:r>
            <a:endParaRPr/>
          </a:p>
          <a:p>
            <a:pPr indent="0" lvl="0" marL="0" rtl="0" algn="l">
              <a:spcBef>
                <a:spcPts val="0"/>
              </a:spcBef>
              <a:spcAft>
                <a:spcPts val="0"/>
              </a:spcAft>
              <a:buClr>
                <a:schemeClr val="dk1"/>
              </a:buClr>
              <a:buSzPts val="1100"/>
              <a:buFont typeface="Arial"/>
              <a:buNone/>
            </a:pPr>
            <a:r>
              <a:rPr lang="en-US"/>
              <a:t>            break</a:t>
            </a:r>
            <a:endParaRPr/>
          </a:p>
          <a:p>
            <a:pPr indent="0" lvl="0" marL="0" rtl="0" algn="l">
              <a:spcBef>
                <a:spcPts val="0"/>
              </a:spcBef>
              <a:spcAft>
                <a:spcPts val="0"/>
              </a:spcAft>
              <a:buNone/>
            </a:pPr>
            <a:r>
              <a:rPr lang="en-US"/>
              <a:t>        time.sleep(0.25)</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8" name="Shape 628"/>
        <p:cNvGrpSpPr/>
        <p:nvPr/>
      </p:nvGrpSpPr>
      <p:grpSpPr>
        <a:xfrm>
          <a:off x="0" y="0"/>
          <a:ext cx="0" cy="0"/>
          <a:chOff x="0" y="0"/>
          <a:chExt cx="0" cy="0"/>
        </a:xfrm>
      </p:grpSpPr>
      <p:sp>
        <p:nvSpPr>
          <p:cNvPr id="629" name="Google Shape;629;g33e27b3e0e6_0_406"/>
          <p:cNvSpPr/>
          <p:nvPr/>
        </p:nvSpPr>
        <p:spPr>
          <a:xfrm>
            <a:off x="1329635" y="-1472"/>
            <a:ext cx="10862400" cy="452100"/>
          </a:xfrm>
          <a:prstGeom prst="rect">
            <a:avLst/>
          </a:prstGeom>
          <a:solidFill>
            <a:srgbClr val="002060"/>
          </a:solidFill>
          <a:ln>
            <a:noFill/>
          </a:ln>
        </p:spPr>
        <p:txBody>
          <a:bodyPr anchorCtr="0" anchor="ctr" bIns="21400" lIns="42825" spcFirstLastPara="1" rIns="42825" wrap="square" tIns="21400">
            <a:noAutofit/>
          </a:bodyPr>
          <a:lstStyle/>
          <a:p>
            <a:pPr indent="0" lvl="0" marL="0" rtl="0" algn="l">
              <a:spcBef>
                <a:spcPts val="0"/>
              </a:spcBef>
              <a:spcAft>
                <a:spcPts val="0"/>
              </a:spcAft>
              <a:buClr>
                <a:srgbClr val="000000"/>
              </a:buClr>
              <a:buSzPts val="294"/>
              <a:buFont typeface="Arial"/>
              <a:buNone/>
            </a:pPr>
            <a:r>
              <a:rPr b="1" lang="en-US" sz="1700">
                <a:solidFill>
                  <a:schemeClr val="lt1"/>
                </a:solidFill>
                <a:latin typeface="Times New Roman"/>
                <a:ea typeface="Times New Roman"/>
                <a:cs typeface="Times New Roman"/>
                <a:sym typeface="Times New Roman"/>
              </a:rPr>
              <a:t>Line-by-Line vs. Layer-by-Layer Processing</a:t>
            </a:r>
            <a:endParaRPr/>
          </a:p>
        </p:txBody>
      </p:sp>
      <p:sp>
        <p:nvSpPr>
          <p:cNvPr id="630" name="Google Shape;630;g33e27b3e0e6_0_406"/>
          <p:cNvSpPr/>
          <p:nvPr/>
        </p:nvSpPr>
        <p:spPr>
          <a:xfrm>
            <a:off x="1329635" y="6597352"/>
            <a:ext cx="10862400" cy="260700"/>
          </a:xfrm>
          <a:prstGeom prst="rect">
            <a:avLst/>
          </a:prstGeom>
          <a:solidFill>
            <a:srgbClr val="002060"/>
          </a:solidFill>
          <a:ln>
            <a:noFill/>
          </a:ln>
        </p:spPr>
        <p:txBody>
          <a:bodyPr anchorCtr="0" anchor="ctr" bIns="21400" lIns="42825" spcFirstLastPara="1" rIns="42825" wrap="square" tIns="21400">
            <a:noAutofit/>
          </a:bodyPr>
          <a:lstStyle/>
          <a:p>
            <a:pPr indent="0" lvl="0" marL="0" marR="0" rtl="0" algn="l">
              <a:lnSpc>
                <a:spcPct val="100000"/>
              </a:lnSpc>
              <a:spcBef>
                <a:spcPts val="0"/>
              </a:spcBef>
              <a:spcAft>
                <a:spcPts val="0"/>
              </a:spcAft>
              <a:buClr>
                <a:srgbClr val="000000"/>
              </a:buClr>
              <a:buSzPts val="294"/>
              <a:buFont typeface="Arial"/>
              <a:buNone/>
            </a:pPr>
            <a:r>
              <a:t/>
            </a:r>
            <a:endParaRPr b="1" i="1" sz="294" u="none" cap="none" strike="noStrike">
              <a:solidFill>
                <a:srgbClr val="FFFFFF"/>
              </a:solidFill>
              <a:latin typeface="Calibri"/>
              <a:ea typeface="Calibri"/>
              <a:cs typeface="Calibri"/>
              <a:sym typeface="Calibri"/>
            </a:endParaRPr>
          </a:p>
        </p:txBody>
      </p:sp>
      <p:sp>
        <p:nvSpPr>
          <p:cNvPr id="631" name="Google Shape;631;g33e27b3e0e6_0_406"/>
          <p:cNvSpPr txBox="1"/>
          <p:nvPr>
            <p:ph idx="12" type="sldNum"/>
          </p:nvPr>
        </p:nvSpPr>
        <p:spPr>
          <a:xfrm>
            <a:off x="11386491" y="6556449"/>
            <a:ext cx="639600" cy="3267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sz="1800">
                <a:solidFill>
                  <a:schemeClr val="lt1"/>
                </a:solidFill>
              </a:rPr>
              <a:t>‹#›</a:t>
            </a:fld>
            <a:endParaRPr sz="1931">
              <a:solidFill>
                <a:schemeClr val="lt1"/>
              </a:solidFill>
            </a:endParaRPr>
          </a:p>
        </p:txBody>
      </p:sp>
      <p:sp>
        <p:nvSpPr>
          <p:cNvPr id="632" name="Google Shape;632;g33e27b3e0e6_0_406"/>
          <p:cNvSpPr/>
          <p:nvPr/>
        </p:nvSpPr>
        <p:spPr>
          <a:xfrm>
            <a:off x="3615675" y="-1475"/>
            <a:ext cx="4154700" cy="535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1" i="0" sz="1500" u="none" cap="none" strike="noStrike">
              <a:solidFill>
                <a:srgbClr val="000000"/>
              </a:solidFill>
              <a:latin typeface="Times New Roman"/>
              <a:ea typeface="Times New Roman"/>
              <a:cs typeface="Times New Roman"/>
              <a:sym typeface="Times New Roman"/>
            </a:endParaRPr>
          </a:p>
        </p:txBody>
      </p:sp>
      <p:sp>
        <p:nvSpPr>
          <p:cNvPr id="633" name="Google Shape;633;g33e27b3e0e6_0_406"/>
          <p:cNvSpPr/>
          <p:nvPr/>
        </p:nvSpPr>
        <p:spPr>
          <a:xfrm>
            <a:off x="0" y="-1472"/>
            <a:ext cx="1329600" cy="452100"/>
          </a:xfrm>
          <a:prstGeom prst="rect">
            <a:avLst/>
          </a:prstGeom>
          <a:solidFill>
            <a:srgbClr val="C000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00"/>
              <a:buFont typeface="Arial"/>
              <a:buNone/>
            </a:pPr>
            <a:r>
              <a:rPr b="1" lang="en-US">
                <a:solidFill>
                  <a:schemeClr val="dk1"/>
                </a:solidFill>
              </a:rPr>
              <a:t>ECSE 695</a:t>
            </a:r>
            <a:endParaRPr b="1" i="0" sz="1400" u="none" cap="none" strike="noStrike">
              <a:solidFill>
                <a:schemeClr val="dk1"/>
              </a:solidFill>
              <a:latin typeface="Arial"/>
              <a:ea typeface="Arial"/>
              <a:cs typeface="Arial"/>
              <a:sym typeface="Arial"/>
            </a:endParaRPr>
          </a:p>
        </p:txBody>
      </p:sp>
      <p:sp>
        <p:nvSpPr>
          <p:cNvPr id="634" name="Google Shape;634;g33e27b3e0e6_0_406"/>
          <p:cNvSpPr txBox="1"/>
          <p:nvPr/>
        </p:nvSpPr>
        <p:spPr>
          <a:xfrm>
            <a:off x="0" y="855128"/>
            <a:ext cx="7506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p:txBody>
      </p:sp>
      <p:pic>
        <p:nvPicPr>
          <p:cNvPr descr="A blue letter with white background&#10;&#10;Description automatically generated" id="635" name="Google Shape;635;g33e27b3e0e6_0_406"/>
          <p:cNvPicPr preferRelativeResize="0"/>
          <p:nvPr/>
        </p:nvPicPr>
        <p:blipFill rotWithShape="1">
          <a:blip r:embed="rId3">
            <a:alphaModFix/>
          </a:blip>
          <a:srcRect b="0" l="0" r="0" t="0"/>
          <a:stretch/>
        </p:blipFill>
        <p:spPr>
          <a:xfrm>
            <a:off x="0" y="6597352"/>
            <a:ext cx="1329635" cy="260648"/>
          </a:xfrm>
          <a:prstGeom prst="rect">
            <a:avLst/>
          </a:prstGeom>
          <a:noFill/>
          <a:ln>
            <a:noFill/>
          </a:ln>
        </p:spPr>
      </p:pic>
      <p:sp>
        <p:nvSpPr>
          <p:cNvPr id="636" name="Google Shape;636;g33e27b3e0e6_0_406"/>
          <p:cNvSpPr txBox="1"/>
          <p:nvPr/>
        </p:nvSpPr>
        <p:spPr>
          <a:xfrm>
            <a:off x="8022596" y="6222504"/>
            <a:ext cx="4079700" cy="307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t/>
            </a:r>
            <a:endParaRPr b="0" i="0" sz="1400" u="none" cap="none" strike="noStrike">
              <a:solidFill>
                <a:srgbClr val="000000"/>
              </a:solidFill>
              <a:latin typeface="Arial"/>
              <a:ea typeface="Arial"/>
              <a:cs typeface="Arial"/>
              <a:sym typeface="Arial"/>
            </a:endParaRPr>
          </a:p>
        </p:txBody>
      </p:sp>
      <p:sp>
        <p:nvSpPr>
          <p:cNvPr id="637" name="Google Shape;637;g33e27b3e0e6_0_406"/>
          <p:cNvSpPr txBox="1"/>
          <p:nvPr/>
        </p:nvSpPr>
        <p:spPr>
          <a:xfrm>
            <a:off x="7882801" y="533746"/>
            <a:ext cx="37719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t/>
            </a:r>
            <a:endParaRPr b="1"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C00000"/>
              </a:solidFill>
              <a:latin typeface="Arial"/>
              <a:ea typeface="Arial"/>
              <a:cs typeface="Arial"/>
              <a:sym typeface="Arial"/>
            </a:endParaRPr>
          </a:p>
        </p:txBody>
      </p:sp>
      <p:sp>
        <p:nvSpPr>
          <p:cNvPr id="638" name="Google Shape;638;g33e27b3e0e6_0_406"/>
          <p:cNvSpPr txBox="1"/>
          <p:nvPr/>
        </p:nvSpPr>
        <p:spPr>
          <a:xfrm>
            <a:off x="79000" y="450625"/>
            <a:ext cx="9950100" cy="1201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t/>
            </a:r>
            <a:endParaRPr b="1" sz="1100">
              <a:solidFill>
                <a:schemeClr val="dk1"/>
              </a:solidFill>
            </a:endParaRPr>
          </a:p>
          <a:p>
            <a:pPr indent="0" lvl="0" marL="0" rtl="0" algn="l">
              <a:lnSpc>
                <a:spcPct val="115000"/>
              </a:lnSpc>
              <a:spcBef>
                <a:spcPts val="1200"/>
              </a:spcBef>
              <a:spcAft>
                <a:spcPts val="0"/>
              </a:spcAft>
              <a:buNone/>
            </a:pPr>
            <a:r>
              <a:t/>
            </a:r>
            <a:endParaRPr b="1">
              <a:solidFill>
                <a:schemeClr val="dk1"/>
              </a:solidFill>
              <a:latin typeface="Times New Roman"/>
              <a:ea typeface="Times New Roman"/>
              <a:cs typeface="Times New Roman"/>
              <a:sym typeface="Times New Roman"/>
            </a:endParaRPr>
          </a:p>
          <a:p>
            <a:pPr indent="0" lvl="0" marL="0" rtl="0" algn="l">
              <a:lnSpc>
                <a:spcPct val="115000"/>
              </a:lnSpc>
              <a:spcBef>
                <a:spcPts val="1600"/>
              </a:spcBef>
              <a:spcAft>
                <a:spcPts val="1600"/>
              </a:spcAft>
              <a:buNone/>
            </a:pPr>
            <a:r>
              <a:t/>
            </a:r>
            <a:endParaRPr>
              <a:solidFill>
                <a:schemeClr val="dk1"/>
              </a:solidFill>
              <a:latin typeface="Times New Roman"/>
              <a:ea typeface="Times New Roman"/>
              <a:cs typeface="Times New Roman"/>
              <a:sym typeface="Times New Roman"/>
            </a:endParaRPr>
          </a:p>
        </p:txBody>
      </p:sp>
      <p:sp>
        <p:nvSpPr>
          <p:cNvPr id="639" name="Google Shape;639;g33e27b3e0e6_0_406"/>
          <p:cNvSpPr txBox="1"/>
          <p:nvPr/>
        </p:nvSpPr>
        <p:spPr>
          <a:xfrm>
            <a:off x="8134650" y="5405375"/>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640" name="Google Shape;640;g33e27b3e0e6_0_406"/>
          <p:cNvSpPr txBox="1"/>
          <p:nvPr/>
        </p:nvSpPr>
        <p:spPr>
          <a:xfrm>
            <a:off x="0" y="450625"/>
            <a:ext cx="3000000" cy="369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1800"/>
              </a:spcAft>
              <a:buNone/>
            </a:pPr>
            <a:r>
              <a:t/>
            </a:r>
            <a:endParaRPr sz="1200">
              <a:solidFill>
                <a:schemeClr val="dk1"/>
              </a:solidFill>
              <a:latin typeface="Times New Roman"/>
              <a:ea typeface="Times New Roman"/>
              <a:cs typeface="Times New Roman"/>
              <a:sym typeface="Times New Roman"/>
            </a:endParaRPr>
          </a:p>
        </p:txBody>
      </p:sp>
      <p:sp>
        <p:nvSpPr>
          <p:cNvPr id="641" name="Google Shape;641;g33e27b3e0e6_0_406"/>
          <p:cNvSpPr txBox="1"/>
          <p:nvPr/>
        </p:nvSpPr>
        <p:spPr>
          <a:xfrm>
            <a:off x="34300" y="581975"/>
            <a:ext cx="10039500" cy="1000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700"/>
              </a:spcBef>
              <a:spcAft>
                <a:spcPts val="0"/>
              </a:spcAft>
              <a:buNone/>
            </a:pPr>
            <a:r>
              <a:t/>
            </a:r>
            <a:endParaRPr sz="1900">
              <a:solidFill>
                <a:schemeClr val="dk1"/>
              </a:solidFill>
              <a:latin typeface="Times New Roman"/>
              <a:ea typeface="Times New Roman"/>
              <a:cs typeface="Times New Roman"/>
              <a:sym typeface="Times New Roman"/>
            </a:endParaRPr>
          </a:p>
          <a:p>
            <a:pPr indent="0" lvl="0" marL="0" rtl="0" algn="l">
              <a:lnSpc>
                <a:spcPct val="115000"/>
              </a:lnSpc>
              <a:spcBef>
                <a:spcPts val="1700"/>
              </a:spcBef>
              <a:spcAft>
                <a:spcPts val="1700"/>
              </a:spcAft>
              <a:buNone/>
            </a:pPr>
            <a:r>
              <a:t/>
            </a:r>
            <a:endParaRPr b="1" sz="1700">
              <a:solidFill>
                <a:schemeClr val="dk1"/>
              </a:solidFill>
              <a:latin typeface="Times New Roman"/>
              <a:ea typeface="Times New Roman"/>
              <a:cs typeface="Times New Roman"/>
              <a:sym typeface="Times New Roman"/>
            </a:endParaRPr>
          </a:p>
        </p:txBody>
      </p:sp>
      <p:sp>
        <p:nvSpPr>
          <p:cNvPr id="642" name="Google Shape;642;g33e27b3e0e6_0_406"/>
          <p:cNvSpPr txBox="1"/>
          <p:nvPr/>
        </p:nvSpPr>
        <p:spPr>
          <a:xfrm>
            <a:off x="219375" y="663225"/>
            <a:ext cx="5062200" cy="544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600">
                <a:solidFill>
                  <a:schemeClr val="dk1"/>
                </a:solidFill>
                <a:latin typeface="Times New Roman"/>
                <a:ea typeface="Times New Roman"/>
                <a:cs typeface="Times New Roman"/>
                <a:sym typeface="Times New Roman"/>
              </a:rPr>
              <a:t>Layer by Layer processing </a:t>
            </a:r>
            <a:endParaRPr b="1" sz="16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1500">
                <a:solidFill>
                  <a:schemeClr val="dk1"/>
                </a:solidFill>
                <a:latin typeface="Times New Roman"/>
                <a:ea typeface="Times New Roman"/>
                <a:cs typeface="Times New Roman"/>
                <a:sym typeface="Times New Roman"/>
              </a:rPr>
              <a:t>def run(self):</a:t>
            </a:r>
            <a:endParaRPr sz="15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1500">
                <a:solidFill>
                  <a:schemeClr val="dk1"/>
                </a:solidFill>
                <a:latin typeface="Times New Roman"/>
                <a:ea typeface="Times New Roman"/>
                <a:cs typeface="Times New Roman"/>
                <a:sym typeface="Times New Roman"/>
              </a:rPr>
              <a:t>    """Process and print a single layer with adaptive control"""</a:t>
            </a:r>
            <a:endParaRPr sz="15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1500">
                <a:solidFill>
                  <a:schemeClr val="dk1"/>
                </a:solidFill>
                <a:latin typeface="Times New Roman"/>
                <a:ea typeface="Times New Roman"/>
                <a:cs typeface="Times New Roman"/>
                <a:sym typeface="Times New Roman"/>
              </a:rPr>
              <a:t>    # Print current layer</a:t>
            </a:r>
            <a:endParaRPr sz="15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1500">
                <a:solidFill>
                  <a:schemeClr val="dk1"/>
                </a:solidFill>
                <a:latin typeface="Times New Roman"/>
                <a:ea typeface="Times New Roman"/>
                <a:cs typeface="Times New Roman"/>
                <a:sym typeface="Times New Roman"/>
              </a:rPr>
              <a:t>    self.sender.send_layer(self.layers[self.current_layer])</a:t>
            </a:r>
            <a:endParaRPr sz="15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1500">
                <a:solidFill>
                  <a:schemeClr val="dk1"/>
                </a:solidFill>
                <a:latin typeface="Times New Roman"/>
                <a:ea typeface="Times New Roman"/>
                <a:cs typeface="Times New Roman"/>
                <a:sym typeface="Times New Roman"/>
              </a:rPr>
              <a:t>    </a:t>
            </a:r>
            <a:endParaRPr sz="15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1500">
                <a:solidFill>
                  <a:schemeClr val="dk1"/>
                </a:solidFill>
                <a:latin typeface="Times New Roman"/>
                <a:ea typeface="Times New Roman"/>
                <a:cs typeface="Times New Roman"/>
                <a:sym typeface="Times New Roman"/>
              </a:rPr>
              <a:t>    # Scan completed layer</a:t>
            </a:r>
            <a:endParaRPr sz="15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1500">
                <a:solidFill>
                  <a:schemeClr val="dk1"/>
                </a:solidFill>
                <a:latin typeface="Times New Roman"/>
                <a:ea typeface="Times New Roman"/>
                <a:cs typeface="Times New Roman"/>
                <a:sym typeface="Times New Roman"/>
              </a:rPr>
              <a:t>    scan_success = self.scan_layer()</a:t>
            </a:r>
            <a:endParaRPr sz="15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1500">
                <a:solidFill>
                  <a:schemeClr val="dk1"/>
                </a:solidFill>
                <a:latin typeface="Times New Roman"/>
                <a:ea typeface="Times New Roman"/>
                <a:cs typeface="Times New Roman"/>
                <a:sym typeface="Times New Roman"/>
              </a:rPr>
              <a:t>    </a:t>
            </a:r>
            <a:endParaRPr sz="15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1500">
                <a:solidFill>
                  <a:schemeClr val="dk1"/>
                </a:solidFill>
                <a:latin typeface="Times New Roman"/>
                <a:ea typeface="Times New Roman"/>
                <a:cs typeface="Times New Roman"/>
                <a:sym typeface="Times New Roman"/>
              </a:rPr>
              <a:t>    # Advance to next layer</a:t>
            </a:r>
            <a:endParaRPr sz="15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1500">
                <a:solidFill>
                  <a:schemeClr val="dk1"/>
                </a:solidFill>
                <a:latin typeface="Times New Roman"/>
                <a:ea typeface="Times New Roman"/>
                <a:cs typeface="Times New Roman"/>
                <a:sym typeface="Times New Roman"/>
              </a:rPr>
              <a:t>    self.current_layer += 1</a:t>
            </a:r>
            <a:endParaRPr sz="15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1500">
                <a:solidFill>
                  <a:schemeClr val="dk1"/>
                </a:solidFill>
                <a:latin typeface="Times New Roman"/>
                <a:ea typeface="Times New Roman"/>
                <a:cs typeface="Times New Roman"/>
                <a:sym typeface="Times New Roman"/>
              </a:rPr>
              <a:t>    </a:t>
            </a:r>
            <a:endParaRPr sz="15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1500">
                <a:solidFill>
                  <a:schemeClr val="dk1"/>
                </a:solidFill>
                <a:latin typeface="Times New Roman"/>
                <a:ea typeface="Times New Roman"/>
                <a:cs typeface="Times New Roman"/>
                <a:sym typeface="Times New Roman"/>
              </a:rPr>
              <a:t>    # Generate modified next layer based on scan results</a:t>
            </a:r>
            <a:endParaRPr sz="15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1500">
                <a:solidFill>
                  <a:schemeClr val="dk1"/>
                </a:solidFill>
                <a:latin typeface="Times New Roman"/>
                <a:ea typeface="Times New Roman"/>
                <a:cs typeface="Times New Roman"/>
                <a:sym typeface="Times New Roman"/>
              </a:rPr>
              <a:t>    if scan_success:</a:t>
            </a:r>
            <a:endParaRPr sz="15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1500">
                <a:solidFill>
                  <a:schemeClr val="dk1"/>
                </a:solidFill>
                <a:latin typeface="Times New Roman"/>
                <a:ea typeface="Times New Roman"/>
                <a:cs typeface="Times New Roman"/>
                <a:sym typeface="Times New Roman"/>
              </a:rPr>
              <a:t>        modified_layer = self.postprocessor.gen_next_layer()</a:t>
            </a:r>
            <a:endParaRPr sz="15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1500">
                <a:solidFill>
                  <a:schemeClr val="dk1"/>
                </a:solidFill>
                <a:latin typeface="Times New Roman"/>
                <a:ea typeface="Times New Roman"/>
                <a:cs typeface="Times New Roman"/>
                <a:sym typeface="Times New Roman"/>
              </a:rPr>
              <a:t>        self.layers[self.current_layer] = modified_layer</a:t>
            </a:r>
            <a:endParaRPr sz="15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b="1" sz="17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b="1"/>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 name="Shape 647"/>
        <p:cNvGrpSpPr/>
        <p:nvPr/>
      </p:nvGrpSpPr>
      <p:grpSpPr>
        <a:xfrm>
          <a:off x="0" y="0"/>
          <a:ext cx="0" cy="0"/>
          <a:chOff x="0" y="0"/>
          <a:chExt cx="0" cy="0"/>
        </a:xfrm>
      </p:grpSpPr>
      <p:sp>
        <p:nvSpPr>
          <p:cNvPr id="648" name="Google Shape;648;g33e27b3e0e6_0_424"/>
          <p:cNvSpPr/>
          <p:nvPr/>
        </p:nvSpPr>
        <p:spPr>
          <a:xfrm>
            <a:off x="1329635" y="-1472"/>
            <a:ext cx="10862400" cy="452100"/>
          </a:xfrm>
          <a:prstGeom prst="rect">
            <a:avLst/>
          </a:prstGeom>
          <a:solidFill>
            <a:srgbClr val="002060"/>
          </a:solidFill>
          <a:ln>
            <a:noFill/>
          </a:ln>
        </p:spPr>
        <p:txBody>
          <a:bodyPr anchorCtr="0" anchor="ctr" bIns="21400" lIns="42825" spcFirstLastPara="1" rIns="42825" wrap="square" tIns="21400">
            <a:noAutofit/>
          </a:bodyPr>
          <a:lstStyle/>
          <a:p>
            <a:pPr indent="0" lvl="0" marL="0" rtl="0" algn="l">
              <a:spcBef>
                <a:spcPts val="0"/>
              </a:spcBef>
              <a:spcAft>
                <a:spcPts val="0"/>
              </a:spcAft>
              <a:buClr>
                <a:srgbClr val="000000"/>
              </a:buClr>
              <a:buSzPts val="294"/>
              <a:buFont typeface="Arial"/>
              <a:buNone/>
            </a:pPr>
            <a:r>
              <a:rPr b="1" lang="en-US" sz="1700">
                <a:solidFill>
                  <a:schemeClr val="lt1"/>
                </a:solidFill>
                <a:latin typeface="Times New Roman"/>
                <a:ea typeface="Times New Roman"/>
                <a:cs typeface="Times New Roman"/>
                <a:sym typeface="Times New Roman"/>
              </a:rPr>
              <a:t>Line-by-Line vs. Layer-by-Layer Processing</a:t>
            </a:r>
            <a:endParaRPr/>
          </a:p>
        </p:txBody>
      </p:sp>
      <p:sp>
        <p:nvSpPr>
          <p:cNvPr id="649" name="Google Shape;649;g33e27b3e0e6_0_424"/>
          <p:cNvSpPr/>
          <p:nvPr/>
        </p:nvSpPr>
        <p:spPr>
          <a:xfrm>
            <a:off x="1329635" y="6597352"/>
            <a:ext cx="10862400" cy="260700"/>
          </a:xfrm>
          <a:prstGeom prst="rect">
            <a:avLst/>
          </a:prstGeom>
          <a:solidFill>
            <a:srgbClr val="002060"/>
          </a:solidFill>
          <a:ln>
            <a:noFill/>
          </a:ln>
        </p:spPr>
        <p:txBody>
          <a:bodyPr anchorCtr="0" anchor="ctr" bIns="21400" lIns="42825" spcFirstLastPara="1" rIns="42825" wrap="square" tIns="21400">
            <a:noAutofit/>
          </a:bodyPr>
          <a:lstStyle/>
          <a:p>
            <a:pPr indent="0" lvl="0" marL="0" marR="0" rtl="0" algn="l">
              <a:lnSpc>
                <a:spcPct val="100000"/>
              </a:lnSpc>
              <a:spcBef>
                <a:spcPts val="0"/>
              </a:spcBef>
              <a:spcAft>
                <a:spcPts val="0"/>
              </a:spcAft>
              <a:buClr>
                <a:srgbClr val="000000"/>
              </a:buClr>
              <a:buSzPts val="294"/>
              <a:buFont typeface="Arial"/>
              <a:buNone/>
            </a:pPr>
            <a:r>
              <a:t/>
            </a:r>
            <a:endParaRPr b="1" i="1" sz="294" u="none" cap="none" strike="noStrike">
              <a:solidFill>
                <a:srgbClr val="FFFFFF"/>
              </a:solidFill>
              <a:latin typeface="Calibri"/>
              <a:ea typeface="Calibri"/>
              <a:cs typeface="Calibri"/>
              <a:sym typeface="Calibri"/>
            </a:endParaRPr>
          </a:p>
        </p:txBody>
      </p:sp>
      <p:sp>
        <p:nvSpPr>
          <p:cNvPr id="650" name="Google Shape;650;g33e27b3e0e6_0_424"/>
          <p:cNvSpPr txBox="1"/>
          <p:nvPr>
            <p:ph idx="12" type="sldNum"/>
          </p:nvPr>
        </p:nvSpPr>
        <p:spPr>
          <a:xfrm>
            <a:off x="11386491" y="6556449"/>
            <a:ext cx="639600" cy="3267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sz="1800">
                <a:solidFill>
                  <a:schemeClr val="lt1"/>
                </a:solidFill>
              </a:rPr>
              <a:t>‹#›</a:t>
            </a:fld>
            <a:endParaRPr sz="1931">
              <a:solidFill>
                <a:schemeClr val="lt1"/>
              </a:solidFill>
            </a:endParaRPr>
          </a:p>
        </p:txBody>
      </p:sp>
      <p:sp>
        <p:nvSpPr>
          <p:cNvPr id="651" name="Google Shape;651;g33e27b3e0e6_0_424"/>
          <p:cNvSpPr/>
          <p:nvPr/>
        </p:nvSpPr>
        <p:spPr>
          <a:xfrm>
            <a:off x="3615675" y="-1475"/>
            <a:ext cx="4154700" cy="535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1" i="0" sz="1500" u="none" cap="none" strike="noStrike">
              <a:solidFill>
                <a:srgbClr val="000000"/>
              </a:solidFill>
              <a:latin typeface="Times New Roman"/>
              <a:ea typeface="Times New Roman"/>
              <a:cs typeface="Times New Roman"/>
              <a:sym typeface="Times New Roman"/>
            </a:endParaRPr>
          </a:p>
        </p:txBody>
      </p:sp>
      <p:sp>
        <p:nvSpPr>
          <p:cNvPr id="652" name="Google Shape;652;g33e27b3e0e6_0_424"/>
          <p:cNvSpPr/>
          <p:nvPr/>
        </p:nvSpPr>
        <p:spPr>
          <a:xfrm>
            <a:off x="0" y="-1472"/>
            <a:ext cx="1329600" cy="452100"/>
          </a:xfrm>
          <a:prstGeom prst="rect">
            <a:avLst/>
          </a:prstGeom>
          <a:solidFill>
            <a:srgbClr val="C000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00"/>
              <a:buFont typeface="Arial"/>
              <a:buNone/>
            </a:pPr>
            <a:r>
              <a:rPr b="1" lang="en-US">
                <a:solidFill>
                  <a:schemeClr val="dk1"/>
                </a:solidFill>
              </a:rPr>
              <a:t>ECSE 695</a:t>
            </a:r>
            <a:endParaRPr b="1" i="0" sz="1400" u="none" cap="none" strike="noStrike">
              <a:solidFill>
                <a:schemeClr val="dk1"/>
              </a:solidFill>
              <a:latin typeface="Arial"/>
              <a:ea typeface="Arial"/>
              <a:cs typeface="Arial"/>
              <a:sym typeface="Arial"/>
            </a:endParaRPr>
          </a:p>
        </p:txBody>
      </p:sp>
      <p:sp>
        <p:nvSpPr>
          <p:cNvPr id="653" name="Google Shape;653;g33e27b3e0e6_0_424"/>
          <p:cNvSpPr txBox="1"/>
          <p:nvPr/>
        </p:nvSpPr>
        <p:spPr>
          <a:xfrm>
            <a:off x="0" y="855128"/>
            <a:ext cx="7506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p:txBody>
      </p:sp>
      <p:pic>
        <p:nvPicPr>
          <p:cNvPr descr="A blue letter with white background&#10;&#10;Description automatically generated" id="654" name="Google Shape;654;g33e27b3e0e6_0_424"/>
          <p:cNvPicPr preferRelativeResize="0"/>
          <p:nvPr/>
        </p:nvPicPr>
        <p:blipFill rotWithShape="1">
          <a:blip r:embed="rId3">
            <a:alphaModFix/>
          </a:blip>
          <a:srcRect b="0" l="0" r="0" t="0"/>
          <a:stretch/>
        </p:blipFill>
        <p:spPr>
          <a:xfrm>
            <a:off x="0" y="6597352"/>
            <a:ext cx="1329635" cy="260648"/>
          </a:xfrm>
          <a:prstGeom prst="rect">
            <a:avLst/>
          </a:prstGeom>
          <a:noFill/>
          <a:ln>
            <a:noFill/>
          </a:ln>
        </p:spPr>
      </p:pic>
      <p:sp>
        <p:nvSpPr>
          <p:cNvPr id="655" name="Google Shape;655;g33e27b3e0e6_0_424"/>
          <p:cNvSpPr txBox="1"/>
          <p:nvPr/>
        </p:nvSpPr>
        <p:spPr>
          <a:xfrm>
            <a:off x="8022596" y="6222504"/>
            <a:ext cx="4079700" cy="307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t/>
            </a:r>
            <a:endParaRPr b="0" i="0" sz="1400" u="none" cap="none" strike="noStrike">
              <a:solidFill>
                <a:srgbClr val="000000"/>
              </a:solidFill>
              <a:latin typeface="Arial"/>
              <a:ea typeface="Arial"/>
              <a:cs typeface="Arial"/>
              <a:sym typeface="Arial"/>
            </a:endParaRPr>
          </a:p>
        </p:txBody>
      </p:sp>
      <p:sp>
        <p:nvSpPr>
          <p:cNvPr id="656" name="Google Shape;656;g33e27b3e0e6_0_424"/>
          <p:cNvSpPr txBox="1"/>
          <p:nvPr/>
        </p:nvSpPr>
        <p:spPr>
          <a:xfrm>
            <a:off x="7882801" y="533746"/>
            <a:ext cx="37719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t/>
            </a:r>
            <a:endParaRPr b="1"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C00000"/>
              </a:solidFill>
              <a:latin typeface="Arial"/>
              <a:ea typeface="Arial"/>
              <a:cs typeface="Arial"/>
              <a:sym typeface="Arial"/>
            </a:endParaRPr>
          </a:p>
        </p:txBody>
      </p:sp>
      <p:sp>
        <p:nvSpPr>
          <p:cNvPr id="657" name="Google Shape;657;g33e27b3e0e6_0_424"/>
          <p:cNvSpPr txBox="1"/>
          <p:nvPr/>
        </p:nvSpPr>
        <p:spPr>
          <a:xfrm>
            <a:off x="79000" y="450625"/>
            <a:ext cx="9950100" cy="1201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t/>
            </a:r>
            <a:endParaRPr b="1" sz="1100">
              <a:solidFill>
                <a:schemeClr val="dk1"/>
              </a:solidFill>
            </a:endParaRPr>
          </a:p>
          <a:p>
            <a:pPr indent="0" lvl="0" marL="0" rtl="0" algn="l">
              <a:lnSpc>
                <a:spcPct val="115000"/>
              </a:lnSpc>
              <a:spcBef>
                <a:spcPts val="1200"/>
              </a:spcBef>
              <a:spcAft>
                <a:spcPts val="0"/>
              </a:spcAft>
              <a:buNone/>
            </a:pPr>
            <a:r>
              <a:t/>
            </a:r>
            <a:endParaRPr b="1">
              <a:solidFill>
                <a:schemeClr val="dk1"/>
              </a:solidFill>
              <a:latin typeface="Times New Roman"/>
              <a:ea typeface="Times New Roman"/>
              <a:cs typeface="Times New Roman"/>
              <a:sym typeface="Times New Roman"/>
            </a:endParaRPr>
          </a:p>
          <a:p>
            <a:pPr indent="0" lvl="0" marL="0" rtl="0" algn="l">
              <a:lnSpc>
                <a:spcPct val="115000"/>
              </a:lnSpc>
              <a:spcBef>
                <a:spcPts val="1600"/>
              </a:spcBef>
              <a:spcAft>
                <a:spcPts val="1600"/>
              </a:spcAft>
              <a:buNone/>
            </a:pPr>
            <a:r>
              <a:t/>
            </a:r>
            <a:endParaRPr>
              <a:solidFill>
                <a:schemeClr val="dk1"/>
              </a:solidFill>
              <a:latin typeface="Times New Roman"/>
              <a:ea typeface="Times New Roman"/>
              <a:cs typeface="Times New Roman"/>
              <a:sym typeface="Times New Roman"/>
            </a:endParaRPr>
          </a:p>
        </p:txBody>
      </p:sp>
      <p:sp>
        <p:nvSpPr>
          <p:cNvPr id="658" name="Google Shape;658;g33e27b3e0e6_0_424"/>
          <p:cNvSpPr txBox="1"/>
          <p:nvPr/>
        </p:nvSpPr>
        <p:spPr>
          <a:xfrm>
            <a:off x="8134650" y="5405375"/>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659" name="Google Shape;659;g33e27b3e0e6_0_424"/>
          <p:cNvSpPr txBox="1"/>
          <p:nvPr/>
        </p:nvSpPr>
        <p:spPr>
          <a:xfrm>
            <a:off x="0" y="450625"/>
            <a:ext cx="3000000" cy="369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1800"/>
              </a:spcAft>
              <a:buNone/>
            </a:pPr>
            <a:r>
              <a:t/>
            </a:r>
            <a:endParaRPr sz="1200">
              <a:solidFill>
                <a:schemeClr val="dk1"/>
              </a:solidFill>
              <a:latin typeface="Times New Roman"/>
              <a:ea typeface="Times New Roman"/>
              <a:cs typeface="Times New Roman"/>
              <a:sym typeface="Times New Roman"/>
            </a:endParaRPr>
          </a:p>
        </p:txBody>
      </p:sp>
      <p:sp>
        <p:nvSpPr>
          <p:cNvPr id="660" name="Google Shape;660;g33e27b3e0e6_0_424"/>
          <p:cNvSpPr txBox="1"/>
          <p:nvPr/>
        </p:nvSpPr>
        <p:spPr>
          <a:xfrm>
            <a:off x="34300" y="581975"/>
            <a:ext cx="10039500" cy="1000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700"/>
              </a:spcBef>
              <a:spcAft>
                <a:spcPts val="0"/>
              </a:spcAft>
              <a:buNone/>
            </a:pPr>
            <a:r>
              <a:t/>
            </a:r>
            <a:endParaRPr sz="1900">
              <a:solidFill>
                <a:schemeClr val="dk1"/>
              </a:solidFill>
              <a:latin typeface="Times New Roman"/>
              <a:ea typeface="Times New Roman"/>
              <a:cs typeface="Times New Roman"/>
              <a:sym typeface="Times New Roman"/>
            </a:endParaRPr>
          </a:p>
          <a:p>
            <a:pPr indent="0" lvl="0" marL="0" rtl="0" algn="l">
              <a:lnSpc>
                <a:spcPct val="115000"/>
              </a:lnSpc>
              <a:spcBef>
                <a:spcPts val="1700"/>
              </a:spcBef>
              <a:spcAft>
                <a:spcPts val="1700"/>
              </a:spcAft>
              <a:buNone/>
            </a:pPr>
            <a:r>
              <a:t/>
            </a:r>
            <a:endParaRPr b="1" sz="1700">
              <a:solidFill>
                <a:schemeClr val="dk1"/>
              </a:solidFill>
              <a:latin typeface="Times New Roman"/>
              <a:ea typeface="Times New Roman"/>
              <a:cs typeface="Times New Roman"/>
              <a:sym typeface="Times New Roman"/>
            </a:endParaRPr>
          </a:p>
        </p:txBody>
      </p:sp>
      <p:sp>
        <p:nvSpPr>
          <p:cNvPr id="661" name="Google Shape;661;g33e27b3e0e6_0_424"/>
          <p:cNvSpPr txBox="1"/>
          <p:nvPr/>
        </p:nvSpPr>
        <p:spPr>
          <a:xfrm>
            <a:off x="219375" y="663225"/>
            <a:ext cx="5062200" cy="3894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US" sz="1600">
                <a:solidFill>
                  <a:schemeClr val="dk1"/>
                </a:solidFill>
                <a:latin typeface="Times New Roman"/>
                <a:ea typeface="Times New Roman"/>
                <a:cs typeface="Times New Roman"/>
                <a:sym typeface="Times New Roman"/>
              </a:rPr>
              <a:t>Combined Approach Benefits:</a:t>
            </a:r>
            <a:endParaRPr b="1" sz="1600">
              <a:solidFill>
                <a:schemeClr val="dk1"/>
              </a:solidFill>
              <a:latin typeface="Times New Roman"/>
              <a:ea typeface="Times New Roman"/>
              <a:cs typeface="Times New Roman"/>
              <a:sym typeface="Times New Roman"/>
            </a:endParaRPr>
          </a:p>
          <a:p>
            <a:pPr indent="-330200" lvl="0" marL="457200" rtl="0" algn="l">
              <a:lnSpc>
                <a:spcPct val="115000"/>
              </a:lnSpc>
              <a:spcBef>
                <a:spcPts val="120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Precise execution control with adaptive feedback</a:t>
            </a:r>
            <a:endParaRPr sz="1600">
              <a:solidFill>
                <a:schemeClr val="dk1"/>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Safety through immediate response capability</a:t>
            </a:r>
            <a:endParaRPr sz="1600">
              <a:solidFill>
                <a:schemeClr val="dk1"/>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Error correction across layer boundaries</a:t>
            </a:r>
            <a:endParaRPr sz="1600">
              <a:solidFill>
                <a:schemeClr val="dk1"/>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Geometric accuracy optimization </a:t>
            </a:r>
            <a:endParaRPr sz="16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b="1" sz="20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b="1" sz="21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b="1" sz="1800"/>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6" name="Shape 666"/>
        <p:cNvGrpSpPr/>
        <p:nvPr/>
      </p:nvGrpSpPr>
      <p:grpSpPr>
        <a:xfrm>
          <a:off x="0" y="0"/>
          <a:ext cx="0" cy="0"/>
          <a:chOff x="0" y="0"/>
          <a:chExt cx="0" cy="0"/>
        </a:xfrm>
      </p:grpSpPr>
      <p:sp>
        <p:nvSpPr>
          <p:cNvPr id="667" name="Google Shape;667;g33e27b3e0e6_0_443"/>
          <p:cNvSpPr/>
          <p:nvPr/>
        </p:nvSpPr>
        <p:spPr>
          <a:xfrm>
            <a:off x="1329635" y="-1472"/>
            <a:ext cx="10862400" cy="452100"/>
          </a:xfrm>
          <a:prstGeom prst="rect">
            <a:avLst/>
          </a:prstGeom>
          <a:solidFill>
            <a:srgbClr val="002060"/>
          </a:solidFill>
          <a:ln>
            <a:noFill/>
          </a:ln>
        </p:spPr>
        <p:txBody>
          <a:bodyPr anchorCtr="0" anchor="ctr" bIns="21400" lIns="42825" spcFirstLastPara="1" rIns="42825" wrap="square" tIns="21400">
            <a:noAutofit/>
          </a:bodyPr>
          <a:lstStyle/>
          <a:p>
            <a:pPr indent="0" lvl="0" marL="0" rtl="0" algn="l">
              <a:spcBef>
                <a:spcPts val="0"/>
              </a:spcBef>
              <a:spcAft>
                <a:spcPts val="0"/>
              </a:spcAft>
              <a:buClr>
                <a:srgbClr val="000000"/>
              </a:buClr>
              <a:buSzPts val="294"/>
              <a:buFont typeface="Arial"/>
              <a:buNone/>
            </a:pPr>
            <a:r>
              <a:rPr b="1" lang="en-US" sz="1700">
                <a:solidFill>
                  <a:schemeClr val="lt1"/>
                </a:solidFill>
                <a:latin typeface="Times New Roman"/>
                <a:ea typeface="Times New Roman"/>
                <a:cs typeface="Times New Roman"/>
                <a:sym typeface="Times New Roman"/>
              </a:rPr>
              <a:t>Collaborative Development</a:t>
            </a:r>
            <a:endParaRPr/>
          </a:p>
        </p:txBody>
      </p:sp>
      <p:sp>
        <p:nvSpPr>
          <p:cNvPr id="668" name="Google Shape;668;g33e27b3e0e6_0_443"/>
          <p:cNvSpPr/>
          <p:nvPr/>
        </p:nvSpPr>
        <p:spPr>
          <a:xfrm>
            <a:off x="1329635" y="6597352"/>
            <a:ext cx="10862400" cy="260700"/>
          </a:xfrm>
          <a:prstGeom prst="rect">
            <a:avLst/>
          </a:prstGeom>
          <a:solidFill>
            <a:srgbClr val="002060"/>
          </a:solidFill>
          <a:ln>
            <a:noFill/>
          </a:ln>
        </p:spPr>
        <p:txBody>
          <a:bodyPr anchorCtr="0" anchor="ctr" bIns="21400" lIns="42825" spcFirstLastPara="1" rIns="42825" wrap="square" tIns="21400">
            <a:noAutofit/>
          </a:bodyPr>
          <a:lstStyle/>
          <a:p>
            <a:pPr indent="0" lvl="0" marL="0" marR="0" rtl="0" algn="l">
              <a:lnSpc>
                <a:spcPct val="100000"/>
              </a:lnSpc>
              <a:spcBef>
                <a:spcPts val="0"/>
              </a:spcBef>
              <a:spcAft>
                <a:spcPts val="0"/>
              </a:spcAft>
              <a:buClr>
                <a:srgbClr val="000000"/>
              </a:buClr>
              <a:buSzPts val="294"/>
              <a:buFont typeface="Arial"/>
              <a:buNone/>
            </a:pPr>
            <a:r>
              <a:t/>
            </a:r>
            <a:endParaRPr b="1" i="1" sz="294" u="none" cap="none" strike="noStrike">
              <a:solidFill>
                <a:srgbClr val="FFFFFF"/>
              </a:solidFill>
              <a:latin typeface="Calibri"/>
              <a:ea typeface="Calibri"/>
              <a:cs typeface="Calibri"/>
              <a:sym typeface="Calibri"/>
            </a:endParaRPr>
          </a:p>
        </p:txBody>
      </p:sp>
      <p:sp>
        <p:nvSpPr>
          <p:cNvPr id="669" name="Google Shape;669;g33e27b3e0e6_0_443"/>
          <p:cNvSpPr txBox="1"/>
          <p:nvPr>
            <p:ph idx="12" type="sldNum"/>
          </p:nvPr>
        </p:nvSpPr>
        <p:spPr>
          <a:xfrm>
            <a:off x="11386491" y="6556449"/>
            <a:ext cx="639600" cy="3267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sz="1800">
                <a:solidFill>
                  <a:schemeClr val="lt1"/>
                </a:solidFill>
              </a:rPr>
              <a:t>‹#›</a:t>
            </a:fld>
            <a:endParaRPr sz="1931">
              <a:solidFill>
                <a:schemeClr val="lt1"/>
              </a:solidFill>
            </a:endParaRPr>
          </a:p>
        </p:txBody>
      </p:sp>
      <p:sp>
        <p:nvSpPr>
          <p:cNvPr id="670" name="Google Shape;670;g33e27b3e0e6_0_443"/>
          <p:cNvSpPr/>
          <p:nvPr/>
        </p:nvSpPr>
        <p:spPr>
          <a:xfrm>
            <a:off x="3615675" y="-1475"/>
            <a:ext cx="4154700" cy="535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1" i="0" sz="1500" u="none" cap="none" strike="noStrike">
              <a:solidFill>
                <a:srgbClr val="000000"/>
              </a:solidFill>
              <a:latin typeface="Times New Roman"/>
              <a:ea typeface="Times New Roman"/>
              <a:cs typeface="Times New Roman"/>
              <a:sym typeface="Times New Roman"/>
            </a:endParaRPr>
          </a:p>
        </p:txBody>
      </p:sp>
      <p:sp>
        <p:nvSpPr>
          <p:cNvPr id="671" name="Google Shape;671;g33e27b3e0e6_0_443"/>
          <p:cNvSpPr/>
          <p:nvPr/>
        </p:nvSpPr>
        <p:spPr>
          <a:xfrm>
            <a:off x="0" y="-1472"/>
            <a:ext cx="1329600" cy="452100"/>
          </a:xfrm>
          <a:prstGeom prst="rect">
            <a:avLst/>
          </a:prstGeom>
          <a:solidFill>
            <a:srgbClr val="C000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00"/>
              <a:buFont typeface="Arial"/>
              <a:buNone/>
            </a:pPr>
            <a:r>
              <a:rPr b="1" lang="en-US">
                <a:solidFill>
                  <a:schemeClr val="dk1"/>
                </a:solidFill>
              </a:rPr>
              <a:t>ECSE 695</a:t>
            </a:r>
            <a:endParaRPr b="1" i="0" sz="1400" u="none" cap="none" strike="noStrike">
              <a:solidFill>
                <a:schemeClr val="dk1"/>
              </a:solidFill>
              <a:latin typeface="Arial"/>
              <a:ea typeface="Arial"/>
              <a:cs typeface="Arial"/>
              <a:sym typeface="Arial"/>
            </a:endParaRPr>
          </a:p>
        </p:txBody>
      </p:sp>
      <p:sp>
        <p:nvSpPr>
          <p:cNvPr id="672" name="Google Shape;672;g33e27b3e0e6_0_443"/>
          <p:cNvSpPr txBox="1"/>
          <p:nvPr/>
        </p:nvSpPr>
        <p:spPr>
          <a:xfrm>
            <a:off x="0" y="855128"/>
            <a:ext cx="7506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p:txBody>
      </p:sp>
      <p:pic>
        <p:nvPicPr>
          <p:cNvPr descr="A blue letter with white background&#10;&#10;Description automatically generated" id="673" name="Google Shape;673;g33e27b3e0e6_0_443"/>
          <p:cNvPicPr preferRelativeResize="0"/>
          <p:nvPr/>
        </p:nvPicPr>
        <p:blipFill rotWithShape="1">
          <a:blip r:embed="rId3">
            <a:alphaModFix/>
          </a:blip>
          <a:srcRect b="0" l="0" r="0" t="0"/>
          <a:stretch/>
        </p:blipFill>
        <p:spPr>
          <a:xfrm>
            <a:off x="0" y="6597352"/>
            <a:ext cx="1329635" cy="260648"/>
          </a:xfrm>
          <a:prstGeom prst="rect">
            <a:avLst/>
          </a:prstGeom>
          <a:noFill/>
          <a:ln>
            <a:noFill/>
          </a:ln>
        </p:spPr>
      </p:pic>
      <p:sp>
        <p:nvSpPr>
          <p:cNvPr id="674" name="Google Shape;674;g33e27b3e0e6_0_443"/>
          <p:cNvSpPr txBox="1"/>
          <p:nvPr/>
        </p:nvSpPr>
        <p:spPr>
          <a:xfrm>
            <a:off x="8022596" y="6222504"/>
            <a:ext cx="4079700" cy="307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t/>
            </a:r>
            <a:endParaRPr b="0" i="0" sz="1400" u="none" cap="none" strike="noStrike">
              <a:solidFill>
                <a:srgbClr val="000000"/>
              </a:solidFill>
              <a:latin typeface="Arial"/>
              <a:ea typeface="Arial"/>
              <a:cs typeface="Arial"/>
              <a:sym typeface="Arial"/>
            </a:endParaRPr>
          </a:p>
        </p:txBody>
      </p:sp>
      <p:sp>
        <p:nvSpPr>
          <p:cNvPr id="675" name="Google Shape;675;g33e27b3e0e6_0_443"/>
          <p:cNvSpPr txBox="1"/>
          <p:nvPr/>
        </p:nvSpPr>
        <p:spPr>
          <a:xfrm>
            <a:off x="7882801" y="533746"/>
            <a:ext cx="37719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t/>
            </a:r>
            <a:endParaRPr b="1"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C00000"/>
              </a:solidFill>
              <a:latin typeface="Arial"/>
              <a:ea typeface="Arial"/>
              <a:cs typeface="Arial"/>
              <a:sym typeface="Arial"/>
            </a:endParaRPr>
          </a:p>
        </p:txBody>
      </p:sp>
      <p:sp>
        <p:nvSpPr>
          <p:cNvPr id="676" name="Google Shape;676;g33e27b3e0e6_0_443"/>
          <p:cNvSpPr txBox="1"/>
          <p:nvPr/>
        </p:nvSpPr>
        <p:spPr>
          <a:xfrm>
            <a:off x="79000" y="450625"/>
            <a:ext cx="9950100" cy="1201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t/>
            </a:r>
            <a:endParaRPr b="1" sz="1100">
              <a:solidFill>
                <a:schemeClr val="dk1"/>
              </a:solidFill>
            </a:endParaRPr>
          </a:p>
          <a:p>
            <a:pPr indent="0" lvl="0" marL="0" rtl="0" algn="l">
              <a:lnSpc>
                <a:spcPct val="115000"/>
              </a:lnSpc>
              <a:spcBef>
                <a:spcPts val="1200"/>
              </a:spcBef>
              <a:spcAft>
                <a:spcPts val="0"/>
              </a:spcAft>
              <a:buNone/>
            </a:pPr>
            <a:r>
              <a:t/>
            </a:r>
            <a:endParaRPr b="1">
              <a:solidFill>
                <a:schemeClr val="dk1"/>
              </a:solidFill>
              <a:latin typeface="Times New Roman"/>
              <a:ea typeface="Times New Roman"/>
              <a:cs typeface="Times New Roman"/>
              <a:sym typeface="Times New Roman"/>
            </a:endParaRPr>
          </a:p>
          <a:p>
            <a:pPr indent="0" lvl="0" marL="0" rtl="0" algn="l">
              <a:lnSpc>
                <a:spcPct val="115000"/>
              </a:lnSpc>
              <a:spcBef>
                <a:spcPts val="1600"/>
              </a:spcBef>
              <a:spcAft>
                <a:spcPts val="1600"/>
              </a:spcAft>
              <a:buNone/>
            </a:pPr>
            <a:r>
              <a:t/>
            </a:r>
            <a:endParaRPr>
              <a:solidFill>
                <a:schemeClr val="dk1"/>
              </a:solidFill>
              <a:latin typeface="Times New Roman"/>
              <a:ea typeface="Times New Roman"/>
              <a:cs typeface="Times New Roman"/>
              <a:sym typeface="Times New Roman"/>
            </a:endParaRPr>
          </a:p>
        </p:txBody>
      </p:sp>
      <p:sp>
        <p:nvSpPr>
          <p:cNvPr id="677" name="Google Shape;677;g33e27b3e0e6_0_443"/>
          <p:cNvSpPr txBox="1"/>
          <p:nvPr/>
        </p:nvSpPr>
        <p:spPr>
          <a:xfrm>
            <a:off x="8134650" y="5405375"/>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678" name="Google Shape;678;g33e27b3e0e6_0_443"/>
          <p:cNvSpPr txBox="1"/>
          <p:nvPr/>
        </p:nvSpPr>
        <p:spPr>
          <a:xfrm>
            <a:off x="0" y="450625"/>
            <a:ext cx="3000000" cy="369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1800"/>
              </a:spcAft>
              <a:buNone/>
            </a:pPr>
            <a:r>
              <a:t/>
            </a:r>
            <a:endParaRPr sz="1200">
              <a:solidFill>
                <a:schemeClr val="dk1"/>
              </a:solidFill>
              <a:latin typeface="Times New Roman"/>
              <a:ea typeface="Times New Roman"/>
              <a:cs typeface="Times New Roman"/>
              <a:sym typeface="Times New Roman"/>
            </a:endParaRPr>
          </a:p>
        </p:txBody>
      </p:sp>
      <p:sp>
        <p:nvSpPr>
          <p:cNvPr id="679" name="Google Shape;679;g33e27b3e0e6_0_443"/>
          <p:cNvSpPr txBox="1"/>
          <p:nvPr/>
        </p:nvSpPr>
        <p:spPr>
          <a:xfrm>
            <a:off x="34300" y="581975"/>
            <a:ext cx="10039500" cy="1000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700"/>
              </a:spcBef>
              <a:spcAft>
                <a:spcPts val="0"/>
              </a:spcAft>
              <a:buNone/>
            </a:pPr>
            <a:r>
              <a:t/>
            </a:r>
            <a:endParaRPr sz="1900">
              <a:solidFill>
                <a:schemeClr val="dk1"/>
              </a:solidFill>
              <a:latin typeface="Times New Roman"/>
              <a:ea typeface="Times New Roman"/>
              <a:cs typeface="Times New Roman"/>
              <a:sym typeface="Times New Roman"/>
            </a:endParaRPr>
          </a:p>
          <a:p>
            <a:pPr indent="0" lvl="0" marL="0" rtl="0" algn="l">
              <a:lnSpc>
                <a:spcPct val="115000"/>
              </a:lnSpc>
              <a:spcBef>
                <a:spcPts val="1700"/>
              </a:spcBef>
              <a:spcAft>
                <a:spcPts val="1700"/>
              </a:spcAft>
              <a:buNone/>
            </a:pPr>
            <a:r>
              <a:t/>
            </a:r>
            <a:endParaRPr b="1" sz="1700">
              <a:solidFill>
                <a:schemeClr val="dk1"/>
              </a:solidFill>
              <a:latin typeface="Times New Roman"/>
              <a:ea typeface="Times New Roman"/>
              <a:cs typeface="Times New Roman"/>
              <a:sym typeface="Times New Roman"/>
            </a:endParaRPr>
          </a:p>
        </p:txBody>
      </p:sp>
      <p:sp>
        <p:nvSpPr>
          <p:cNvPr id="680" name="Google Shape;680;g33e27b3e0e6_0_443"/>
          <p:cNvSpPr txBox="1"/>
          <p:nvPr/>
        </p:nvSpPr>
        <p:spPr>
          <a:xfrm>
            <a:off x="219375" y="663225"/>
            <a:ext cx="5062200" cy="6200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b="1" lang="en-US" sz="1600">
                <a:solidFill>
                  <a:schemeClr val="dk1"/>
                </a:solidFill>
                <a:latin typeface="Times New Roman"/>
                <a:ea typeface="Times New Roman"/>
                <a:cs typeface="Times New Roman"/>
                <a:sym typeface="Times New Roman"/>
              </a:rPr>
              <a:t>Team Contributions:</a:t>
            </a:r>
            <a:endParaRPr b="1" sz="1600">
              <a:solidFill>
                <a:schemeClr val="dk1"/>
              </a:solidFill>
              <a:latin typeface="Times New Roman"/>
              <a:ea typeface="Times New Roman"/>
              <a:cs typeface="Times New Roman"/>
              <a:sym typeface="Times New Roman"/>
            </a:endParaRPr>
          </a:p>
          <a:p>
            <a:pPr indent="-330200" lvl="0" marL="457200" rtl="0" algn="l">
              <a:lnSpc>
                <a:spcPct val="115000"/>
              </a:lnSpc>
              <a:spcBef>
                <a:spcPts val="120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Interdisciplinary collaboration across mechanical and software domains</a:t>
            </a:r>
            <a:endParaRPr sz="1600">
              <a:solidFill>
                <a:schemeClr val="dk1"/>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Hardware-software integration through team coordination</a:t>
            </a:r>
            <a:endParaRPr sz="1600">
              <a:solidFill>
                <a:schemeClr val="dk1"/>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Iterative refinement through collaborative problem-solving</a:t>
            </a:r>
            <a:endParaRPr sz="16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b="1" lang="en-US" sz="1600">
                <a:solidFill>
                  <a:schemeClr val="dk1"/>
                </a:solidFill>
                <a:latin typeface="Times New Roman"/>
                <a:ea typeface="Times New Roman"/>
                <a:cs typeface="Times New Roman"/>
                <a:sym typeface="Times New Roman"/>
              </a:rPr>
              <a:t>Knowledge Transfer:</a:t>
            </a:r>
            <a:endParaRPr b="1" sz="1600">
              <a:solidFill>
                <a:schemeClr val="dk1"/>
              </a:solidFill>
              <a:latin typeface="Times New Roman"/>
              <a:ea typeface="Times New Roman"/>
              <a:cs typeface="Times New Roman"/>
              <a:sym typeface="Times New Roman"/>
            </a:endParaRPr>
          </a:p>
          <a:p>
            <a:pPr indent="-330200" lvl="0" marL="457200" rtl="0" algn="l">
              <a:lnSpc>
                <a:spcPct val="115000"/>
              </a:lnSpc>
              <a:spcBef>
                <a:spcPts val="120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Comprehensive documentation of system architecture</a:t>
            </a:r>
            <a:endParaRPr sz="1600">
              <a:solidFill>
                <a:schemeClr val="dk1"/>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Detailed implementation notes for future developers</a:t>
            </a:r>
            <a:endParaRPr sz="1600">
              <a:solidFill>
                <a:schemeClr val="dk1"/>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Platform for continued research and enhancement</a:t>
            </a:r>
            <a:endParaRPr sz="16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t/>
            </a:r>
            <a:endParaRPr b="1" sz="16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b="1" sz="16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b="1" sz="16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b="1" sz="1800"/>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5" name="Shape 685"/>
        <p:cNvGrpSpPr/>
        <p:nvPr/>
      </p:nvGrpSpPr>
      <p:grpSpPr>
        <a:xfrm>
          <a:off x="0" y="0"/>
          <a:ext cx="0" cy="0"/>
          <a:chOff x="0" y="0"/>
          <a:chExt cx="0" cy="0"/>
        </a:xfrm>
      </p:grpSpPr>
      <p:sp>
        <p:nvSpPr>
          <p:cNvPr id="686" name="Google Shape;686;g33e27b3e0e6_0_462"/>
          <p:cNvSpPr/>
          <p:nvPr/>
        </p:nvSpPr>
        <p:spPr>
          <a:xfrm>
            <a:off x="1329635" y="-1472"/>
            <a:ext cx="10862400" cy="452100"/>
          </a:xfrm>
          <a:prstGeom prst="rect">
            <a:avLst/>
          </a:prstGeom>
          <a:solidFill>
            <a:srgbClr val="002060"/>
          </a:solidFill>
          <a:ln>
            <a:noFill/>
          </a:ln>
        </p:spPr>
        <p:txBody>
          <a:bodyPr anchorCtr="0" anchor="ctr" bIns="21400" lIns="42825" spcFirstLastPara="1" rIns="42825" wrap="square" tIns="21400">
            <a:noAutofit/>
          </a:bodyPr>
          <a:lstStyle/>
          <a:p>
            <a:pPr indent="0" lvl="0" marL="0" rtl="0" algn="l">
              <a:spcBef>
                <a:spcPts val="0"/>
              </a:spcBef>
              <a:spcAft>
                <a:spcPts val="0"/>
              </a:spcAft>
              <a:buClr>
                <a:srgbClr val="000000"/>
              </a:buClr>
              <a:buSzPts val="294"/>
              <a:buFont typeface="Arial"/>
              <a:buNone/>
            </a:pPr>
            <a:r>
              <a:rPr b="1" lang="en-US" sz="1700">
                <a:solidFill>
                  <a:schemeClr val="lt1"/>
                </a:solidFill>
                <a:latin typeface="Times New Roman"/>
                <a:ea typeface="Times New Roman"/>
                <a:cs typeface="Times New Roman"/>
                <a:sym typeface="Times New Roman"/>
              </a:rPr>
              <a:t>Collaborative Development</a:t>
            </a:r>
            <a:endParaRPr/>
          </a:p>
        </p:txBody>
      </p:sp>
      <p:sp>
        <p:nvSpPr>
          <p:cNvPr id="687" name="Google Shape;687;g33e27b3e0e6_0_462"/>
          <p:cNvSpPr/>
          <p:nvPr/>
        </p:nvSpPr>
        <p:spPr>
          <a:xfrm>
            <a:off x="1329635" y="6597352"/>
            <a:ext cx="10862400" cy="260700"/>
          </a:xfrm>
          <a:prstGeom prst="rect">
            <a:avLst/>
          </a:prstGeom>
          <a:solidFill>
            <a:srgbClr val="002060"/>
          </a:solidFill>
          <a:ln>
            <a:noFill/>
          </a:ln>
        </p:spPr>
        <p:txBody>
          <a:bodyPr anchorCtr="0" anchor="ctr" bIns="21400" lIns="42825" spcFirstLastPara="1" rIns="42825" wrap="square" tIns="21400">
            <a:noAutofit/>
          </a:bodyPr>
          <a:lstStyle/>
          <a:p>
            <a:pPr indent="0" lvl="0" marL="0" marR="0" rtl="0" algn="l">
              <a:lnSpc>
                <a:spcPct val="100000"/>
              </a:lnSpc>
              <a:spcBef>
                <a:spcPts val="0"/>
              </a:spcBef>
              <a:spcAft>
                <a:spcPts val="0"/>
              </a:spcAft>
              <a:buClr>
                <a:srgbClr val="000000"/>
              </a:buClr>
              <a:buSzPts val="294"/>
              <a:buFont typeface="Arial"/>
              <a:buNone/>
            </a:pPr>
            <a:r>
              <a:t/>
            </a:r>
            <a:endParaRPr b="1" i="1" sz="294" u="none" cap="none" strike="noStrike">
              <a:solidFill>
                <a:srgbClr val="FFFFFF"/>
              </a:solidFill>
              <a:latin typeface="Calibri"/>
              <a:ea typeface="Calibri"/>
              <a:cs typeface="Calibri"/>
              <a:sym typeface="Calibri"/>
            </a:endParaRPr>
          </a:p>
        </p:txBody>
      </p:sp>
      <p:sp>
        <p:nvSpPr>
          <p:cNvPr id="688" name="Google Shape;688;g33e27b3e0e6_0_462"/>
          <p:cNvSpPr txBox="1"/>
          <p:nvPr>
            <p:ph idx="12" type="sldNum"/>
          </p:nvPr>
        </p:nvSpPr>
        <p:spPr>
          <a:xfrm>
            <a:off x="11386491" y="6556449"/>
            <a:ext cx="639600" cy="3267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sz="1800">
                <a:solidFill>
                  <a:schemeClr val="lt1"/>
                </a:solidFill>
              </a:rPr>
              <a:t>‹#›</a:t>
            </a:fld>
            <a:endParaRPr sz="1931">
              <a:solidFill>
                <a:schemeClr val="lt1"/>
              </a:solidFill>
            </a:endParaRPr>
          </a:p>
        </p:txBody>
      </p:sp>
      <p:sp>
        <p:nvSpPr>
          <p:cNvPr id="689" name="Google Shape;689;g33e27b3e0e6_0_462"/>
          <p:cNvSpPr/>
          <p:nvPr/>
        </p:nvSpPr>
        <p:spPr>
          <a:xfrm>
            <a:off x="3615675" y="-1475"/>
            <a:ext cx="4154700" cy="535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1" i="0" sz="1500" u="none" cap="none" strike="noStrike">
              <a:solidFill>
                <a:srgbClr val="000000"/>
              </a:solidFill>
              <a:latin typeface="Times New Roman"/>
              <a:ea typeface="Times New Roman"/>
              <a:cs typeface="Times New Roman"/>
              <a:sym typeface="Times New Roman"/>
            </a:endParaRPr>
          </a:p>
        </p:txBody>
      </p:sp>
      <p:sp>
        <p:nvSpPr>
          <p:cNvPr id="690" name="Google Shape;690;g33e27b3e0e6_0_462"/>
          <p:cNvSpPr/>
          <p:nvPr/>
        </p:nvSpPr>
        <p:spPr>
          <a:xfrm>
            <a:off x="0" y="-1472"/>
            <a:ext cx="1329600" cy="452100"/>
          </a:xfrm>
          <a:prstGeom prst="rect">
            <a:avLst/>
          </a:prstGeom>
          <a:solidFill>
            <a:srgbClr val="C000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00"/>
              <a:buFont typeface="Arial"/>
              <a:buNone/>
            </a:pPr>
            <a:r>
              <a:rPr b="1" lang="en-US">
                <a:solidFill>
                  <a:schemeClr val="dk1"/>
                </a:solidFill>
              </a:rPr>
              <a:t>ECSE 695</a:t>
            </a:r>
            <a:endParaRPr b="1" i="0" sz="1400" u="none" cap="none" strike="noStrike">
              <a:solidFill>
                <a:schemeClr val="dk1"/>
              </a:solidFill>
              <a:latin typeface="Arial"/>
              <a:ea typeface="Arial"/>
              <a:cs typeface="Arial"/>
              <a:sym typeface="Arial"/>
            </a:endParaRPr>
          </a:p>
        </p:txBody>
      </p:sp>
      <p:sp>
        <p:nvSpPr>
          <p:cNvPr id="691" name="Google Shape;691;g33e27b3e0e6_0_462"/>
          <p:cNvSpPr txBox="1"/>
          <p:nvPr/>
        </p:nvSpPr>
        <p:spPr>
          <a:xfrm>
            <a:off x="0" y="855128"/>
            <a:ext cx="7506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p:txBody>
      </p:sp>
      <p:pic>
        <p:nvPicPr>
          <p:cNvPr descr="A blue letter with white background&#10;&#10;Description automatically generated" id="692" name="Google Shape;692;g33e27b3e0e6_0_462"/>
          <p:cNvPicPr preferRelativeResize="0"/>
          <p:nvPr/>
        </p:nvPicPr>
        <p:blipFill rotWithShape="1">
          <a:blip r:embed="rId3">
            <a:alphaModFix/>
          </a:blip>
          <a:srcRect b="0" l="0" r="0" t="0"/>
          <a:stretch/>
        </p:blipFill>
        <p:spPr>
          <a:xfrm>
            <a:off x="0" y="6597352"/>
            <a:ext cx="1329635" cy="260648"/>
          </a:xfrm>
          <a:prstGeom prst="rect">
            <a:avLst/>
          </a:prstGeom>
          <a:noFill/>
          <a:ln>
            <a:noFill/>
          </a:ln>
        </p:spPr>
      </p:pic>
      <p:sp>
        <p:nvSpPr>
          <p:cNvPr id="693" name="Google Shape;693;g33e27b3e0e6_0_462"/>
          <p:cNvSpPr txBox="1"/>
          <p:nvPr/>
        </p:nvSpPr>
        <p:spPr>
          <a:xfrm>
            <a:off x="8022596" y="6222504"/>
            <a:ext cx="4079700" cy="307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t/>
            </a:r>
            <a:endParaRPr b="0" i="0" sz="1400" u="none" cap="none" strike="noStrike">
              <a:solidFill>
                <a:srgbClr val="000000"/>
              </a:solidFill>
              <a:latin typeface="Arial"/>
              <a:ea typeface="Arial"/>
              <a:cs typeface="Arial"/>
              <a:sym typeface="Arial"/>
            </a:endParaRPr>
          </a:p>
        </p:txBody>
      </p:sp>
      <p:sp>
        <p:nvSpPr>
          <p:cNvPr id="694" name="Google Shape;694;g33e27b3e0e6_0_462"/>
          <p:cNvSpPr txBox="1"/>
          <p:nvPr/>
        </p:nvSpPr>
        <p:spPr>
          <a:xfrm>
            <a:off x="7882801" y="533746"/>
            <a:ext cx="37719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t/>
            </a:r>
            <a:endParaRPr b="1"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C00000"/>
              </a:solidFill>
              <a:latin typeface="Arial"/>
              <a:ea typeface="Arial"/>
              <a:cs typeface="Arial"/>
              <a:sym typeface="Arial"/>
            </a:endParaRPr>
          </a:p>
        </p:txBody>
      </p:sp>
      <p:sp>
        <p:nvSpPr>
          <p:cNvPr id="695" name="Google Shape;695;g33e27b3e0e6_0_462"/>
          <p:cNvSpPr txBox="1"/>
          <p:nvPr/>
        </p:nvSpPr>
        <p:spPr>
          <a:xfrm>
            <a:off x="79000" y="450625"/>
            <a:ext cx="9950100" cy="1201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t/>
            </a:r>
            <a:endParaRPr b="1" sz="1100">
              <a:solidFill>
                <a:schemeClr val="dk1"/>
              </a:solidFill>
            </a:endParaRPr>
          </a:p>
          <a:p>
            <a:pPr indent="0" lvl="0" marL="0" rtl="0" algn="l">
              <a:lnSpc>
                <a:spcPct val="115000"/>
              </a:lnSpc>
              <a:spcBef>
                <a:spcPts val="1200"/>
              </a:spcBef>
              <a:spcAft>
                <a:spcPts val="0"/>
              </a:spcAft>
              <a:buNone/>
            </a:pPr>
            <a:r>
              <a:t/>
            </a:r>
            <a:endParaRPr b="1">
              <a:solidFill>
                <a:schemeClr val="dk1"/>
              </a:solidFill>
              <a:latin typeface="Times New Roman"/>
              <a:ea typeface="Times New Roman"/>
              <a:cs typeface="Times New Roman"/>
              <a:sym typeface="Times New Roman"/>
            </a:endParaRPr>
          </a:p>
          <a:p>
            <a:pPr indent="0" lvl="0" marL="0" rtl="0" algn="l">
              <a:lnSpc>
                <a:spcPct val="115000"/>
              </a:lnSpc>
              <a:spcBef>
                <a:spcPts val="1600"/>
              </a:spcBef>
              <a:spcAft>
                <a:spcPts val="1600"/>
              </a:spcAft>
              <a:buNone/>
            </a:pPr>
            <a:r>
              <a:t/>
            </a:r>
            <a:endParaRPr>
              <a:solidFill>
                <a:schemeClr val="dk1"/>
              </a:solidFill>
              <a:latin typeface="Times New Roman"/>
              <a:ea typeface="Times New Roman"/>
              <a:cs typeface="Times New Roman"/>
              <a:sym typeface="Times New Roman"/>
            </a:endParaRPr>
          </a:p>
        </p:txBody>
      </p:sp>
      <p:sp>
        <p:nvSpPr>
          <p:cNvPr id="696" name="Google Shape;696;g33e27b3e0e6_0_462"/>
          <p:cNvSpPr txBox="1"/>
          <p:nvPr/>
        </p:nvSpPr>
        <p:spPr>
          <a:xfrm>
            <a:off x="8134650" y="5405375"/>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697" name="Google Shape;697;g33e27b3e0e6_0_462"/>
          <p:cNvSpPr txBox="1"/>
          <p:nvPr/>
        </p:nvSpPr>
        <p:spPr>
          <a:xfrm>
            <a:off x="0" y="450625"/>
            <a:ext cx="3000000" cy="369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1800"/>
              </a:spcAft>
              <a:buNone/>
            </a:pPr>
            <a:r>
              <a:t/>
            </a:r>
            <a:endParaRPr sz="1200">
              <a:solidFill>
                <a:schemeClr val="dk1"/>
              </a:solidFill>
              <a:latin typeface="Times New Roman"/>
              <a:ea typeface="Times New Roman"/>
              <a:cs typeface="Times New Roman"/>
              <a:sym typeface="Times New Roman"/>
            </a:endParaRPr>
          </a:p>
        </p:txBody>
      </p:sp>
      <p:sp>
        <p:nvSpPr>
          <p:cNvPr id="698" name="Google Shape;698;g33e27b3e0e6_0_462"/>
          <p:cNvSpPr txBox="1"/>
          <p:nvPr/>
        </p:nvSpPr>
        <p:spPr>
          <a:xfrm>
            <a:off x="34300" y="581975"/>
            <a:ext cx="10039500" cy="1000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700"/>
              </a:spcBef>
              <a:spcAft>
                <a:spcPts val="0"/>
              </a:spcAft>
              <a:buNone/>
            </a:pPr>
            <a:r>
              <a:t/>
            </a:r>
            <a:endParaRPr sz="1900">
              <a:solidFill>
                <a:schemeClr val="dk1"/>
              </a:solidFill>
              <a:latin typeface="Times New Roman"/>
              <a:ea typeface="Times New Roman"/>
              <a:cs typeface="Times New Roman"/>
              <a:sym typeface="Times New Roman"/>
            </a:endParaRPr>
          </a:p>
          <a:p>
            <a:pPr indent="0" lvl="0" marL="0" rtl="0" algn="l">
              <a:lnSpc>
                <a:spcPct val="115000"/>
              </a:lnSpc>
              <a:spcBef>
                <a:spcPts val="1700"/>
              </a:spcBef>
              <a:spcAft>
                <a:spcPts val="1700"/>
              </a:spcAft>
              <a:buNone/>
            </a:pPr>
            <a:r>
              <a:t/>
            </a:r>
            <a:endParaRPr b="1" sz="1700">
              <a:solidFill>
                <a:schemeClr val="dk1"/>
              </a:solidFill>
              <a:latin typeface="Times New Roman"/>
              <a:ea typeface="Times New Roman"/>
              <a:cs typeface="Times New Roman"/>
              <a:sym typeface="Times New Roman"/>
            </a:endParaRPr>
          </a:p>
        </p:txBody>
      </p:sp>
      <p:sp>
        <p:nvSpPr>
          <p:cNvPr id="699" name="Google Shape;699;g33e27b3e0e6_0_462"/>
          <p:cNvSpPr txBox="1"/>
          <p:nvPr/>
        </p:nvSpPr>
        <p:spPr>
          <a:xfrm>
            <a:off x="231450" y="687350"/>
            <a:ext cx="5062200" cy="4040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US" sz="1800">
                <a:solidFill>
                  <a:schemeClr val="dk1"/>
                </a:solidFill>
                <a:latin typeface="Times New Roman"/>
                <a:ea typeface="Times New Roman"/>
                <a:cs typeface="Times New Roman"/>
                <a:sym typeface="Times New Roman"/>
              </a:rPr>
              <a:t>Project Evolution:</a:t>
            </a:r>
            <a:endParaRPr b="1" sz="1800">
              <a:solidFill>
                <a:schemeClr val="dk1"/>
              </a:solidFill>
              <a:latin typeface="Times New Roman"/>
              <a:ea typeface="Times New Roman"/>
              <a:cs typeface="Times New Roman"/>
              <a:sym typeface="Times New Roman"/>
            </a:endParaRPr>
          </a:p>
          <a:p>
            <a:pPr indent="-342900" lvl="0" marL="457200" rtl="0" algn="l">
              <a:lnSpc>
                <a:spcPct val="115000"/>
              </a:lnSpc>
              <a:spcBef>
                <a:spcPts val="120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Initial prototype to functional system</a:t>
            </a:r>
            <a:endParaRPr sz="1800">
              <a:solidFill>
                <a:schemeClr val="dk1"/>
              </a:solidFill>
              <a:latin typeface="Times New Roman"/>
              <a:ea typeface="Times New Roman"/>
              <a:cs typeface="Times New Roman"/>
              <a:sym typeface="Times New Roman"/>
            </a:endParaRPr>
          </a:p>
          <a:p>
            <a:pPr indent="-342900" lvl="0" marL="457200" rtl="0" algn="l">
              <a:lnSpc>
                <a:spcPct val="115000"/>
              </a:lnSpc>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Modular design enabling incremental improvements</a:t>
            </a:r>
            <a:endParaRPr sz="1800">
              <a:solidFill>
                <a:schemeClr val="dk1"/>
              </a:solidFill>
              <a:latin typeface="Times New Roman"/>
              <a:ea typeface="Times New Roman"/>
              <a:cs typeface="Times New Roman"/>
              <a:sym typeface="Times New Roman"/>
            </a:endParaRPr>
          </a:p>
          <a:p>
            <a:pPr indent="-342900" lvl="0" marL="457200" rtl="0" algn="l">
              <a:lnSpc>
                <a:spcPct val="115000"/>
              </a:lnSpc>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Foundation for advanced manufacturing </a:t>
            </a:r>
            <a:endParaRPr sz="18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b="1" sz="23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b="1" sz="16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b="1" sz="1800"/>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4" name="Shape 704"/>
        <p:cNvGrpSpPr/>
        <p:nvPr/>
      </p:nvGrpSpPr>
      <p:grpSpPr>
        <a:xfrm>
          <a:off x="0" y="0"/>
          <a:ext cx="0" cy="0"/>
          <a:chOff x="0" y="0"/>
          <a:chExt cx="0" cy="0"/>
        </a:xfrm>
      </p:grpSpPr>
      <p:sp>
        <p:nvSpPr>
          <p:cNvPr id="705" name="Google Shape;705;g33e27b3e0e6_0_481"/>
          <p:cNvSpPr/>
          <p:nvPr/>
        </p:nvSpPr>
        <p:spPr>
          <a:xfrm>
            <a:off x="1329635" y="-1472"/>
            <a:ext cx="10862400" cy="452100"/>
          </a:xfrm>
          <a:prstGeom prst="rect">
            <a:avLst/>
          </a:prstGeom>
          <a:solidFill>
            <a:srgbClr val="002060"/>
          </a:solidFill>
          <a:ln>
            <a:noFill/>
          </a:ln>
        </p:spPr>
        <p:txBody>
          <a:bodyPr anchorCtr="0" anchor="ctr" bIns="21400" lIns="42825" spcFirstLastPara="1" rIns="42825" wrap="square" tIns="21400">
            <a:noAutofit/>
          </a:bodyPr>
          <a:lstStyle/>
          <a:p>
            <a:pPr indent="0" lvl="0" marL="0" rtl="0" algn="l">
              <a:spcBef>
                <a:spcPts val="0"/>
              </a:spcBef>
              <a:spcAft>
                <a:spcPts val="0"/>
              </a:spcAft>
              <a:buClr>
                <a:srgbClr val="000000"/>
              </a:buClr>
              <a:buSzPts val="294"/>
              <a:buFont typeface="Arial"/>
              <a:buNone/>
            </a:pPr>
            <a:r>
              <a:rPr b="1" lang="en-US" sz="1700">
                <a:solidFill>
                  <a:schemeClr val="lt1"/>
                </a:solidFill>
                <a:latin typeface="Times New Roman"/>
                <a:ea typeface="Times New Roman"/>
                <a:cs typeface="Times New Roman"/>
                <a:sym typeface="Times New Roman"/>
              </a:rPr>
              <a:t>Conclusions </a:t>
            </a:r>
            <a:endParaRPr/>
          </a:p>
        </p:txBody>
      </p:sp>
      <p:sp>
        <p:nvSpPr>
          <p:cNvPr id="706" name="Google Shape;706;g33e27b3e0e6_0_481"/>
          <p:cNvSpPr/>
          <p:nvPr/>
        </p:nvSpPr>
        <p:spPr>
          <a:xfrm>
            <a:off x="1329635" y="6597352"/>
            <a:ext cx="10862400" cy="260700"/>
          </a:xfrm>
          <a:prstGeom prst="rect">
            <a:avLst/>
          </a:prstGeom>
          <a:solidFill>
            <a:srgbClr val="002060"/>
          </a:solidFill>
          <a:ln>
            <a:noFill/>
          </a:ln>
        </p:spPr>
        <p:txBody>
          <a:bodyPr anchorCtr="0" anchor="ctr" bIns="21400" lIns="42825" spcFirstLastPara="1" rIns="42825" wrap="square" tIns="21400">
            <a:noAutofit/>
          </a:bodyPr>
          <a:lstStyle/>
          <a:p>
            <a:pPr indent="0" lvl="0" marL="0" marR="0" rtl="0" algn="l">
              <a:lnSpc>
                <a:spcPct val="100000"/>
              </a:lnSpc>
              <a:spcBef>
                <a:spcPts val="0"/>
              </a:spcBef>
              <a:spcAft>
                <a:spcPts val="0"/>
              </a:spcAft>
              <a:buClr>
                <a:srgbClr val="000000"/>
              </a:buClr>
              <a:buSzPts val="294"/>
              <a:buFont typeface="Arial"/>
              <a:buNone/>
            </a:pPr>
            <a:r>
              <a:t/>
            </a:r>
            <a:endParaRPr b="1" i="1" sz="294" u="none" cap="none" strike="noStrike">
              <a:solidFill>
                <a:srgbClr val="FFFFFF"/>
              </a:solidFill>
              <a:latin typeface="Calibri"/>
              <a:ea typeface="Calibri"/>
              <a:cs typeface="Calibri"/>
              <a:sym typeface="Calibri"/>
            </a:endParaRPr>
          </a:p>
        </p:txBody>
      </p:sp>
      <p:sp>
        <p:nvSpPr>
          <p:cNvPr id="707" name="Google Shape;707;g33e27b3e0e6_0_481"/>
          <p:cNvSpPr txBox="1"/>
          <p:nvPr>
            <p:ph idx="12" type="sldNum"/>
          </p:nvPr>
        </p:nvSpPr>
        <p:spPr>
          <a:xfrm>
            <a:off x="11386491" y="6556449"/>
            <a:ext cx="639600" cy="3267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sz="1800">
                <a:solidFill>
                  <a:schemeClr val="lt1"/>
                </a:solidFill>
              </a:rPr>
              <a:t>‹#›</a:t>
            </a:fld>
            <a:endParaRPr sz="1931">
              <a:solidFill>
                <a:schemeClr val="lt1"/>
              </a:solidFill>
            </a:endParaRPr>
          </a:p>
        </p:txBody>
      </p:sp>
      <p:sp>
        <p:nvSpPr>
          <p:cNvPr id="708" name="Google Shape;708;g33e27b3e0e6_0_481"/>
          <p:cNvSpPr/>
          <p:nvPr/>
        </p:nvSpPr>
        <p:spPr>
          <a:xfrm>
            <a:off x="3615675" y="-1475"/>
            <a:ext cx="4154700" cy="535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1" i="0" sz="1500" u="none" cap="none" strike="noStrike">
              <a:solidFill>
                <a:srgbClr val="000000"/>
              </a:solidFill>
              <a:latin typeface="Times New Roman"/>
              <a:ea typeface="Times New Roman"/>
              <a:cs typeface="Times New Roman"/>
              <a:sym typeface="Times New Roman"/>
            </a:endParaRPr>
          </a:p>
        </p:txBody>
      </p:sp>
      <p:sp>
        <p:nvSpPr>
          <p:cNvPr id="709" name="Google Shape;709;g33e27b3e0e6_0_481"/>
          <p:cNvSpPr/>
          <p:nvPr/>
        </p:nvSpPr>
        <p:spPr>
          <a:xfrm>
            <a:off x="0" y="-1472"/>
            <a:ext cx="1329600" cy="452100"/>
          </a:xfrm>
          <a:prstGeom prst="rect">
            <a:avLst/>
          </a:prstGeom>
          <a:solidFill>
            <a:srgbClr val="C000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00"/>
              <a:buFont typeface="Arial"/>
              <a:buNone/>
            </a:pPr>
            <a:r>
              <a:rPr b="1" lang="en-US">
                <a:solidFill>
                  <a:schemeClr val="dk1"/>
                </a:solidFill>
              </a:rPr>
              <a:t>ECSE 695</a:t>
            </a:r>
            <a:endParaRPr b="1" i="0" sz="1400" u="none" cap="none" strike="noStrike">
              <a:solidFill>
                <a:schemeClr val="dk1"/>
              </a:solidFill>
              <a:latin typeface="Arial"/>
              <a:ea typeface="Arial"/>
              <a:cs typeface="Arial"/>
              <a:sym typeface="Arial"/>
            </a:endParaRPr>
          </a:p>
        </p:txBody>
      </p:sp>
      <p:sp>
        <p:nvSpPr>
          <p:cNvPr id="710" name="Google Shape;710;g33e27b3e0e6_0_481"/>
          <p:cNvSpPr txBox="1"/>
          <p:nvPr/>
        </p:nvSpPr>
        <p:spPr>
          <a:xfrm>
            <a:off x="0" y="855128"/>
            <a:ext cx="7506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p:txBody>
      </p:sp>
      <p:pic>
        <p:nvPicPr>
          <p:cNvPr descr="A blue letter with white background&#10;&#10;Description automatically generated" id="711" name="Google Shape;711;g33e27b3e0e6_0_481"/>
          <p:cNvPicPr preferRelativeResize="0"/>
          <p:nvPr/>
        </p:nvPicPr>
        <p:blipFill rotWithShape="1">
          <a:blip r:embed="rId3">
            <a:alphaModFix/>
          </a:blip>
          <a:srcRect b="0" l="0" r="0" t="0"/>
          <a:stretch/>
        </p:blipFill>
        <p:spPr>
          <a:xfrm>
            <a:off x="0" y="6597352"/>
            <a:ext cx="1329635" cy="260648"/>
          </a:xfrm>
          <a:prstGeom prst="rect">
            <a:avLst/>
          </a:prstGeom>
          <a:noFill/>
          <a:ln>
            <a:noFill/>
          </a:ln>
        </p:spPr>
      </p:pic>
      <p:sp>
        <p:nvSpPr>
          <p:cNvPr id="712" name="Google Shape;712;g33e27b3e0e6_0_481"/>
          <p:cNvSpPr txBox="1"/>
          <p:nvPr/>
        </p:nvSpPr>
        <p:spPr>
          <a:xfrm>
            <a:off x="8022596" y="6222504"/>
            <a:ext cx="4079700" cy="307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t/>
            </a:r>
            <a:endParaRPr b="0" i="0" sz="1400" u="none" cap="none" strike="noStrike">
              <a:solidFill>
                <a:srgbClr val="000000"/>
              </a:solidFill>
              <a:latin typeface="Arial"/>
              <a:ea typeface="Arial"/>
              <a:cs typeface="Arial"/>
              <a:sym typeface="Arial"/>
            </a:endParaRPr>
          </a:p>
        </p:txBody>
      </p:sp>
      <p:sp>
        <p:nvSpPr>
          <p:cNvPr id="713" name="Google Shape;713;g33e27b3e0e6_0_481"/>
          <p:cNvSpPr txBox="1"/>
          <p:nvPr/>
        </p:nvSpPr>
        <p:spPr>
          <a:xfrm>
            <a:off x="7882801" y="533746"/>
            <a:ext cx="37719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t/>
            </a:r>
            <a:endParaRPr b="1"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C00000"/>
              </a:solidFill>
              <a:latin typeface="Arial"/>
              <a:ea typeface="Arial"/>
              <a:cs typeface="Arial"/>
              <a:sym typeface="Arial"/>
            </a:endParaRPr>
          </a:p>
        </p:txBody>
      </p:sp>
      <p:sp>
        <p:nvSpPr>
          <p:cNvPr id="714" name="Google Shape;714;g33e27b3e0e6_0_481"/>
          <p:cNvSpPr txBox="1"/>
          <p:nvPr/>
        </p:nvSpPr>
        <p:spPr>
          <a:xfrm>
            <a:off x="79000" y="450625"/>
            <a:ext cx="9950100" cy="1201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t/>
            </a:r>
            <a:endParaRPr b="1" sz="1100">
              <a:solidFill>
                <a:schemeClr val="dk1"/>
              </a:solidFill>
            </a:endParaRPr>
          </a:p>
          <a:p>
            <a:pPr indent="0" lvl="0" marL="0" rtl="0" algn="l">
              <a:lnSpc>
                <a:spcPct val="115000"/>
              </a:lnSpc>
              <a:spcBef>
                <a:spcPts val="1200"/>
              </a:spcBef>
              <a:spcAft>
                <a:spcPts val="0"/>
              </a:spcAft>
              <a:buNone/>
            </a:pPr>
            <a:r>
              <a:t/>
            </a:r>
            <a:endParaRPr b="1">
              <a:solidFill>
                <a:schemeClr val="dk1"/>
              </a:solidFill>
              <a:latin typeface="Times New Roman"/>
              <a:ea typeface="Times New Roman"/>
              <a:cs typeface="Times New Roman"/>
              <a:sym typeface="Times New Roman"/>
            </a:endParaRPr>
          </a:p>
          <a:p>
            <a:pPr indent="0" lvl="0" marL="0" rtl="0" algn="l">
              <a:lnSpc>
                <a:spcPct val="115000"/>
              </a:lnSpc>
              <a:spcBef>
                <a:spcPts val="1600"/>
              </a:spcBef>
              <a:spcAft>
                <a:spcPts val="1600"/>
              </a:spcAft>
              <a:buNone/>
            </a:pPr>
            <a:r>
              <a:t/>
            </a:r>
            <a:endParaRPr>
              <a:solidFill>
                <a:schemeClr val="dk1"/>
              </a:solidFill>
              <a:latin typeface="Times New Roman"/>
              <a:ea typeface="Times New Roman"/>
              <a:cs typeface="Times New Roman"/>
              <a:sym typeface="Times New Roman"/>
            </a:endParaRPr>
          </a:p>
        </p:txBody>
      </p:sp>
      <p:sp>
        <p:nvSpPr>
          <p:cNvPr id="715" name="Google Shape;715;g33e27b3e0e6_0_481"/>
          <p:cNvSpPr txBox="1"/>
          <p:nvPr/>
        </p:nvSpPr>
        <p:spPr>
          <a:xfrm>
            <a:off x="8134650" y="5405375"/>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716" name="Google Shape;716;g33e27b3e0e6_0_481"/>
          <p:cNvSpPr txBox="1"/>
          <p:nvPr/>
        </p:nvSpPr>
        <p:spPr>
          <a:xfrm>
            <a:off x="0" y="450625"/>
            <a:ext cx="3000000" cy="369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1800"/>
              </a:spcAft>
              <a:buNone/>
            </a:pPr>
            <a:r>
              <a:t/>
            </a:r>
            <a:endParaRPr sz="1200">
              <a:solidFill>
                <a:schemeClr val="dk1"/>
              </a:solidFill>
              <a:latin typeface="Times New Roman"/>
              <a:ea typeface="Times New Roman"/>
              <a:cs typeface="Times New Roman"/>
              <a:sym typeface="Times New Roman"/>
            </a:endParaRPr>
          </a:p>
        </p:txBody>
      </p:sp>
      <p:sp>
        <p:nvSpPr>
          <p:cNvPr id="717" name="Google Shape;717;g33e27b3e0e6_0_481"/>
          <p:cNvSpPr txBox="1"/>
          <p:nvPr/>
        </p:nvSpPr>
        <p:spPr>
          <a:xfrm>
            <a:off x="34300" y="581975"/>
            <a:ext cx="10039500" cy="1000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700"/>
              </a:spcBef>
              <a:spcAft>
                <a:spcPts val="0"/>
              </a:spcAft>
              <a:buNone/>
            </a:pPr>
            <a:r>
              <a:t/>
            </a:r>
            <a:endParaRPr sz="1900">
              <a:solidFill>
                <a:schemeClr val="dk1"/>
              </a:solidFill>
              <a:latin typeface="Times New Roman"/>
              <a:ea typeface="Times New Roman"/>
              <a:cs typeface="Times New Roman"/>
              <a:sym typeface="Times New Roman"/>
            </a:endParaRPr>
          </a:p>
          <a:p>
            <a:pPr indent="0" lvl="0" marL="0" rtl="0" algn="l">
              <a:lnSpc>
                <a:spcPct val="115000"/>
              </a:lnSpc>
              <a:spcBef>
                <a:spcPts val="1700"/>
              </a:spcBef>
              <a:spcAft>
                <a:spcPts val="1700"/>
              </a:spcAft>
              <a:buNone/>
            </a:pPr>
            <a:r>
              <a:t/>
            </a:r>
            <a:endParaRPr b="1" sz="1700">
              <a:solidFill>
                <a:schemeClr val="dk1"/>
              </a:solidFill>
              <a:latin typeface="Times New Roman"/>
              <a:ea typeface="Times New Roman"/>
              <a:cs typeface="Times New Roman"/>
              <a:sym typeface="Times New Roman"/>
            </a:endParaRPr>
          </a:p>
        </p:txBody>
      </p:sp>
      <p:sp>
        <p:nvSpPr>
          <p:cNvPr id="718" name="Google Shape;718;g33e27b3e0e6_0_481"/>
          <p:cNvSpPr txBox="1"/>
          <p:nvPr/>
        </p:nvSpPr>
        <p:spPr>
          <a:xfrm>
            <a:off x="231450" y="687350"/>
            <a:ext cx="5062200" cy="7748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b="1" lang="en-US">
                <a:solidFill>
                  <a:schemeClr val="dk1"/>
                </a:solidFill>
                <a:latin typeface="Times New Roman"/>
                <a:ea typeface="Times New Roman"/>
                <a:cs typeface="Times New Roman"/>
                <a:sym typeface="Times New Roman"/>
              </a:rPr>
              <a:t>Project Summary:</a:t>
            </a:r>
            <a:endParaRPr b="1">
              <a:solidFill>
                <a:schemeClr val="dk1"/>
              </a:solidFill>
              <a:latin typeface="Times New Roman"/>
              <a:ea typeface="Times New Roman"/>
              <a:cs typeface="Times New Roman"/>
              <a:sym typeface="Times New Roman"/>
            </a:endParaRPr>
          </a:p>
          <a:p>
            <a:pPr indent="-317500" lvl="0" marL="457200" rtl="0" algn="l">
              <a:lnSpc>
                <a:spcPct val="115000"/>
              </a:lnSpc>
              <a:spcBef>
                <a:spcPts val="120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Developed semi-closed-loop control system for WAAM</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Integrated real-time laser scanning for layer measurement</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 Goal  is to achieve ±0.05mm measurement precision for future projects </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Implemented adaptive layer control through G-code modification</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Created modular software architecture for future expansion</a:t>
            </a:r>
            <a:endParaRPr>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latin typeface="Times New Roman"/>
                <a:ea typeface="Times New Roman"/>
                <a:cs typeface="Times New Roman"/>
                <a:sym typeface="Times New Roman"/>
              </a:rPr>
              <a:t>Significance:</a:t>
            </a:r>
            <a:endParaRPr b="1">
              <a:solidFill>
                <a:schemeClr val="dk1"/>
              </a:solidFill>
              <a:latin typeface="Times New Roman"/>
              <a:ea typeface="Times New Roman"/>
              <a:cs typeface="Times New Roman"/>
              <a:sym typeface="Times New Roman"/>
            </a:endParaRPr>
          </a:p>
          <a:p>
            <a:pPr indent="-317500" lvl="0" marL="457200" rtl="0" algn="l">
              <a:lnSpc>
                <a:spcPct val="115000"/>
              </a:lnSpc>
              <a:spcBef>
                <a:spcPts val="120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Addresses key WAAM dimensional accuracy challenges</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Demonstrates feasibility of adaptive layer-by-layer control</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Establishes foundation for fully automated industrial systems</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Contributes to advanced manufacturing research</a:t>
            </a:r>
            <a:endParaRPr>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latin typeface="Times New Roman"/>
                <a:ea typeface="Times New Roman"/>
                <a:cs typeface="Times New Roman"/>
                <a:sym typeface="Times New Roman"/>
              </a:rPr>
              <a:t>Future Impact:</a:t>
            </a:r>
            <a:endParaRPr b="1">
              <a:solidFill>
                <a:schemeClr val="dk1"/>
              </a:solidFill>
              <a:latin typeface="Times New Roman"/>
              <a:ea typeface="Times New Roman"/>
              <a:cs typeface="Times New Roman"/>
              <a:sym typeface="Times New Roman"/>
            </a:endParaRPr>
          </a:p>
          <a:p>
            <a:pPr indent="-317500" lvl="0" marL="457200" rtl="0" algn="l">
              <a:lnSpc>
                <a:spcPct val="115000"/>
              </a:lnSpc>
              <a:spcBef>
                <a:spcPts val="120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Enhanced process stability and part quality</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Reduced waste and improved efficiency</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Path toward fully automated WAAM processes</a:t>
            </a:r>
            <a:endParaRPr>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t/>
            </a:r>
            <a:endParaRPr b="1" sz="18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b="1" sz="23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b="1" sz="16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b="1" sz="1800"/>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3" name="Shape 723"/>
        <p:cNvGrpSpPr/>
        <p:nvPr/>
      </p:nvGrpSpPr>
      <p:grpSpPr>
        <a:xfrm>
          <a:off x="0" y="0"/>
          <a:ext cx="0" cy="0"/>
          <a:chOff x="0" y="0"/>
          <a:chExt cx="0" cy="0"/>
        </a:xfrm>
      </p:grpSpPr>
      <p:sp>
        <p:nvSpPr>
          <p:cNvPr id="724" name="Google Shape;724;g33e27b3e0e6_0_500"/>
          <p:cNvSpPr/>
          <p:nvPr/>
        </p:nvSpPr>
        <p:spPr>
          <a:xfrm>
            <a:off x="1329635" y="-1472"/>
            <a:ext cx="10862400" cy="452100"/>
          </a:xfrm>
          <a:prstGeom prst="rect">
            <a:avLst/>
          </a:prstGeom>
          <a:solidFill>
            <a:srgbClr val="002060"/>
          </a:solidFill>
          <a:ln>
            <a:noFill/>
          </a:ln>
        </p:spPr>
        <p:txBody>
          <a:bodyPr anchorCtr="0" anchor="ctr" bIns="21400" lIns="42825" spcFirstLastPara="1" rIns="42825" wrap="square" tIns="21400">
            <a:noAutofit/>
          </a:bodyPr>
          <a:lstStyle/>
          <a:p>
            <a:pPr indent="0" lvl="0" marL="0" rtl="0" algn="l">
              <a:spcBef>
                <a:spcPts val="0"/>
              </a:spcBef>
              <a:spcAft>
                <a:spcPts val="0"/>
              </a:spcAft>
              <a:buClr>
                <a:srgbClr val="000000"/>
              </a:buClr>
              <a:buSzPts val="294"/>
              <a:buFont typeface="Arial"/>
              <a:buNone/>
            </a:pPr>
            <a:r>
              <a:rPr b="1" lang="en-US" sz="1700">
                <a:solidFill>
                  <a:schemeClr val="lt1"/>
                </a:solidFill>
                <a:latin typeface="Times New Roman"/>
                <a:ea typeface="Times New Roman"/>
                <a:cs typeface="Times New Roman"/>
                <a:sym typeface="Times New Roman"/>
              </a:rPr>
              <a:t>References</a:t>
            </a:r>
            <a:endParaRPr/>
          </a:p>
        </p:txBody>
      </p:sp>
      <p:sp>
        <p:nvSpPr>
          <p:cNvPr id="725" name="Google Shape;725;g33e27b3e0e6_0_500"/>
          <p:cNvSpPr/>
          <p:nvPr/>
        </p:nvSpPr>
        <p:spPr>
          <a:xfrm>
            <a:off x="1329635" y="6597352"/>
            <a:ext cx="10862400" cy="260700"/>
          </a:xfrm>
          <a:prstGeom prst="rect">
            <a:avLst/>
          </a:prstGeom>
          <a:solidFill>
            <a:srgbClr val="002060"/>
          </a:solidFill>
          <a:ln>
            <a:noFill/>
          </a:ln>
        </p:spPr>
        <p:txBody>
          <a:bodyPr anchorCtr="0" anchor="ctr" bIns="21400" lIns="42825" spcFirstLastPara="1" rIns="42825" wrap="square" tIns="21400">
            <a:noAutofit/>
          </a:bodyPr>
          <a:lstStyle/>
          <a:p>
            <a:pPr indent="0" lvl="0" marL="0" marR="0" rtl="0" algn="l">
              <a:lnSpc>
                <a:spcPct val="100000"/>
              </a:lnSpc>
              <a:spcBef>
                <a:spcPts val="0"/>
              </a:spcBef>
              <a:spcAft>
                <a:spcPts val="0"/>
              </a:spcAft>
              <a:buClr>
                <a:srgbClr val="000000"/>
              </a:buClr>
              <a:buSzPts val="294"/>
              <a:buFont typeface="Arial"/>
              <a:buNone/>
            </a:pPr>
            <a:r>
              <a:t/>
            </a:r>
            <a:endParaRPr b="1" i="1" sz="294" u="none" cap="none" strike="noStrike">
              <a:solidFill>
                <a:srgbClr val="FFFFFF"/>
              </a:solidFill>
              <a:latin typeface="Calibri"/>
              <a:ea typeface="Calibri"/>
              <a:cs typeface="Calibri"/>
              <a:sym typeface="Calibri"/>
            </a:endParaRPr>
          </a:p>
        </p:txBody>
      </p:sp>
      <p:sp>
        <p:nvSpPr>
          <p:cNvPr id="726" name="Google Shape;726;g33e27b3e0e6_0_500"/>
          <p:cNvSpPr txBox="1"/>
          <p:nvPr>
            <p:ph idx="12" type="sldNum"/>
          </p:nvPr>
        </p:nvSpPr>
        <p:spPr>
          <a:xfrm>
            <a:off x="11386491" y="6556449"/>
            <a:ext cx="639600" cy="3267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sz="1800">
                <a:solidFill>
                  <a:schemeClr val="lt1"/>
                </a:solidFill>
              </a:rPr>
              <a:t>‹#›</a:t>
            </a:fld>
            <a:endParaRPr sz="1931">
              <a:solidFill>
                <a:schemeClr val="lt1"/>
              </a:solidFill>
            </a:endParaRPr>
          </a:p>
        </p:txBody>
      </p:sp>
      <p:sp>
        <p:nvSpPr>
          <p:cNvPr id="727" name="Google Shape;727;g33e27b3e0e6_0_500"/>
          <p:cNvSpPr/>
          <p:nvPr/>
        </p:nvSpPr>
        <p:spPr>
          <a:xfrm>
            <a:off x="3615675" y="-1475"/>
            <a:ext cx="4154700" cy="535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1" i="0" sz="1500" u="none" cap="none" strike="noStrike">
              <a:solidFill>
                <a:srgbClr val="000000"/>
              </a:solidFill>
              <a:latin typeface="Times New Roman"/>
              <a:ea typeface="Times New Roman"/>
              <a:cs typeface="Times New Roman"/>
              <a:sym typeface="Times New Roman"/>
            </a:endParaRPr>
          </a:p>
        </p:txBody>
      </p:sp>
      <p:sp>
        <p:nvSpPr>
          <p:cNvPr id="728" name="Google Shape;728;g33e27b3e0e6_0_500"/>
          <p:cNvSpPr/>
          <p:nvPr/>
        </p:nvSpPr>
        <p:spPr>
          <a:xfrm>
            <a:off x="0" y="-1472"/>
            <a:ext cx="1329600" cy="452100"/>
          </a:xfrm>
          <a:prstGeom prst="rect">
            <a:avLst/>
          </a:prstGeom>
          <a:solidFill>
            <a:srgbClr val="C000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00"/>
              <a:buFont typeface="Arial"/>
              <a:buNone/>
            </a:pPr>
            <a:r>
              <a:rPr b="1" lang="en-US">
                <a:solidFill>
                  <a:schemeClr val="dk1"/>
                </a:solidFill>
              </a:rPr>
              <a:t>ECSE 695</a:t>
            </a:r>
            <a:endParaRPr b="1" i="0" sz="1400" u="none" cap="none" strike="noStrike">
              <a:solidFill>
                <a:schemeClr val="dk1"/>
              </a:solidFill>
              <a:latin typeface="Arial"/>
              <a:ea typeface="Arial"/>
              <a:cs typeface="Arial"/>
              <a:sym typeface="Arial"/>
            </a:endParaRPr>
          </a:p>
        </p:txBody>
      </p:sp>
      <p:sp>
        <p:nvSpPr>
          <p:cNvPr id="729" name="Google Shape;729;g33e27b3e0e6_0_500"/>
          <p:cNvSpPr txBox="1"/>
          <p:nvPr/>
        </p:nvSpPr>
        <p:spPr>
          <a:xfrm>
            <a:off x="0" y="855128"/>
            <a:ext cx="7506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p:txBody>
      </p:sp>
      <p:pic>
        <p:nvPicPr>
          <p:cNvPr descr="A blue letter with white background&#10;&#10;Description automatically generated" id="730" name="Google Shape;730;g33e27b3e0e6_0_500"/>
          <p:cNvPicPr preferRelativeResize="0"/>
          <p:nvPr/>
        </p:nvPicPr>
        <p:blipFill rotWithShape="1">
          <a:blip r:embed="rId3">
            <a:alphaModFix/>
          </a:blip>
          <a:srcRect b="0" l="0" r="0" t="0"/>
          <a:stretch/>
        </p:blipFill>
        <p:spPr>
          <a:xfrm>
            <a:off x="0" y="6597352"/>
            <a:ext cx="1329635" cy="260648"/>
          </a:xfrm>
          <a:prstGeom prst="rect">
            <a:avLst/>
          </a:prstGeom>
          <a:noFill/>
          <a:ln>
            <a:noFill/>
          </a:ln>
        </p:spPr>
      </p:pic>
      <p:sp>
        <p:nvSpPr>
          <p:cNvPr id="731" name="Google Shape;731;g33e27b3e0e6_0_500"/>
          <p:cNvSpPr txBox="1"/>
          <p:nvPr/>
        </p:nvSpPr>
        <p:spPr>
          <a:xfrm>
            <a:off x="8022596" y="6222504"/>
            <a:ext cx="4079700" cy="307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t/>
            </a:r>
            <a:endParaRPr b="0" i="0" sz="1400" u="none" cap="none" strike="noStrike">
              <a:solidFill>
                <a:srgbClr val="000000"/>
              </a:solidFill>
              <a:latin typeface="Arial"/>
              <a:ea typeface="Arial"/>
              <a:cs typeface="Arial"/>
              <a:sym typeface="Arial"/>
            </a:endParaRPr>
          </a:p>
        </p:txBody>
      </p:sp>
      <p:sp>
        <p:nvSpPr>
          <p:cNvPr id="732" name="Google Shape;732;g33e27b3e0e6_0_500"/>
          <p:cNvSpPr txBox="1"/>
          <p:nvPr/>
        </p:nvSpPr>
        <p:spPr>
          <a:xfrm>
            <a:off x="7882801" y="533746"/>
            <a:ext cx="37719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t/>
            </a:r>
            <a:endParaRPr b="1"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C00000"/>
              </a:solidFill>
              <a:latin typeface="Arial"/>
              <a:ea typeface="Arial"/>
              <a:cs typeface="Arial"/>
              <a:sym typeface="Arial"/>
            </a:endParaRPr>
          </a:p>
        </p:txBody>
      </p:sp>
      <p:sp>
        <p:nvSpPr>
          <p:cNvPr id="733" name="Google Shape;733;g33e27b3e0e6_0_500"/>
          <p:cNvSpPr txBox="1"/>
          <p:nvPr/>
        </p:nvSpPr>
        <p:spPr>
          <a:xfrm>
            <a:off x="79000" y="450625"/>
            <a:ext cx="9950100" cy="1201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t/>
            </a:r>
            <a:endParaRPr b="1" sz="1100">
              <a:solidFill>
                <a:schemeClr val="dk1"/>
              </a:solidFill>
            </a:endParaRPr>
          </a:p>
          <a:p>
            <a:pPr indent="0" lvl="0" marL="0" rtl="0" algn="l">
              <a:lnSpc>
                <a:spcPct val="115000"/>
              </a:lnSpc>
              <a:spcBef>
                <a:spcPts val="1200"/>
              </a:spcBef>
              <a:spcAft>
                <a:spcPts val="0"/>
              </a:spcAft>
              <a:buNone/>
            </a:pPr>
            <a:r>
              <a:t/>
            </a:r>
            <a:endParaRPr b="1">
              <a:solidFill>
                <a:schemeClr val="dk1"/>
              </a:solidFill>
              <a:latin typeface="Times New Roman"/>
              <a:ea typeface="Times New Roman"/>
              <a:cs typeface="Times New Roman"/>
              <a:sym typeface="Times New Roman"/>
            </a:endParaRPr>
          </a:p>
          <a:p>
            <a:pPr indent="0" lvl="0" marL="0" rtl="0" algn="l">
              <a:lnSpc>
                <a:spcPct val="115000"/>
              </a:lnSpc>
              <a:spcBef>
                <a:spcPts val="1600"/>
              </a:spcBef>
              <a:spcAft>
                <a:spcPts val="1600"/>
              </a:spcAft>
              <a:buNone/>
            </a:pPr>
            <a:r>
              <a:t/>
            </a:r>
            <a:endParaRPr>
              <a:solidFill>
                <a:schemeClr val="dk1"/>
              </a:solidFill>
              <a:latin typeface="Times New Roman"/>
              <a:ea typeface="Times New Roman"/>
              <a:cs typeface="Times New Roman"/>
              <a:sym typeface="Times New Roman"/>
            </a:endParaRPr>
          </a:p>
        </p:txBody>
      </p:sp>
      <p:sp>
        <p:nvSpPr>
          <p:cNvPr id="734" name="Google Shape;734;g33e27b3e0e6_0_500"/>
          <p:cNvSpPr txBox="1"/>
          <p:nvPr/>
        </p:nvSpPr>
        <p:spPr>
          <a:xfrm>
            <a:off x="8134650" y="5405375"/>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735" name="Google Shape;735;g33e27b3e0e6_0_500"/>
          <p:cNvSpPr txBox="1"/>
          <p:nvPr/>
        </p:nvSpPr>
        <p:spPr>
          <a:xfrm>
            <a:off x="0" y="450625"/>
            <a:ext cx="3000000" cy="369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1800"/>
              </a:spcAft>
              <a:buNone/>
            </a:pPr>
            <a:r>
              <a:t/>
            </a:r>
            <a:endParaRPr sz="1200">
              <a:solidFill>
                <a:schemeClr val="dk1"/>
              </a:solidFill>
              <a:latin typeface="Times New Roman"/>
              <a:ea typeface="Times New Roman"/>
              <a:cs typeface="Times New Roman"/>
              <a:sym typeface="Times New Roman"/>
            </a:endParaRPr>
          </a:p>
        </p:txBody>
      </p:sp>
      <p:sp>
        <p:nvSpPr>
          <p:cNvPr id="736" name="Google Shape;736;g33e27b3e0e6_0_500"/>
          <p:cNvSpPr txBox="1"/>
          <p:nvPr/>
        </p:nvSpPr>
        <p:spPr>
          <a:xfrm>
            <a:off x="34300" y="581975"/>
            <a:ext cx="10039500" cy="1000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700"/>
              </a:spcBef>
              <a:spcAft>
                <a:spcPts val="0"/>
              </a:spcAft>
              <a:buNone/>
            </a:pPr>
            <a:r>
              <a:t/>
            </a:r>
            <a:endParaRPr sz="1900">
              <a:solidFill>
                <a:schemeClr val="dk1"/>
              </a:solidFill>
              <a:latin typeface="Times New Roman"/>
              <a:ea typeface="Times New Roman"/>
              <a:cs typeface="Times New Roman"/>
              <a:sym typeface="Times New Roman"/>
            </a:endParaRPr>
          </a:p>
          <a:p>
            <a:pPr indent="0" lvl="0" marL="0" rtl="0" algn="l">
              <a:lnSpc>
                <a:spcPct val="115000"/>
              </a:lnSpc>
              <a:spcBef>
                <a:spcPts val="1700"/>
              </a:spcBef>
              <a:spcAft>
                <a:spcPts val="1700"/>
              </a:spcAft>
              <a:buNone/>
            </a:pPr>
            <a:r>
              <a:t/>
            </a:r>
            <a:endParaRPr b="1" sz="1700">
              <a:solidFill>
                <a:schemeClr val="dk1"/>
              </a:solidFill>
              <a:latin typeface="Times New Roman"/>
              <a:ea typeface="Times New Roman"/>
              <a:cs typeface="Times New Roman"/>
              <a:sym typeface="Times New Roman"/>
            </a:endParaRPr>
          </a:p>
        </p:txBody>
      </p:sp>
      <p:sp>
        <p:nvSpPr>
          <p:cNvPr id="737" name="Google Shape;737;g33e27b3e0e6_0_500"/>
          <p:cNvSpPr txBox="1"/>
          <p:nvPr/>
        </p:nvSpPr>
        <p:spPr>
          <a:xfrm>
            <a:off x="231450" y="687350"/>
            <a:ext cx="5062200" cy="4894800"/>
          </a:xfrm>
          <a:prstGeom prst="rect">
            <a:avLst/>
          </a:prstGeom>
          <a:noFill/>
          <a:ln>
            <a:noFill/>
          </a:ln>
        </p:spPr>
        <p:txBody>
          <a:bodyPr anchorCtr="0" anchor="t" bIns="91425" lIns="91425" spcFirstLastPara="1" rIns="91425" wrap="square" tIns="91425">
            <a:spAutoFit/>
          </a:bodyPr>
          <a:lstStyle/>
          <a:p>
            <a:pPr indent="-336550" lvl="0" marL="457200" rtl="0" algn="l">
              <a:spcBef>
                <a:spcPts val="0"/>
              </a:spcBef>
              <a:spcAft>
                <a:spcPts val="0"/>
              </a:spcAft>
              <a:buClr>
                <a:schemeClr val="dk1"/>
              </a:buClr>
              <a:buSzPts val="1700"/>
              <a:buFont typeface="Times New Roman"/>
              <a:buAutoNum type="arabicPeriod"/>
            </a:pPr>
            <a:r>
              <a:rPr b="1" lang="en-US" sz="1700">
                <a:solidFill>
                  <a:schemeClr val="dk1"/>
                </a:solidFill>
                <a:latin typeface="Times New Roman"/>
                <a:ea typeface="Times New Roman"/>
                <a:cs typeface="Times New Roman"/>
                <a:sym typeface="Times New Roman"/>
              </a:rPr>
              <a:t>"</a:t>
            </a:r>
            <a:r>
              <a:rPr lang="en-US" sz="1700">
                <a:solidFill>
                  <a:schemeClr val="dk1"/>
                </a:solidFill>
                <a:latin typeface="Times New Roman"/>
                <a:ea typeface="Times New Roman"/>
                <a:cs typeface="Times New Roman"/>
                <a:sym typeface="Times New Roman"/>
              </a:rPr>
              <a:t>Operating Manual OX200 Smart Profile sensors." Baumer.</a:t>
            </a:r>
            <a:endParaRPr sz="1700">
              <a:solidFill>
                <a:schemeClr val="dk1"/>
              </a:solidFill>
              <a:latin typeface="Times New Roman"/>
              <a:ea typeface="Times New Roman"/>
              <a:cs typeface="Times New Roman"/>
              <a:sym typeface="Times New Roman"/>
            </a:endParaRPr>
          </a:p>
          <a:p>
            <a:pPr indent="-336550" lvl="0" marL="457200" rtl="0" algn="l">
              <a:spcBef>
                <a:spcPts val="0"/>
              </a:spcBef>
              <a:spcAft>
                <a:spcPts val="0"/>
              </a:spcAft>
              <a:buClr>
                <a:schemeClr val="dk1"/>
              </a:buClr>
              <a:buSzPts val="1700"/>
              <a:buFont typeface="Times New Roman"/>
              <a:buAutoNum type="arabicPeriod"/>
            </a:pPr>
            <a:r>
              <a:rPr lang="en-US" sz="1700">
                <a:solidFill>
                  <a:schemeClr val="dk1"/>
                </a:solidFill>
                <a:latin typeface="Times New Roman"/>
                <a:ea typeface="Times New Roman"/>
                <a:cs typeface="Times New Roman"/>
                <a:sym typeface="Times New Roman"/>
              </a:rPr>
              <a:t>Zhang, H., et al. "Flying spot laser triangulation scanner using lateral synchronization for surface profile precision measurement." Applied Optics, vol. 53, 2014.</a:t>
            </a:r>
            <a:endParaRPr sz="1700">
              <a:solidFill>
                <a:schemeClr val="dk1"/>
              </a:solidFill>
              <a:latin typeface="Times New Roman"/>
              <a:ea typeface="Times New Roman"/>
              <a:cs typeface="Times New Roman"/>
              <a:sym typeface="Times New Roman"/>
            </a:endParaRPr>
          </a:p>
          <a:p>
            <a:pPr indent="-336550" lvl="0" marL="457200" rtl="0" algn="l">
              <a:spcBef>
                <a:spcPts val="0"/>
              </a:spcBef>
              <a:spcAft>
                <a:spcPts val="0"/>
              </a:spcAft>
              <a:buClr>
                <a:schemeClr val="dk1"/>
              </a:buClr>
              <a:buSzPts val="1700"/>
              <a:buFont typeface="Times New Roman"/>
              <a:buAutoNum type="arabicPeriod"/>
            </a:pPr>
            <a:r>
              <a:rPr lang="en-US" sz="1700">
                <a:solidFill>
                  <a:schemeClr val="dk1"/>
                </a:solidFill>
                <a:latin typeface="Times New Roman"/>
                <a:ea typeface="Times New Roman"/>
                <a:cs typeface="Times New Roman"/>
                <a:sym typeface="Times New Roman"/>
              </a:rPr>
              <a:t>Huang, C., et al. "Rapid surface defects detection in wire and arc additive manufacturing based on laser profilometer." Measurement, vol. 189, 2022.</a:t>
            </a:r>
            <a:endParaRPr sz="1700">
              <a:solidFill>
                <a:schemeClr val="dk1"/>
              </a:solidFill>
              <a:latin typeface="Times New Roman"/>
              <a:ea typeface="Times New Roman"/>
              <a:cs typeface="Times New Roman"/>
              <a:sym typeface="Times New Roman"/>
            </a:endParaRPr>
          </a:p>
          <a:p>
            <a:pPr indent="-336550" lvl="0" marL="457200" rtl="0" algn="l">
              <a:spcBef>
                <a:spcPts val="0"/>
              </a:spcBef>
              <a:spcAft>
                <a:spcPts val="0"/>
              </a:spcAft>
              <a:buClr>
                <a:schemeClr val="dk1"/>
              </a:buClr>
              <a:buSzPts val="1700"/>
              <a:buFont typeface="Times New Roman"/>
              <a:buAutoNum type="arabicPeriod"/>
            </a:pPr>
            <a:r>
              <a:rPr lang="en-US" sz="1700">
                <a:solidFill>
                  <a:schemeClr val="dk1"/>
                </a:solidFill>
                <a:latin typeface="Times New Roman"/>
                <a:ea typeface="Times New Roman"/>
                <a:cs typeface="Times New Roman"/>
                <a:sym typeface="Times New Roman"/>
              </a:rPr>
              <a:t>Keyence. "LJ-X8000 Series Manuals." Keyence.com, 2024.</a:t>
            </a:r>
            <a:endParaRPr sz="1700">
              <a:solidFill>
                <a:schemeClr val="dk1"/>
              </a:solidFill>
              <a:latin typeface="Times New Roman"/>
              <a:ea typeface="Times New Roman"/>
              <a:cs typeface="Times New Roman"/>
              <a:sym typeface="Times New Roman"/>
            </a:endParaRPr>
          </a:p>
          <a:p>
            <a:pPr indent="-336550" lvl="0" marL="457200" rtl="0" algn="l">
              <a:spcBef>
                <a:spcPts val="0"/>
              </a:spcBef>
              <a:spcAft>
                <a:spcPts val="0"/>
              </a:spcAft>
              <a:buClr>
                <a:schemeClr val="dk1"/>
              </a:buClr>
              <a:buSzPts val="1700"/>
              <a:buFont typeface="Times New Roman"/>
              <a:buAutoNum type="arabicPeriod"/>
            </a:pPr>
            <a:r>
              <a:rPr lang="en-US" sz="1700">
                <a:solidFill>
                  <a:schemeClr val="dk1"/>
                </a:solidFill>
                <a:latin typeface="Times New Roman"/>
                <a:ea typeface="Times New Roman"/>
                <a:cs typeface="Times New Roman"/>
                <a:sym typeface="Times New Roman"/>
              </a:rPr>
              <a:t>Walch, A. and Eitzinger, C. "A combined calibration of 2D and 3D sensors." Int'l Conf. on Computer Vision Theory and Applications, 2014.</a:t>
            </a:r>
            <a:endParaRPr sz="1700">
              <a:solidFill>
                <a:schemeClr val="dk1"/>
              </a:solidFill>
              <a:latin typeface="Times New Roman"/>
              <a:ea typeface="Times New Roman"/>
              <a:cs typeface="Times New Roman"/>
              <a:sym typeface="Times New Roman"/>
            </a:endParaRPr>
          </a:p>
          <a:p>
            <a:pPr indent="-336550" lvl="0" marL="457200" rtl="0" algn="l">
              <a:spcBef>
                <a:spcPts val="0"/>
              </a:spcBef>
              <a:spcAft>
                <a:spcPts val="0"/>
              </a:spcAft>
              <a:buClr>
                <a:schemeClr val="dk1"/>
              </a:buClr>
              <a:buSzPts val="1700"/>
              <a:buFont typeface="Times New Roman"/>
              <a:buAutoNum type="arabicPeriod"/>
            </a:pPr>
            <a:r>
              <a:rPr lang="en-US" sz="1700">
                <a:solidFill>
                  <a:schemeClr val="dk1"/>
                </a:solidFill>
                <a:latin typeface="Times New Roman"/>
                <a:ea typeface="Times New Roman"/>
                <a:cs typeface="Times New Roman"/>
                <a:sym typeface="Times New Roman"/>
              </a:rPr>
              <a:t>Suh, Y.S. "Laser Sensors for Displacement, Distance and Position." Sensors, vol. 19, 2019.</a:t>
            </a:r>
            <a:endParaRPr sz="1700">
              <a:solidFill>
                <a:schemeClr val="dk1"/>
              </a:solidFill>
              <a:latin typeface="Times New Roman"/>
              <a:ea typeface="Times New Roman"/>
              <a:cs typeface="Times New Roman"/>
              <a:sym typeface="Times New Roman"/>
            </a:endParaRPr>
          </a:p>
          <a:p>
            <a:pPr indent="-336550" lvl="0" marL="457200" rtl="0" algn="l">
              <a:spcBef>
                <a:spcPts val="0"/>
              </a:spcBef>
              <a:spcAft>
                <a:spcPts val="0"/>
              </a:spcAft>
              <a:buClr>
                <a:schemeClr val="dk1"/>
              </a:buClr>
              <a:buSzPts val="1700"/>
              <a:buFont typeface="Times New Roman"/>
              <a:buAutoNum type="arabicPeriod"/>
            </a:pPr>
            <a:r>
              <a:rPr lang="en-US" sz="1700">
                <a:solidFill>
                  <a:schemeClr val="dk1"/>
                </a:solidFill>
                <a:latin typeface="Times New Roman"/>
                <a:ea typeface="Times New Roman"/>
                <a:cs typeface="Times New Roman"/>
                <a:sym typeface="Times New Roman"/>
              </a:rPr>
              <a:t>Duet3D Documentation: "Duet 3 Mainboard 6HC." </a:t>
            </a:r>
            <a:endParaRPr sz="1700">
              <a:solidFill>
                <a:schemeClr val="dk1"/>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Varsayılan Tasarım">
  <a:themeElements>
    <a:clrScheme name="Varsayılan Tasarım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is Teması">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2012-06-22T14:37:50Z</dcterms:created>
  <dc:creator>sercan</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638202f9-8d41-4950-b014-f183e397b746_Enabled">
    <vt:lpwstr>true</vt:lpwstr>
  </property>
  <property fmtid="{D5CDD505-2E9C-101B-9397-08002B2CF9AE}" pid="3" name="MSIP_Label_638202f9-8d41-4950-b014-f183e397b746_SetDate">
    <vt:lpwstr>2023-01-18T01:04:18Z</vt:lpwstr>
  </property>
  <property fmtid="{D5CDD505-2E9C-101B-9397-08002B2CF9AE}" pid="4" name="MSIP_Label_638202f9-8d41-4950-b014-f183e397b746_Method">
    <vt:lpwstr>Standard</vt:lpwstr>
  </property>
  <property fmtid="{D5CDD505-2E9C-101B-9397-08002B2CF9AE}" pid="5" name="MSIP_Label_638202f9-8d41-4950-b014-f183e397b746_Name">
    <vt:lpwstr>defa4170-0d19-0005-0004-bc88714345d2</vt:lpwstr>
  </property>
  <property fmtid="{D5CDD505-2E9C-101B-9397-08002B2CF9AE}" pid="6" name="MSIP_Label_638202f9-8d41-4950-b014-f183e397b746_SiteId">
    <vt:lpwstr>13b3b0ce-cd75-49a4-bfea-0a03b01ff1ab</vt:lpwstr>
  </property>
  <property fmtid="{D5CDD505-2E9C-101B-9397-08002B2CF9AE}" pid="7" name="MSIP_Label_638202f9-8d41-4950-b014-f183e397b746_ActionId">
    <vt:lpwstr>49d856e7-22d2-43b9-b1e3-559ef24341ab</vt:lpwstr>
  </property>
  <property fmtid="{D5CDD505-2E9C-101B-9397-08002B2CF9AE}" pid="8" name="MSIP_Label_638202f9-8d41-4950-b014-f183e397b746_ContentBits">
    <vt:lpwstr>0</vt:lpwstr>
  </property>
</Properties>
</file>